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2"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10"/>
  </p:normalViewPr>
  <p:slideViewPr>
    <p:cSldViewPr snapToGrid="0" snapToObjects="1">
      <p:cViewPr varScale="1">
        <p:scale>
          <a:sx n="143" d="100"/>
          <a:sy n="143" d="100"/>
        </p:scale>
        <p:origin x="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Hit@k</c:v>
                </c:pt>
              </c:strCache>
            </c:strRef>
          </c:tx>
          <c:spPr>
            <a:solidFill>
              <a:srgbClr val="3E5C8A"/>
            </a:solidFill>
            <a:effectLst/>
          </c:spPr>
          <c:invertIfNegative val="0"/>
          <c:dPt>
            <c:idx val="0"/>
            <c:invertIfNegative val="0"/>
            <c:bubble3D val="0"/>
            <c:extLst>
              <c:ext xmlns:c16="http://schemas.microsoft.com/office/drawing/2014/chart" uri="{C3380CC4-5D6E-409C-BE32-E72D297353CC}">
                <c16:uniqueId val="{00000001-B3AE-4F80-A877-EBAA817AF34B}"/>
              </c:ext>
            </c:extLst>
          </c:dPt>
          <c:dPt>
            <c:idx val="1"/>
            <c:invertIfNegative val="0"/>
            <c:bubble3D val="0"/>
            <c:extLst>
              <c:ext xmlns:c16="http://schemas.microsoft.com/office/drawing/2014/chart" uri="{C3380CC4-5D6E-409C-BE32-E72D297353CC}">
                <c16:uniqueId val="{00000003-B3AE-4F80-A877-EBAA817AF34B}"/>
              </c:ext>
            </c:extLst>
          </c:dPt>
          <c:dPt>
            <c:idx val="2"/>
            <c:invertIfNegative val="0"/>
            <c:bubble3D val="0"/>
            <c:spPr>
              <a:solidFill>
                <a:srgbClr val="C9882E"/>
              </a:solidFill>
              <a:effectLst/>
            </c:spPr>
            <c:extLst>
              <c:ext xmlns:c16="http://schemas.microsoft.com/office/drawing/2014/chart" uri="{C3380CC4-5D6E-409C-BE32-E72D297353CC}">
                <c16:uniqueId val="{00000005-B3AE-4F80-A877-EBAA817AF34B}"/>
              </c:ext>
            </c:extLst>
          </c:dPt>
          <c:dLbls>
            <c:numFmt formatCode="0.0&quot;%&quot;" sourceLinked="0"/>
            <c:spPr>
              <a:noFill/>
              <a:ln>
                <a:noFill/>
              </a:ln>
              <a:effectLst/>
            </c:spPr>
            <c:txPr>
              <a:bodyPr/>
              <a:lstStyle/>
              <a:p>
                <a:pPr>
                  <a:defRPr sz="1100" b="1" i="0" u="none" strike="noStrike">
                    <a:solidFill>
                      <a:srgbClr val="1E2B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Hit@1</c:v>
                </c:pt>
                <c:pt idx="1">
                  <c:v>Hit@3</c:v>
                </c:pt>
              </c:strCache>
            </c:strRef>
          </c:cat>
          <c:val>
            <c:numRef>
              <c:f>Sheet1!$B$2:$B$3</c:f>
              <c:numCache>
                <c:formatCode>General</c:formatCode>
                <c:ptCount val="2"/>
                <c:pt idx="0">
                  <c:v>85.7</c:v>
                </c:pt>
                <c:pt idx="1">
                  <c:v>91.4</c:v>
                </c:pt>
              </c:numCache>
            </c:numRef>
          </c:val>
          <c:extLst>
            <c:ext xmlns:c16="http://schemas.microsoft.com/office/drawing/2014/chart" uri="{C3380CC4-5D6E-409C-BE32-E72D297353CC}">
              <c16:uniqueId val="{00000006-B3AE-4F80-A877-EBAA817AF34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max val="100"/>
          <c:min val="70"/>
        </c:scaling>
        <c:delete val="0"/>
        <c:axPos val="l"/>
        <c:majorGridlines>
          <c:spPr>
            <a:ln w="6350" cap="flat">
              <a:solidFill>
                <a:srgbClr val="EDEF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7A8"/>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LLM only (baseline)</c:v>
                </c:pt>
              </c:strCache>
            </c:strRef>
          </c:tx>
          <c:spPr>
            <a:solidFill>
              <a:srgbClr val="8A97A8"/>
            </a:solidFill>
            <a:effectLst/>
          </c:spPr>
          <c:invertIfNegative val="0"/>
          <c:dLbls>
            <c:numFmt formatCode="0.00" sourceLinked="0"/>
            <c:spPr>
              <a:noFill/>
              <a:ln>
                <a:noFill/>
              </a:ln>
              <a:effectLst/>
            </c:spPr>
            <c:txPr>
              <a:bodyPr/>
              <a:lstStyle/>
              <a:p>
                <a:pPr>
                  <a:defRPr sz="950" b="1" i="0" u="none" strike="noStrike">
                    <a:solidFill>
                      <a:srgbClr val="1E2B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Faithfulness</c:v>
                </c:pt>
                <c:pt idx="1">
                  <c:v>Relevance</c:v>
                </c:pt>
                <c:pt idx="2">
                  <c:v>Accuracy</c:v>
                </c:pt>
                <c:pt idx="3">
                  <c:v>Clarity</c:v>
                </c:pt>
              </c:strCache>
            </c:strRef>
          </c:cat>
          <c:val>
            <c:numRef>
              <c:f>Sheet1!$B$2:$B$5</c:f>
              <c:numCache>
                <c:formatCode>General</c:formatCode>
                <c:ptCount val="4"/>
                <c:pt idx="0">
                  <c:v>3.37</c:v>
                </c:pt>
                <c:pt idx="1">
                  <c:v>4.0999999999999996</c:v>
                </c:pt>
                <c:pt idx="2">
                  <c:v>2.77</c:v>
                </c:pt>
                <c:pt idx="3">
                  <c:v>4.5</c:v>
                </c:pt>
              </c:numCache>
            </c:numRef>
          </c:val>
          <c:extLst>
            <c:ext xmlns:c16="http://schemas.microsoft.com/office/drawing/2014/chart" uri="{C3380CC4-5D6E-409C-BE32-E72D297353CC}">
              <c16:uniqueId val="{00000000-6103-480E-8A4B-0166232EA5D2}"/>
            </c:ext>
          </c:extLst>
        </c:ser>
        <c:ser>
          <c:idx val="1"/>
          <c:order val="1"/>
          <c:tx>
            <c:strRef>
              <c:f>Sheet1!$C$1</c:f>
              <c:strCache>
                <c:ptCount val="1"/>
                <c:pt idx="0">
                  <c:v>RAG system</c:v>
                </c:pt>
              </c:strCache>
            </c:strRef>
          </c:tx>
          <c:spPr>
            <a:solidFill>
              <a:srgbClr val="C9882E"/>
            </a:solidFill>
            <a:effectLst/>
          </c:spPr>
          <c:invertIfNegative val="0"/>
          <c:dLbls>
            <c:numFmt formatCode="0.00" sourceLinked="0"/>
            <c:spPr>
              <a:noFill/>
              <a:ln>
                <a:noFill/>
              </a:ln>
              <a:effectLst/>
            </c:spPr>
            <c:txPr>
              <a:bodyPr/>
              <a:lstStyle/>
              <a:p>
                <a:pPr>
                  <a:defRPr sz="950" b="1" i="0" u="none" strike="noStrike">
                    <a:solidFill>
                      <a:srgbClr val="1E2B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Faithfulness</c:v>
                </c:pt>
                <c:pt idx="1">
                  <c:v>Relevance</c:v>
                </c:pt>
                <c:pt idx="2">
                  <c:v>Accuracy</c:v>
                </c:pt>
                <c:pt idx="3">
                  <c:v>Clarity</c:v>
                </c:pt>
              </c:strCache>
            </c:strRef>
          </c:cat>
          <c:val>
            <c:numRef>
              <c:f>Sheet1!$C$2:$C$5</c:f>
              <c:numCache>
                <c:formatCode>General</c:formatCode>
                <c:ptCount val="4"/>
                <c:pt idx="0">
                  <c:v>4.7699999999999996</c:v>
                </c:pt>
                <c:pt idx="1">
                  <c:v>4.3099999999999996</c:v>
                </c:pt>
                <c:pt idx="2">
                  <c:v>4.08</c:v>
                </c:pt>
                <c:pt idx="3">
                  <c:v>4.63</c:v>
                </c:pt>
              </c:numCache>
            </c:numRef>
          </c:val>
          <c:extLst>
            <c:ext xmlns:c16="http://schemas.microsoft.com/office/drawing/2014/chart" uri="{C3380CC4-5D6E-409C-BE32-E72D297353CC}">
              <c16:uniqueId val="{00000001-6103-480E-8A4B-0166232EA5D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1" i="0" u="none" strike="noStrike">
                <a:solidFill>
                  <a:srgbClr val="1E2B45"/>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DEF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7A8"/>
                </a:solidFill>
                <a:latin typeface="Arial"/>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1E2B45"/>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presenting my master's thesis: a virtual history assistant for 7th grade. Starting from a single input — a question — the system offers two capabilities: a RAG chatbot whose answers are grounded in lessons, and a module for automatically detecting contradictions between historical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models have two fundamental limitations: they hallucinate — producing false but plausible statements — and their knowledge is frozen at training time. In an educational setting, where accuracy is essential and students cannot verify, this is problematic. The solution is the RAG paradigm: before answering, the system retrieves the relevant passages from the corpus and conditions generation on them, yielding grounded answers with citations.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architecture. A single input — the question — is handled by two fully independent modules. Module 1, the RAG assistant, produces an answer grounded in lessons, with citations. Module 2 takes several sources on the same topic and produces a contradiction report. I'll detail each one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not just use NotebookLM? The four points on the left are the answer, and the second module is the part no such tool provides.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the answers depends on the quality of the corpus representation. The ingestion pipeline has five steps: an LLM segments the lesson into logical chapters; for each chapter we extract metadata and entities; we summarize hierarchically, from chapter to lesson; we vectorize with text-embedding-3-large; and we store everything as JSON documents in MongoDB, with metadata indices for fast filtering.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runtime, the question goes through three understanding steps: routing checks whether it is about history, the coverage check whether the answer exists in the corpus, and filter extraction pulls out years, entities, and locations. Then hybrid retrieval combines metadata filtering with vector search, merged and reranked by a cross-encoder. Finally, gpt-4o-mini generates the answer in plain language, strictly from the context, with citations. If it cannot find the information, it explicitly refuses — it does not fabricate.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1's evaluation has three levels, over 220 questions. For routing: domain classification is nearly perfect, 98.9% F1; coverage checking, which is harder, reaches 92.5%. For retrieval: the relevant document enters the top three results in over 91% of cases, and the MRR of 0.886 shows it is usually in first position — and that from a base of about 270 documents, of which only the top five are kept.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level evaluates generation with the LLM-as-a-Judge method: a model different from the one that generates — Claude Sonnet 4.6 — gives scores from 1 to 5, to avoid self-preference bias. I compared the RAG system against a baseline: the same gpt-4o-mini, but without retrieval. The large gains are in faithfulness, plus 1.40, and accuracy, plus 1.31 — exactly the dimensions tied to factual grounding. The baseline's accuracy, 2.77, is especially problematic in education: without grounding, the system would convey incorrect information.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concrete cases. On the left, a success: for a well-grounded thematic question, retrieval brings the correct chapters and the answer carries citations to the source. On the right, a controlled failure: for an exact figure it cannot find in the context, the model explicitly refuses to fabricate, preserving faithfulness. The real limitation is that a 'how many soldiers' question offers no discriminating anchor for filtering — so the most fragile dimension remains accuracy on isolated details.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module addresses contradictions between sources. History is interpretive, and for a student divergent sources are an opportunity for critical thinking. The central challenge is comparability: a contradiction only makes sense between statements about the same aspect. Automatic similarity-based clustering is fragile and produces false positives. My solution: I apply the same canonical questions to each source — the answers become comparable by construction. Here, both sources answer 'when did Romania enter the war', so the difference in date is a real contradiction.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combines four mechanisms. Structural conflict catches different dates and numbers — very precise, central in history. NLI, on multilingual DeBERTaV3, evaluated in both directions, catches semantic contradictions. The entity anchor, with fuzzy and cross-lingual matching, ensures that statements about the same entity are compared, reducing false positives. And the LLM judge is a fallback for ambiguous cases. The scores are aggregated by maximum, each with its own threshold; whatever passes the verdict threshold is flagged as a contradiction.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uses a manually annotated corpus, with contradictions planted in a controlled way in a synthetic source and a reference file. To account for the LLM judge's nondeterminism, I repeated the evaluation ten times. The results: recall 0.975 — nearly all documented contradictions are flagged; precision 0.910 — false positives are limited, thanks to the alignment and the entity anchor; and F1 0.940, with a small standard deviation, 0.028, so the results are stable.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contradictions, caught correctly. The first, structural by date: 28 August versus 14 August 1916 — flagged by the structural check and confirmed by NLI at 0.99. The second, a numeric value: 47 versus 32 tanks at the Somme. The third is purely semantic: one source says the political-military crises raised tensions and imposed the alliances, the other that they played a minor role and reduced them — with no diverging number, so only NLI and the LLM judge can catch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cases explain the precision threshold. On the left, a correct agreement: 'the Balkans' and 'the Balkan Peninsula' are the same region — NLI stays below threshold, the pair is not reported. On the right, a classic false positive: one source answers at the region level, 'Moldavia', the other at the city level, 'Iași'; the mechanism sees them as distinct entities, because it could not know that Iași is in Moldavia without a contextual check. Plus a structural limitation: an error in a single source stays invisible, having nothing to be compared against.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thesis contributes a complete ingestion and hybrid-retrieval pipeline with citations, an original contradiction-detection module based on alignment through canonical questions, and a quantitative evaluation of both. The limitations: knowledge is bounded by the indexed lessons, accuracy on pinpoint details is fragile, and the contradiction corpus is small. Going forward: extending the corpus, reusing the canonical questions as quizzes for students, and validating with teachers. The core lesson: the value comes not only from the generative model, but from the careful design of the components around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look forward to the committee's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7040880" y="-1371600"/>
            <a:ext cx="4206240" cy="4206240"/>
          </a:xfrm>
          <a:prstGeom prst="ellipse">
            <a:avLst/>
          </a:prstGeom>
          <a:solidFill>
            <a:srgbClr val="20304F"/>
          </a:solidFill>
          <a:ln/>
        </p:spPr>
        <p:txBody>
          <a:bodyPr/>
          <a:lstStyle/>
          <a:p>
            <a:endParaRPr lang="en-GB"/>
          </a:p>
        </p:txBody>
      </p:sp>
      <p:sp>
        <p:nvSpPr>
          <p:cNvPr id="3" name="Shape 1"/>
          <p:cNvSpPr/>
          <p:nvPr/>
        </p:nvSpPr>
        <p:spPr>
          <a:xfrm>
            <a:off x="7772400" y="-822960"/>
            <a:ext cx="2743200" cy="2743200"/>
          </a:xfrm>
          <a:prstGeom prst="ellipse">
            <a:avLst/>
          </a:prstGeom>
          <a:solidFill>
            <a:srgbClr val="15233B"/>
          </a:solidFill>
          <a:ln w="12700">
            <a:solidFill>
              <a:srgbClr val="C9882E">
                <a:alpha val="60000"/>
              </a:srgbClr>
            </a:solidFill>
            <a:prstDash val="solid"/>
          </a:ln>
        </p:spPr>
        <p:txBody>
          <a:bodyPr/>
          <a:lstStyle/>
          <a:p>
            <a:endParaRPr lang="en-GB"/>
          </a:p>
        </p:txBody>
      </p:sp>
      <p:sp>
        <p:nvSpPr>
          <p:cNvPr id="4" name="Text 2"/>
          <p:cNvSpPr/>
          <p:nvPr/>
        </p:nvSpPr>
        <p:spPr>
          <a:xfrm>
            <a:off x="640080" y="566928"/>
            <a:ext cx="7863840" cy="274320"/>
          </a:xfrm>
          <a:prstGeom prst="rect">
            <a:avLst/>
          </a:prstGeom>
          <a:noFill/>
          <a:ln/>
        </p:spPr>
        <p:txBody>
          <a:bodyPr wrap="square" lIns="0" tIns="0" rIns="0" bIns="0" rtlCol="0" anchor="ctr"/>
          <a:lstStyle/>
          <a:p>
            <a:pPr marL="0" indent="0">
              <a:buNone/>
            </a:pPr>
            <a:r>
              <a:rPr lang="en-US" sz="1200" b="1" kern="0" spc="150" dirty="0">
                <a:solidFill>
                  <a:srgbClr val="C9882E"/>
                </a:solidFill>
                <a:latin typeface="Calibri" pitchFamily="34" charset="0"/>
                <a:ea typeface="Calibri" pitchFamily="34" charset="-122"/>
                <a:cs typeface="Calibri" pitchFamily="34" charset="-120"/>
              </a:rPr>
              <a:t>UNIVERSITY OF BUCHAREST · FMI · ARTIFICIAL INTELLIGENCE</a:t>
            </a:r>
            <a:endParaRPr lang="en-US" sz="1200" dirty="0"/>
          </a:p>
        </p:txBody>
      </p:sp>
      <p:sp>
        <p:nvSpPr>
          <p:cNvPr id="5" name="Text 3"/>
          <p:cNvSpPr/>
          <p:nvPr/>
        </p:nvSpPr>
        <p:spPr>
          <a:xfrm>
            <a:off x="640080" y="914400"/>
            <a:ext cx="7863840" cy="274320"/>
          </a:xfrm>
          <a:prstGeom prst="rect">
            <a:avLst/>
          </a:prstGeom>
          <a:noFill/>
          <a:ln/>
        </p:spPr>
        <p:txBody>
          <a:bodyPr wrap="square" lIns="0" tIns="0" rIns="0" bIns="0" rtlCol="0" anchor="ctr"/>
          <a:lstStyle/>
          <a:p>
            <a:pPr marL="0" indent="0">
              <a:buNone/>
            </a:pPr>
            <a:r>
              <a:rPr lang="en-US" sz="1150" kern="0" spc="200" dirty="0">
                <a:solidFill>
                  <a:srgbClr val="8A97A8"/>
                </a:solidFill>
                <a:latin typeface="Calibri" pitchFamily="34" charset="0"/>
                <a:ea typeface="Calibri" pitchFamily="34" charset="-122"/>
                <a:cs typeface="Calibri" pitchFamily="34" charset="-120"/>
              </a:rPr>
              <a:t>MASTER'S THESIS</a:t>
            </a:r>
            <a:endParaRPr lang="en-US" sz="1150" dirty="0"/>
          </a:p>
        </p:txBody>
      </p:sp>
      <p:sp>
        <p:nvSpPr>
          <p:cNvPr id="6" name="Text 4"/>
          <p:cNvSpPr/>
          <p:nvPr/>
        </p:nvSpPr>
        <p:spPr>
          <a:xfrm>
            <a:off x="640080" y="1371600"/>
            <a:ext cx="795528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Virtual History Teacher</a:t>
            </a:r>
            <a:endParaRPr lang="en-US" sz="4400" dirty="0"/>
          </a:p>
        </p:txBody>
      </p:sp>
      <p:sp>
        <p:nvSpPr>
          <p:cNvPr id="7" name="Text 5"/>
          <p:cNvSpPr/>
          <p:nvPr/>
        </p:nvSpPr>
        <p:spPr>
          <a:xfrm>
            <a:off x="640080" y="2249424"/>
            <a:ext cx="7955280" cy="822960"/>
          </a:xfrm>
          <a:prstGeom prst="rect">
            <a:avLst/>
          </a:prstGeom>
          <a:noFill/>
          <a:ln/>
        </p:spPr>
        <p:txBody>
          <a:bodyPr wrap="square" lIns="0" tIns="0" rIns="0" bIns="0" rtlCol="0" anchor="ctr"/>
          <a:lstStyle/>
          <a:p>
            <a:pPr marL="0" indent="0">
              <a:lnSpc>
                <a:spcPct val="108000"/>
              </a:lnSpc>
              <a:buNone/>
            </a:pPr>
            <a:r>
              <a:rPr lang="en-US" sz="2100" i="1" dirty="0">
                <a:solidFill>
                  <a:srgbClr val="C8D2E2"/>
                </a:solidFill>
                <a:latin typeface="Calibri" pitchFamily="34" charset="0"/>
                <a:ea typeface="Calibri" pitchFamily="34" charset="-122"/>
                <a:cs typeface="Calibri" pitchFamily="34" charset="-120"/>
              </a:rPr>
              <a:t>Pedagogical chatbot and automatic detection of</a:t>
            </a:r>
            <a:endParaRPr lang="en-US" sz="2100" dirty="0"/>
          </a:p>
          <a:p>
            <a:pPr marL="0" indent="0">
              <a:lnSpc>
                <a:spcPct val="108000"/>
              </a:lnSpc>
              <a:buNone/>
            </a:pPr>
            <a:r>
              <a:rPr lang="en-US" sz="2100" i="1" dirty="0">
                <a:solidFill>
                  <a:srgbClr val="C8D2E2"/>
                </a:solidFill>
                <a:latin typeface="Calibri" pitchFamily="34" charset="0"/>
                <a:ea typeface="Calibri" pitchFamily="34" charset="-122"/>
                <a:cs typeface="Calibri" pitchFamily="34" charset="-120"/>
              </a:rPr>
              <a:t>contradictions between historical sources</a:t>
            </a:r>
            <a:endParaRPr lang="en-US" sz="2100" dirty="0"/>
          </a:p>
        </p:txBody>
      </p:sp>
      <p:sp>
        <p:nvSpPr>
          <p:cNvPr id="8" name="Shape 6"/>
          <p:cNvSpPr/>
          <p:nvPr/>
        </p:nvSpPr>
        <p:spPr>
          <a:xfrm>
            <a:off x="640080" y="3310128"/>
            <a:ext cx="3246120" cy="676656"/>
          </a:xfrm>
          <a:prstGeom prst="roundRect">
            <a:avLst>
              <a:gd name="adj" fmla="val 13514"/>
            </a:avLst>
          </a:prstGeom>
          <a:solidFill>
            <a:srgbClr val="20304F"/>
          </a:solidFill>
          <a:ln w="12700">
            <a:solidFill>
              <a:srgbClr val="C9882E"/>
            </a:solidFill>
            <a:prstDash val="solid"/>
          </a:ln>
        </p:spPr>
        <p:txBody>
          <a:bodyPr/>
          <a:lstStyle/>
          <a:p>
            <a:endParaRPr lang="en-GB"/>
          </a:p>
        </p:txBody>
      </p:sp>
      <p:sp>
        <p:nvSpPr>
          <p:cNvPr id="9" name="Shape 7"/>
          <p:cNvSpPr/>
          <p:nvPr/>
        </p:nvSpPr>
        <p:spPr>
          <a:xfrm>
            <a:off x="804672" y="3419856"/>
            <a:ext cx="457200" cy="457200"/>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sp>
        <p:nvSpPr>
          <p:cNvPr id="11" name="Text 8"/>
          <p:cNvSpPr/>
          <p:nvPr/>
        </p:nvSpPr>
        <p:spPr>
          <a:xfrm>
            <a:off x="1371600" y="3310128"/>
            <a:ext cx="2377440" cy="676656"/>
          </a:xfrm>
          <a:prstGeom prst="rect">
            <a:avLst/>
          </a:prstGeom>
          <a:noFill/>
          <a:ln/>
        </p:spPr>
        <p:txBody>
          <a:bodyPr wrap="square" lIns="0" tIns="0" rIns="0" bIns="0"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Module 1 — RAG</a:t>
            </a:r>
            <a:endParaRPr lang="en-US" sz="1250" dirty="0"/>
          </a:p>
          <a:p>
            <a:pPr marL="0" indent="0">
              <a:lnSpc>
                <a:spcPct val="95000"/>
              </a:lnSpc>
              <a:buNone/>
            </a:pPr>
            <a:r>
              <a:rPr lang="en-US" sz="1050" dirty="0">
                <a:solidFill>
                  <a:srgbClr val="AEBACB"/>
                </a:solidFill>
                <a:latin typeface="Calibri" pitchFamily="34" charset="0"/>
                <a:ea typeface="Calibri" pitchFamily="34" charset="-122"/>
                <a:cs typeface="Calibri" pitchFamily="34" charset="-120"/>
              </a:rPr>
              <a:t>Answers grounded in lessons, with citations</a:t>
            </a:r>
            <a:endParaRPr lang="en-US" sz="1250" dirty="0"/>
          </a:p>
        </p:txBody>
      </p:sp>
      <p:pic>
        <p:nvPicPr>
          <p:cNvPr id="10" name="Image 0" descr="preencoded.png"/>
          <p:cNvPicPr>
            <a:picLocks noChangeAspect="1"/>
          </p:cNvPicPr>
          <p:nvPr/>
        </p:nvPicPr>
        <p:blipFill>
          <a:blip r:embed="rId3">
            <a:biLevel thresh="25000"/>
          </a:blip>
          <a:stretch>
            <a:fillRect/>
          </a:stretch>
        </p:blipFill>
        <p:spPr>
          <a:xfrm>
            <a:off x="928116" y="3543300"/>
            <a:ext cx="210312" cy="210312"/>
          </a:xfrm>
          <a:prstGeom prst="rect">
            <a:avLst/>
          </a:prstGeom>
        </p:spPr>
      </p:pic>
      <p:sp>
        <p:nvSpPr>
          <p:cNvPr id="12" name="Shape 9"/>
          <p:cNvSpPr/>
          <p:nvPr/>
        </p:nvSpPr>
        <p:spPr>
          <a:xfrm>
            <a:off x="4114800" y="3310128"/>
            <a:ext cx="3246120" cy="676656"/>
          </a:xfrm>
          <a:prstGeom prst="roundRect">
            <a:avLst>
              <a:gd name="adj" fmla="val 13514"/>
            </a:avLst>
          </a:prstGeom>
          <a:solidFill>
            <a:srgbClr val="20304F"/>
          </a:solidFill>
          <a:ln w="12700">
            <a:solidFill>
              <a:srgbClr val="2C6E72"/>
            </a:solidFill>
            <a:prstDash val="solid"/>
          </a:ln>
        </p:spPr>
        <p:txBody>
          <a:bodyPr/>
          <a:lstStyle/>
          <a:p>
            <a:endParaRPr lang="en-GB"/>
          </a:p>
        </p:txBody>
      </p:sp>
      <p:sp>
        <p:nvSpPr>
          <p:cNvPr id="13" name="Shape 10"/>
          <p:cNvSpPr/>
          <p:nvPr/>
        </p:nvSpPr>
        <p:spPr>
          <a:xfrm>
            <a:off x="4279392" y="3419856"/>
            <a:ext cx="457200" cy="457200"/>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14" name="Image 1" descr="preencoded.png"/>
          <p:cNvPicPr>
            <a:picLocks noChangeAspect="1"/>
          </p:cNvPicPr>
          <p:nvPr/>
        </p:nvPicPr>
        <p:blipFill>
          <a:blip r:embed="rId4"/>
          <a:stretch>
            <a:fillRect/>
          </a:stretch>
        </p:blipFill>
        <p:spPr>
          <a:xfrm>
            <a:off x="4402836" y="3543300"/>
            <a:ext cx="210312" cy="210312"/>
          </a:xfrm>
          <a:prstGeom prst="rect">
            <a:avLst/>
          </a:prstGeom>
        </p:spPr>
      </p:pic>
      <p:sp>
        <p:nvSpPr>
          <p:cNvPr id="15" name="Text 11"/>
          <p:cNvSpPr/>
          <p:nvPr/>
        </p:nvSpPr>
        <p:spPr>
          <a:xfrm>
            <a:off x="4846320" y="3310128"/>
            <a:ext cx="2377440" cy="676656"/>
          </a:xfrm>
          <a:prstGeom prst="rect">
            <a:avLst/>
          </a:prstGeom>
          <a:noFill/>
          <a:ln/>
        </p:spPr>
        <p:txBody>
          <a:bodyPr wrap="square" lIns="0" tIns="0" rIns="0" bIns="0"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Module 2 — Contradictions</a:t>
            </a:r>
            <a:endParaRPr lang="en-US" sz="1250" dirty="0"/>
          </a:p>
          <a:p>
            <a:pPr marL="0" indent="0">
              <a:lnSpc>
                <a:spcPct val="95000"/>
              </a:lnSpc>
              <a:buNone/>
            </a:pPr>
            <a:r>
              <a:rPr lang="en-US" sz="1050" dirty="0">
                <a:solidFill>
                  <a:srgbClr val="AEBACB"/>
                </a:solidFill>
                <a:latin typeface="Calibri" pitchFamily="34" charset="0"/>
                <a:ea typeface="Calibri" pitchFamily="34" charset="-122"/>
                <a:cs typeface="Calibri" pitchFamily="34" charset="-120"/>
              </a:rPr>
              <a:t>Automatic detection across sources</a:t>
            </a:r>
            <a:endParaRPr lang="en-US" sz="1250" dirty="0"/>
          </a:p>
        </p:txBody>
      </p:sp>
      <p:sp>
        <p:nvSpPr>
          <p:cNvPr id="16" name="Shape 12"/>
          <p:cNvSpPr/>
          <p:nvPr/>
        </p:nvSpPr>
        <p:spPr>
          <a:xfrm>
            <a:off x="658368" y="4370832"/>
            <a:ext cx="7827264" cy="0"/>
          </a:xfrm>
          <a:prstGeom prst="line">
            <a:avLst/>
          </a:prstGeom>
          <a:noFill/>
          <a:ln w="12700">
            <a:solidFill>
              <a:srgbClr val="34466A"/>
            </a:solidFill>
            <a:prstDash val="solid"/>
          </a:ln>
        </p:spPr>
        <p:txBody>
          <a:bodyPr/>
          <a:lstStyle/>
          <a:p>
            <a:endParaRPr lang="en-GB"/>
          </a:p>
        </p:txBody>
      </p:sp>
      <p:sp>
        <p:nvSpPr>
          <p:cNvPr id="17" name="Text 13"/>
          <p:cNvSpPr/>
          <p:nvPr/>
        </p:nvSpPr>
        <p:spPr>
          <a:xfrm>
            <a:off x="658368" y="4480560"/>
            <a:ext cx="4754880" cy="274320"/>
          </a:xfrm>
          <a:prstGeom prst="rect">
            <a:avLst/>
          </a:prstGeom>
          <a:noFill/>
          <a:ln/>
        </p:spPr>
        <p:txBody>
          <a:bodyPr wrap="square" lIns="0" tIns="0" rIns="0" bIns="0" rtlCol="0" anchor="ctr"/>
          <a:lstStyle/>
          <a:p>
            <a:pPr marL="0" indent="0">
              <a:buNone/>
            </a:pPr>
            <a:r>
              <a:rPr lang="en-US" sz="1200" dirty="0">
                <a:solidFill>
                  <a:srgbClr val="8A97A8"/>
                </a:solidFill>
                <a:latin typeface="Calibri" pitchFamily="34" charset="0"/>
                <a:ea typeface="Calibri" pitchFamily="34" charset="-122"/>
                <a:cs typeface="Calibri" pitchFamily="34" charset="-120"/>
              </a:rPr>
              <a:t>Author:  </a:t>
            </a:r>
            <a:r>
              <a:rPr lang="en-US" sz="1200" b="1" dirty="0">
                <a:solidFill>
                  <a:srgbClr val="FFFFFF"/>
                </a:solidFill>
                <a:latin typeface="Calibri" pitchFamily="34" charset="0"/>
                <a:ea typeface="Calibri" pitchFamily="34" charset="-122"/>
                <a:cs typeface="Calibri" pitchFamily="34" charset="-120"/>
              </a:rPr>
              <a:t>Tălpigă Andrei-Vlad</a:t>
            </a:r>
            <a:endParaRPr lang="en-US" sz="1200" dirty="0"/>
          </a:p>
        </p:txBody>
      </p:sp>
      <p:sp>
        <p:nvSpPr>
          <p:cNvPr id="18" name="Text 14"/>
          <p:cNvSpPr/>
          <p:nvPr/>
        </p:nvSpPr>
        <p:spPr>
          <a:xfrm>
            <a:off x="658368" y="4736592"/>
            <a:ext cx="5943600" cy="274320"/>
          </a:xfrm>
          <a:prstGeom prst="rect">
            <a:avLst/>
          </a:prstGeom>
          <a:noFill/>
          <a:ln/>
        </p:spPr>
        <p:txBody>
          <a:bodyPr wrap="square" lIns="0" tIns="0" rIns="0" bIns="0" rtlCol="0" anchor="ctr"/>
          <a:lstStyle/>
          <a:p>
            <a:r>
              <a:rPr lang="en-GB" sz="1200" dirty="0">
                <a:solidFill>
                  <a:srgbClr val="8A97A8"/>
                </a:solidFill>
                <a:latin typeface="Calibri" pitchFamily="34" charset="0"/>
                <a:ea typeface="Calibri" pitchFamily="34" charset="-122"/>
                <a:cs typeface="Calibri" pitchFamily="34" charset="-120"/>
              </a:rPr>
              <a:t>Scientific supervisor</a:t>
            </a:r>
            <a:r>
              <a:rPr lang="en-US" sz="1200" dirty="0">
                <a:solidFill>
                  <a:srgbClr val="8A97A8"/>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Lect. Dr. Dumitran Marius-Adrian</a:t>
            </a:r>
            <a:endParaRPr lang="en-US" sz="1200" dirty="0"/>
          </a:p>
        </p:txBody>
      </p:sp>
      <p:sp>
        <p:nvSpPr>
          <p:cNvPr id="19" name="Text 15"/>
          <p:cNvSpPr/>
          <p:nvPr/>
        </p:nvSpPr>
        <p:spPr>
          <a:xfrm>
            <a:off x="6075218" y="4608576"/>
            <a:ext cx="2428702" cy="274320"/>
          </a:xfrm>
          <a:prstGeom prst="rect">
            <a:avLst/>
          </a:prstGeom>
          <a:noFill/>
          <a:ln/>
        </p:spPr>
        <p:txBody>
          <a:bodyPr wrap="square" lIns="0" tIns="0" rIns="0" bIns="0" rtlCol="0" anchor="ctr"/>
          <a:lstStyle/>
          <a:p>
            <a:pPr marL="0" indent="0" algn="r">
              <a:buNone/>
            </a:pPr>
            <a:r>
              <a:rPr lang="en-US" sz="1200" dirty="0">
                <a:solidFill>
                  <a:srgbClr val="C9882E"/>
                </a:solidFill>
                <a:latin typeface="Calibri" pitchFamily="34" charset="0"/>
                <a:ea typeface="Calibri" pitchFamily="34" charset="-122"/>
                <a:cs typeface="Calibri" pitchFamily="34" charset="-120"/>
              </a:rPr>
              <a:t>Bucharest,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CONTEXT &amp; PROBLEM</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Motivation</a:t>
            </a:r>
            <a:endParaRPr lang="en-US" sz="2900" dirty="0"/>
          </a:p>
        </p:txBody>
      </p:sp>
      <p:sp>
        <p:nvSpPr>
          <p:cNvPr id="5" name="Text 3"/>
          <p:cNvSpPr/>
          <p:nvPr/>
        </p:nvSpPr>
        <p:spPr>
          <a:xfrm>
            <a:off x="502920" y="1371600"/>
            <a:ext cx="4114800" cy="274320"/>
          </a:xfrm>
          <a:prstGeom prst="rect">
            <a:avLst/>
          </a:prstGeom>
          <a:noFill/>
          <a:ln/>
        </p:spPr>
        <p:txBody>
          <a:bodyPr wrap="square" lIns="0" tIns="0" rIns="0" bIns="0" rtlCol="0" anchor="ctr"/>
          <a:lstStyle/>
          <a:p>
            <a:pPr marL="0" indent="0">
              <a:buNone/>
            </a:pPr>
            <a:r>
              <a:rPr lang="en-US" sz="1400" b="1" dirty="0">
                <a:solidFill>
                  <a:srgbClr val="5B6B82"/>
                </a:solidFill>
                <a:latin typeface="Calibri" pitchFamily="34" charset="0"/>
                <a:ea typeface="Calibri" pitchFamily="34" charset="-122"/>
                <a:cs typeface="Calibri" pitchFamily="34" charset="-120"/>
              </a:rPr>
              <a:t>Limitations of large language models</a:t>
            </a:r>
            <a:endParaRPr lang="en-US" sz="1400" dirty="0"/>
          </a:p>
        </p:txBody>
      </p:sp>
      <p:sp>
        <p:nvSpPr>
          <p:cNvPr id="6" name="Shape 4"/>
          <p:cNvSpPr/>
          <p:nvPr/>
        </p:nvSpPr>
        <p:spPr>
          <a:xfrm>
            <a:off x="502920" y="1700784"/>
            <a:ext cx="4160520" cy="914400"/>
          </a:xfrm>
          <a:prstGeom prst="roundRect">
            <a:avLst>
              <a:gd name="adj" fmla="val 8000"/>
            </a:avLst>
          </a:prstGeom>
          <a:solidFill>
            <a:srgbClr val="F4F6FA"/>
          </a:solidFill>
          <a:ln w="12700">
            <a:solidFill>
              <a:srgbClr val="D8DEE9"/>
            </a:solidFill>
            <a:prstDash val="solid"/>
          </a:ln>
          <a:effectLst>
            <a:outerShdw blurRad="88900" dist="38100" dir="5400000" algn="bl" rotWithShape="0">
              <a:srgbClr val="000000">
                <a:alpha val="8000"/>
              </a:srgbClr>
            </a:outerShdw>
          </a:effectLst>
        </p:spPr>
        <p:txBody>
          <a:bodyPr/>
          <a:lstStyle/>
          <a:p>
            <a:endParaRPr lang="en-GB"/>
          </a:p>
        </p:txBody>
      </p:sp>
      <p:sp>
        <p:nvSpPr>
          <p:cNvPr id="7" name="Shape 5"/>
          <p:cNvSpPr/>
          <p:nvPr/>
        </p:nvSpPr>
        <p:spPr>
          <a:xfrm>
            <a:off x="676656" y="1929384"/>
            <a:ext cx="457200" cy="457200"/>
          </a:xfrm>
          <a:prstGeom prst="ellipse">
            <a:avLst/>
          </a:prstGeom>
          <a:solidFill>
            <a:srgbClr val="FCEBEA"/>
          </a:solidFill>
          <a:ln/>
          <a:effectLst>
            <a:outerShdw blurRad="63500" dist="25400" dir="5400000" algn="bl" rotWithShape="0">
              <a:srgbClr val="000000">
                <a:alpha val="16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800100" y="2052828"/>
            <a:ext cx="210312" cy="210312"/>
          </a:xfrm>
          <a:prstGeom prst="rect">
            <a:avLst/>
          </a:prstGeom>
        </p:spPr>
      </p:pic>
      <p:sp>
        <p:nvSpPr>
          <p:cNvPr id="9" name="Text 6"/>
          <p:cNvSpPr/>
          <p:nvPr/>
        </p:nvSpPr>
        <p:spPr>
          <a:xfrm>
            <a:off x="1280160" y="1746504"/>
            <a:ext cx="3291840" cy="822960"/>
          </a:xfrm>
          <a:prstGeom prst="rect">
            <a:avLst/>
          </a:prstGeom>
          <a:noFill/>
          <a:ln/>
        </p:spPr>
        <p:txBody>
          <a:bodyPr wrap="square" lIns="0" tIns="0" rIns="0" bIns="0" rtlCol="0" anchor="ctr"/>
          <a:lstStyle/>
          <a:p>
            <a:pPr marL="0" indent="0">
              <a:lnSpc>
                <a:spcPct val="98000"/>
              </a:lnSpc>
              <a:buNone/>
            </a:pPr>
            <a:r>
              <a:rPr lang="en-US" sz="1400" b="1" dirty="0">
                <a:solidFill>
                  <a:srgbClr val="1E2B45"/>
                </a:solidFill>
                <a:latin typeface="Calibri" pitchFamily="34" charset="0"/>
                <a:ea typeface="Calibri" pitchFamily="34" charset="-122"/>
                <a:cs typeface="Calibri" pitchFamily="34" charset="-120"/>
              </a:rPr>
              <a:t>Hallucinations</a:t>
            </a:r>
            <a:endParaRPr lang="en-US" sz="1400" dirty="0"/>
          </a:p>
          <a:p>
            <a:pPr marL="0" indent="0">
              <a:lnSpc>
                <a:spcPct val="98000"/>
              </a:lnSpc>
              <a:buNone/>
            </a:pPr>
            <a:r>
              <a:rPr lang="en-US" sz="1150" dirty="0">
                <a:solidFill>
                  <a:srgbClr val="5B6B82"/>
                </a:solidFill>
                <a:latin typeface="Calibri" pitchFamily="34" charset="0"/>
                <a:ea typeface="Calibri" pitchFamily="34" charset="-122"/>
                <a:cs typeface="Calibri" pitchFamily="34" charset="-120"/>
              </a:rPr>
              <a:t>Incorrect, but plausible statements, with no signal of uncertainty.</a:t>
            </a:r>
            <a:endParaRPr lang="en-US" sz="1400" dirty="0"/>
          </a:p>
        </p:txBody>
      </p:sp>
      <p:sp>
        <p:nvSpPr>
          <p:cNvPr id="10" name="Shape 7"/>
          <p:cNvSpPr/>
          <p:nvPr/>
        </p:nvSpPr>
        <p:spPr>
          <a:xfrm>
            <a:off x="502920" y="2724911"/>
            <a:ext cx="4160520" cy="1316737"/>
          </a:xfrm>
          <a:prstGeom prst="roundRect">
            <a:avLst>
              <a:gd name="adj" fmla="val 8000"/>
            </a:avLst>
          </a:prstGeom>
          <a:solidFill>
            <a:srgbClr val="F4F6FA"/>
          </a:solidFill>
          <a:ln w="12700">
            <a:solidFill>
              <a:srgbClr val="D8DEE9"/>
            </a:solidFill>
            <a:prstDash val="solid"/>
          </a:ln>
          <a:effectLst>
            <a:outerShdw blurRad="88900" dist="38100" dir="5400000" algn="bl" rotWithShape="0">
              <a:srgbClr val="000000">
                <a:alpha val="8000"/>
              </a:srgbClr>
            </a:outerShdw>
          </a:effectLst>
        </p:spPr>
        <p:txBody>
          <a:bodyPr/>
          <a:lstStyle/>
          <a:p>
            <a:endParaRPr lang="en-GB"/>
          </a:p>
        </p:txBody>
      </p:sp>
      <p:grpSp>
        <p:nvGrpSpPr>
          <p:cNvPr id="28" name="Group 27">
            <a:extLst>
              <a:ext uri="{FF2B5EF4-FFF2-40B4-BE49-F238E27FC236}">
                <a16:creationId xmlns:a16="http://schemas.microsoft.com/office/drawing/2014/main" id="{40C3EC29-E50D-F933-A698-B434B5108F43}"/>
              </a:ext>
            </a:extLst>
          </p:cNvPr>
          <p:cNvGrpSpPr/>
          <p:nvPr/>
        </p:nvGrpSpPr>
        <p:grpSpPr>
          <a:xfrm>
            <a:off x="676656" y="3154679"/>
            <a:ext cx="457200" cy="457200"/>
            <a:chOff x="676656" y="2953512"/>
            <a:chExt cx="457200" cy="457200"/>
          </a:xfrm>
        </p:grpSpPr>
        <p:sp>
          <p:nvSpPr>
            <p:cNvPr id="11" name="Shape 8"/>
            <p:cNvSpPr/>
            <p:nvPr/>
          </p:nvSpPr>
          <p:spPr>
            <a:xfrm>
              <a:off x="676656" y="2953512"/>
              <a:ext cx="457200" cy="457200"/>
            </a:xfrm>
            <a:prstGeom prst="ellipse">
              <a:avLst/>
            </a:prstGeom>
            <a:solidFill>
              <a:srgbClr val="FCEBEA"/>
            </a:solidFill>
            <a:ln/>
            <a:effectLst>
              <a:outerShdw blurRad="63500" dist="25400" dir="5400000" algn="bl" rotWithShape="0">
                <a:srgbClr val="000000">
                  <a:alpha val="16000"/>
                </a:srgbClr>
              </a:outerShdw>
            </a:effectLst>
          </p:spPr>
          <p:txBody>
            <a:bodyPr/>
            <a:lstStyle/>
            <a:p>
              <a:endParaRPr lang="en-GB"/>
            </a:p>
          </p:txBody>
        </p:sp>
        <p:pic>
          <p:nvPicPr>
            <p:cNvPr id="12" name="Image 1" descr="preencoded.png"/>
            <p:cNvPicPr>
              <a:picLocks noChangeAspect="1"/>
            </p:cNvPicPr>
            <p:nvPr/>
          </p:nvPicPr>
          <p:blipFill>
            <a:blip r:embed="rId4"/>
            <a:stretch>
              <a:fillRect/>
            </a:stretch>
          </p:blipFill>
          <p:spPr>
            <a:xfrm>
              <a:off x="800100" y="3076956"/>
              <a:ext cx="210312" cy="210312"/>
            </a:xfrm>
            <a:prstGeom prst="rect">
              <a:avLst/>
            </a:prstGeom>
          </p:spPr>
        </p:pic>
      </p:grpSp>
      <p:sp>
        <p:nvSpPr>
          <p:cNvPr id="13" name="Text 9"/>
          <p:cNvSpPr/>
          <p:nvPr/>
        </p:nvSpPr>
        <p:spPr>
          <a:xfrm>
            <a:off x="1280160" y="2834640"/>
            <a:ext cx="3291840" cy="1289304"/>
          </a:xfrm>
          <a:prstGeom prst="rect">
            <a:avLst/>
          </a:prstGeom>
          <a:noFill/>
          <a:ln/>
        </p:spPr>
        <p:txBody>
          <a:bodyPr wrap="square" lIns="0" tIns="0" rIns="0" bIns="0" rtlCol="0" anchor="ctr"/>
          <a:lstStyle/>
          <a:p>
            <a:pPr marL="0" indent="0">
              <a:lnSpc>
                <a:spcPct val="98000"/>
              </a:lnSpc>
              <a:buNone/>
            </a:pPr>
            <a:r>
              <a:rPr lang="en-US" sz="1400" b="1" dirty="0">
                <a:solidFill>
                  <a:srgbClr val="1E2B45"/>
                </a:solidFill>
                <a:latin typeface="Calibri" pitchFamily="34" charset="0"/>
                <a:ea typeface="Calibri" pitchFamily="34" charset="-122"/>
                <a:cs typeface="Calibri" pitchFamily="34" charset="-120"/>
              </a:rPr>
              <a:t>Frozen/unverifiable knowledge</a:t>
            </a:r>
            <a:endParaRPr lang="en-US" sz="1400" dirty="0"/>
          </a:p>
          <a:p>
            <a:pPr marL="0" indent="0">
              <a:lnSpc>
                <a:spcPct val="98000"/>
              </a:lnSpc>
              <a:buNone/>
            </a:pPr>
            <a:r>
              <a:rPr lang="en-US" sz="1150" dirty="0">
                <a:solidFill>
                  <a:srgbClr val="5B6B82"/>
                </a:solidFill>
                <a:latin typeface="Calibri" pitchFamily="34" charset="0"/>
                <a:ea typeface="Calibri" pitchFamily="34" charset="-122"/>
                <a:cs typeface="Calibri" pitchFamily="34" charset="-120"/>
              </a:rPr>
              <a:t>Information is fixed at training time, in the absence of external search mechanisms (real-time access to web sources).</a:t>
            </a:r>
          </a:p>
          <a:p>
            <a:pPr>
              <a:lnSpc>
                <a:spcPct val="98000"/>
              </a:lnSpc>
            </a:pPr>
            <a:r>
              <a:rPr lang="en-US" sz="1150" dirty="0">
                <a:solidFill>
                  <a:srgbClr val="5B6B82"/>
                </a:solidFill>
                <a:latin typeface="Calibri" pitchFamily="34" charset="0"/>
                <a:ea typeface="Calibri" pitchFamily="34" charset="-122"/>
                <a:cs typeface="Calibri" pitchFamily="34" charset="-120"/>
              </a:rPr>
              <a:t>The model cannot guarantee that a statement comes from a validated source.</a:t>
            </a:r>
          </a:p>
          <a:p>
            <a:pPr marL="0" indent="0">
              <a:lnSpc>
                <a:spcPct val="98000"/>
              </a:lnSpc>
              <a:buNone/>
            </a:pPr>
            <a:endParaRPr lang="en-US" sz="1400" dirty="0"/>
          </a:p>
        </p:txBody>
      </p:sp>
      <p:sp>
        <p:nvSpPr>
          <p:cNvPr id="14" name="Text 10"/>
          <p:cNvSpPr/>
          <p:nvPr/>
        </p:nvSpPr>
        <p:spPr>
          <a:xfrm>
            <a:off x="480060" y="4270248"/>
            <a:ext cx="4160520" cy="640080"/>
          </a:xfrm>
          <a:prstGeom prst="rect">
            <a:avLst/>
          </a:prstGeom>
          <a:noFill/>
          <a:ln/>
        </p:spPr>
        <p:txBody>
          <a:bodyPr wrap="square" lIns="0" tIns="0" rIns="0" bIns="0" rtlCol="0" anchor="t"/>
          <a:lstStyle/>
          <a:p>
            <a:pPr marL="0" indent="0">
              <a:buNone/>
            </a:pPr>
            <a:r>
              <a:rPr lang="en-US" sz="1150" i="1" dirty="0">
                <a:solidFill>
                  <a:srgbClr val="5B6B82"/>
                </a:solidFill>
                <a:latin typeface="Calibri" pitchFamily="34" charset="0"/>
                <a:ea typeface="Calibri" pitchFamily="34" charset="-122"/>
                <a:cs typeface="Calibri" pitchFamily="34" charset="-120"/>
              </a:rPr>
              <a:t>Critical in an educational setting: middle-school students cannot verify the statements they receive on their own.</a:t>
            </a:r>
            <a:endParaRPr lang="en-US" sz="1150" dirty="0"/>
          </a:p>
        </p:txBody>
      </p:sp>
      <p:sp>
        <p:nvSpPr>
          <p:cNvPr id="15" name="Shape 11"/>
          <p:cNvSpPr/>
          <p:nvPr/>
        </p:nvSpPr>
        <p:spPr>
          <a:xfrm>
            <a:off x="4937760" y="1371599"/>
            <a:ext cx="3794760" cy="3285309"/>
          </a:xfrm>
          <a:prstGeom prst="roundRect">
            <a:avLst>
              <a:gd name="adj" fmla="val 3012"/>
            </a:avLst>
          </a:prstGeom>
          <a:solidFill>
            <a:srgbClr val="15233B"/>
          </a:solidFill>
          <a:ln/>
          <a:effectLst>
            <a:outerShdw blurRad="88900" dist="38100" dir="5400000" algn="bl" rotWithShape="0">
              <a:srgbClr val="000000">
                <a:alpha val="18000"/>
              </a:srgbClr>
            </a:outerShdw>
          </a:effectLst>
        </p:spPr>
        <p:txBody>
          <a:bodyPr/>
          <a:lstStyle/>
          <a:p>
            <a:endParaRPr lang="en-GB"/>
          </a:p>
        </p:txBody>
      </p:sp>
      <p:sp>
        <p:nvSpPr>
          <p:cNvPr id="16" name="Shape 12"/>
          <p:cNvSpPr/>
          <p:nvPr/>
        </p:nvSpPr>
        <p:spPr>
          <a:xfrm>
            <a:off x="5166360" y="1591056"/>
            <a:ext cx="566928" cy="566928"/>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17" name="Image 2" descr="preencoded.png"/>
          <p:cNvPicPr>
            <a:picLocks noChangeAspect="1"/>
          </p:cNvPicPr>
          <p:nvPr/>
        </p:nvPicPr>
        <p:blipFill>
          <a:blip r:embed="rId5">
            <a:biLevel thresh="25000"/>
          </a:blip>
          <a:stretch>
            <a:fillRect/>
          </a:stretch>
        </p:blipFill>
        <p:spPr>
          <a:xfrm>
            <a:off x="5319431" y="1744127"/>
            <a:ext cx="260787" cy="260787"/>
          </a:xfrm>
          <a:prstGeom prst="rect">
            <a:avLst/>
          </a:prstGeom>
        </p:spPr>
      </p:pic>
      <p:sp>
        <p:nvSpPr>
          <p:cNvPr id="18" name="Text 13"/>
          <p:cNvSpPr/>
          <p:nvPr/>
        </p:nvSpPr>
        <p:spPr>
          <a:xfrm>
            <a:off x="5870448" y="1627632"/>
            <a:ext cx="265176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The solution: the RAG paradigm</a:t>
            </a:r>
            <a:endParaRPr lang="en-US" sz="1700" dirty="0"/>
          </a:p>
        </p:txBody>
      </p:sp>
      <p:sp>
        <p:nvSpPr>
          <p:cNvPr id="19" name="Text 14"/>
          <p:cNvSpPr/>
          <p:nvPr/>
        </p:nvSpPr>
        <p:spPr>
          <a:xfrm>
            <a:off x="5166360" y="2286000"/>
            <a:ext cx="3291840" cy="548640"/>
          </a:xfrm>
          <a:prstGeom prst="rect">
            <a:avLst/>
          </a:prstGeom>
          <a:noFill/>
          <a:ln/>
        </p:spPr>
        <p:txBody>
          <a:bodyPr wrap="square" lIns="0" tIns="0" rIns="0" bIns="0" rtlCol="0" anchor="ctr"/>
          <a:lstStyle/>
          <a:p>
            <a:pPr marL="0" indent="0">
              <a:lnSpc>
                <a:spcPct val="100000"/>
              </a:lnSpc>
              <a:buNone/>
            </a:pPr>
            <a:r>
              <a:rPr lang="en-US" sz="1200" dirty="0">
                <a:solidFill>
                  <a:srgbClr val="C8D2E2"/>
                </a:solidFill>
                <a:latin typeface="Calibri" pitchFamily="34" charset="0"/>
                <a:ea typeface="Calibri" pitchFamily="34" charset="-122"/>
                <a:cs typeface="Calibri" pitchFamily="34" charset="-120"/>
              </a:rPr>
              <a:t>Retrieval-Augmented Generation couples a generative model with a retrieval mechanism.</a:t>
            </a:r>
            <a:endParaRPr lang="en-US" sz="1200" dirty="0"/>
          </a:p>
        </p:txBody>
      </p:sp>
      <p:pic>
        <p:nvPicPr>
          <p:cNvPr id="20" name="Image 3" descr="preencoded.png"/>
          <p:cNvPicPr>
            <a:picLocks noChangeAspect="1"/>
          </p:cNvPicPr>
          <p:nvPr/>
        </p:nvPicPr>
        <p:blipFill>
          <a:blip r:embed="rId6"/>
          <a:stretch>
            <a:fillRect/>
          </a:stretch>
        </p:blipFill>
        <p:spPr>
          <a:xfrm>
            <a:off x="5175504" y="2944368"/>
            <a:ext cx="201168" cy="201168"/>
          </a:xfrm>
          <a:prstGeom prst="rect">
            <a:avLst/>
          </a:prstGeom>
        </p:spPr>
      </p:pic>
      <p:sp>
        <p:nvSpPr>
          <p:cNvPr id="21" name="Text 15"/>
          <p:cNvSpPr/>
          <p:nvPr/>
        </p:nvSpPr>
        <p:spPr>
          <a:xfrm>
            <a:off x="5468112" y="2889504"/>
            <a:ext cx="301752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Answers grounded in verifiable sources</a:t>
            </a:r>
            <a:endParaRPr lang="en-US" sz="1200" dirty="0"/>
          </a:p>
        </p:txBody>
      </p:sp>
      <p:pic>
        <p:nvPicPr>
          <p:cNvPr id="22" name="Image 4" descr="preencoded.png"/>
          <p:cNvPicPr>
            <a:picLocks noChangeAspect="1"/>
          </p:cNvPicPr>
          <p:nvPr/>
        </p:nvPicPr>
        <p:blipFill>
          <a:blip r:embed="rId6"/>
          <a:stretch>
            <a:fillRect/>
          </a:stretch>
        </p:blipFill>
        <p:spPr>
          <a:xfrm>
            <a:off x="5175504" y="3328416"/>
            <a:ext cx="201168" cy="201168"/>
          </a:xfrm>
          <a:prstGeom prst="rect">
            <a:avLst/>
          </a:prstGeom>
        </p:spPr>
      </p:pic>
      <p:sp>
        <p:nvSpPr>
          <p:cNvPr id="23" name="Text 16"/>
          <p:cNvSpPr/>
          <p:nvPr/>
        </p:nvSpPr>
        <p:spPr>
          <a:xfrm>
            <a:off x="5468112" y="3273552"/>
            <a:ext cx="301752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Citations that make statements traceable</a:t>
            </a:r>
            <a:endParaRPr lang="en-US" sz="1200" dirty="0"/>
          </a:p>
        </p:txBody>
      </p:sp>
      <p:pic>
        <p:nvPicPr>
          <p:cNvPr id="24" name="Image 5" descr="preencoded.png"/>
          <p:cNvPicPr>
            <a:picLocks noChangeAspect="1"/>
          </p:cNvPicPr>
          <p:nvPr/>
        </p:nvPicPr>
        <p:blipFill>
          <a:blip r:embed="rId6"/>
          <a:stretch>
            <a:fillRect/>
          </a:stretch>
        </p:blipFill>
        <p:spPr>
          <a:xfrm>
            <a:off x="5175504" y="3712464"/>
            <a:ext cx="201168" cy="201168"/>
          </a:xfrm>
          <a:prstGeom prst="rect">
            <a:avLst/>
          </a:prstGeom>
        </p:spPr>
      </p:pic>
      <p:sp>
        <p:nvSpPr>
          <p:cNvPr id="25" name="Text 17"/>
          <p:cNvSpPr/>
          <p:nvPr/>
        </p:nvSpPr>
        <p:spPr>
          <a:xfrm>
            <a:off x="5468112" y="3657600"/>
            <a:ext cx="301752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Knowledge base updatable without retraining</a:t>
            </a:r>
            <a:endParaRPr lang="en-US" sz="1200" dirty="0"/>
          </a:p>
        </p:txBody>
      </p:sp>
      <p:sp>
        <p:nvSpPr>
          <p:cNvPr id="26" name="Text 18"/>
          <p:cNvSpPr/>
          <p:nvPr/>
        </p:nvSpPr>
        <p:spPr>
          <a:xfrm>
            <a:off x="5166360" y="4041648"/>
            <a:ext cx="3291840" cy="457200"/>
          </a:xfrm>
          <a:prstGeom prst="rect">
            <a:avLst/>
          </a:prstGeom>
          <a:noFill/>
          <a:ln/>
        </p:spPr>
        <p:txBody>
          <a:bodyPr wrap="square" lIns="0" tIns="0" rIns="0" bIns="0" rtlCol="0" anchor="ctr"/>
          <a:lstStyle/>
          <a:p>
            <a:pPr marL="0" indent="0">
              <a:lnSpc>
                <a:spcPct val="98000"/>
              </a:lnSpc>
              <a:buNone/>
            </a:pPr>
            <a:r>
              <a:rPr lang="en-US" sz="1050" i="1" dirty="0">
                <a:solidFill>
                  <a:srgbClr val="C9882E"/>
                </a:solidFill>
                <a:latin typeface="Calibri" pitchFamily="34" charset="0"/>
                <a:ea typeface="Calibri" pitchFamily="34" charset="-122"/>
                <a:cs typeface="Calibri" pitchFamily="34" charset="-120"/>
              </a:rPr>
              <a:t>Applied to the 7th-grade history curriculum (19th century, the two World Wars, the post-war world).</a:t>
            </a:r>
            <a:endParaRPr lang="en-US" sz="1050" dirty="0"/>
          </a:p>
        </p:txBody>
      </p:sp>
      <p:sp>
        <p:nvSpPr>
          <p:cNvPr id="27" name="Text 19"/>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434340"/>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Proposed system</a:t>
            </a:r>
            <a:endParaRPr lang="en-US" sz="2900" dirty="0"/>
          </a:p>
        </p:txBody>
      </p:sp>
      <p:sp>
        <p:nvSpPr>
          <p:cNvPr id="5" name="Shape 3"/>
          <p:cNvSpPr/>
          <p:nvPr/>
        </p:nvSpPr>
        <p:spPr>
          <a:xfrm>
            <a:off x="2743200" y="1572768"/>
            <a:ext cx="3703320" cy="2907792"/>
          </a:xfrm>
          <a:prstGeom prst="roundRect">
            <a:avLst>
              <a:gd name="adj" fmla="val 1887"/>
            </a:avLst>
          </a:prstGeom>
          <a:solidFill>
            <a:srgbClr val="F4F6FA"/>
          </a:solidFill>
          <a:ln w="15875">
            <a:solidFill>
              <a:srgbClr val="8A97A8"/>
            </a:solidFill>
            <a:prstDash val="dash"/>
          </a:ln>
        </p:spPr>
        <p:txBody>
          <a:bodyPr/>
          <a:lstStyle/>
          <a:p>
            <a:endParaRPr lang="en-GB"/>
          </a:p>
        </p:txBody>
      </p:sp>
      <p:sp>
        <p:nvSpPr>
          <p:cNvPr id="6" name="Text 4"/>
          <p:cNvSpPr/>
          <p:nvPr/>
        </p:nvSpPr>
        <p:spPr>
          <a:xfrm>
            <a:off x="2720340" y="2804595"/>
            <a:ext cx="3703320" cy="274320"/>
          </a:xfrm>
          <a:prstGeom prst="rect">
            <a:avLst/>
          </a:prstGeom>
          <a:noFill/>
          <a:ln/>
        </p:spPr>
        <p:txBody>
          <a:bodyPr wrap="square" lIns="0" tIns="0" rIns="0" bIns="0" rtlCol="0" anchor="ctr"/>
          <a:lstStyle/>
          <a:p>
            <a:pPr marL="0" indent="0" algn="ctr">
              <a:buNone/>
            </a:pPr>
            <a:r>
              <a:rPr lang="en-US" sz="1100" i="1" dirty="0">
                <a:solidFill>
                  <a:srgbClr val="5B6B82"/>
                </a:solidFill>
                <a:latin typeface="Calibri" pitchFamily="34" charset="0"/>
                <a:ea typeface="Calibri" pitchFamily="34" charset="-122"/>
                <a:cs typeface="Calibri" pitchFamily="34" charset="-120"/>
              </a:rPr>
              <a:t>Proposed system</a:t>
            </a:r>
            <a:endParaRPr lang="en-US" sz="1100" dirty="0"/>
          </a:p>
        </p:txBody>
      </p:sp>
      <p:sp>
        <p:nvSpPr>
          <p:cNvPr id="7" name="Shape 5"/>
          <p:cNvSpPr/>
          <p:nvPr/>
        </p:nvSpPr>
        <p:spPr>
          <a:xfrm>
            <a:off x="502920" y="2487168"/>
            <a:ext cx="1783080" cy="1005840"/>
          </a:xfrm>
          <a:prstGeom prst="roundRect">
            <a:avLst>
              <a:gd name="adj" fmla="val 9091"/>
            </a:avLst>
          </a:prstGeom>
          <a:solidFill>
            <a:srgbClr val="15233B"/>
          </a:solidFill>
          <a:ln/>
          <a:effectLst>
            <a:outerShdw blurRad="88900" dist="38100" dir="5400000" algn="bl" rotWithShape="0">
              <a:srgbClr val="000000">
                <a:alpha val="16000"/>
              </a:srgbClr>
            </a:outerShdw>
          </a:effectLst>
        </p:spPr>
        <p:txBody>
          <a:bodyPr/>
          <a:lstStyle/>
          <a:p>
            <a:endParaRPr lang="en-GB"/>
          </a:p>
        </p:txBody>
      </p:sp>
      <p:grpSp>
        <p:nvGrpSpPr>
          <p:cNvPr id="29" name="Group 28">
            <a:extLst>
              <a:ext uri="{FF2B5EF4-FFF2-40B4-BE49-F238E27FC236}">
                <a16:creationId xmlns:a16="http://schemas.microsoft.com/office/drawing/2014/main" id="{AB5C2498-ED99-624A-D22A-7A1E706CBAB6}"/>
              </a:ext>
            </a:extLst>
          </p:cNvPr>
          <p:cNvGrpSpPr/>
          <p:nvPr/>
        </p:nvGrpSpPr>
        <p:grpSpPr>
          <a:xfrm>
            <a:off x="713232" y="2754303"/>
            <a:ext cx="457200" cy="457200"/>
            <a:chOff x="713232" y="2697480"/>
            <a:chExt cx="457200" cy="457200"/>
          </a:xfrm>
        </p:grpSpPr>
        <p:sp>
          <p:nvSpPr>
            <p:cNvPr id="8" name="Shape 6"/>
            <p:cNvSpPr>
              <a:spLocks/>
            </p:cNvSpPr>
            <p:nvPr/>
          </p:nvSpPr>
          <p:spPr>
            <a:xfrm>
              <a:off x="713232" y="2697480"/>
              <a:ext cx="457200" cy="457200"/>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9" name="Image 0" descr="preencoded.png"/>
            <p:cNvPicPr>
              <a:picLocks noChangeAspect="1"/>
            </p:cNvPicPr>
            <p:nvPr/>
          </p:nvPicPr>
          <p:blipFill>
            <a:blip r:embed="rId3"/>
            <a:stretch>
              <a:fillRect/>
            </a:stretch>
          </p:blipFill>
          <p:spPr>
            <a:xfrm>
              <a:off x="836676" y="2820924"/>
              <a:ext cx="210312" cy="210312"/>
            </a:xfrm>
            <a:prstGeom prst="rect">
              <a:avLst/>
            </a:prstGeom>
          </p:spPr>
        </p:pic>
      </p:grpSp>
      <p:sp>
        <p:nvSpPr>
          <p:cNvPr id="10" name="Text 7"/>
          <p:cNvSpPr/>
          <p:nvPr/>
        </p:nvSpPr>
        <p:spPr>
          <a:xfrm>
            <a:off x="1335024" y="2487168"/>
            <a:ext cx="1005840" cy="1005840"/>
          </a:xfrm>
          <a:prstGeom prst="rect">
            <a:avLst/>
          </a:prstGeom>
          <a:noFill/>
          <a:ln/>
        </p:spPr>
        <p:txBody>
          <a:bodyPr wrap="square" lIns="0" tIns="0" rIns="0" bIns="0" rtlCol="0" anchor="ctr"/>
          <a:lstStyle/>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User's</a:t>
            </a:r>
            <a:endParaRPr lang="en-US" sz="1250" dirty="0"/>
          </a:p>
          <a:p>
            <a:pPr marL="0" indent="0">
              <a:lnSpc>
                <a:spcPct val="95000"/>
              </a:lnSpc>
              <a:buNone/>
            </a:pPr>
            <a:r>
              <a:rPr lang="en-US" sz="1250" b="1" dirty="0">
                <a:solidFill>
                  <a:srgbClr val="FFFFFF"/>
                </a:solidFill>
                <a:latin typeface="Calibri" pitchFamily="34" charset="0"/>
                <a:ea typeface="Calibri" pitchFamily="34" charset="-122"/>
                <a:cs typeface="Calibri" pitchFamily="34" charset="-120"/>
              </a:rPr>
              <a:t>question</a:t>
            </a:r>
            <a:endParaRPr lang="en-US" sz="1250" dirty="0"/>
          </a:p>
        </p:txBody>
      </p:sp>
      <p:sp>
        <p:nvSpPr>
          <p:cNvPr id="11" name="Shape 8"/>
          <p:cNvSpPr/>
          <p:nvPr/>
        </p:nvSpPr>
        <p:spPr>
          <a:xfrm>
            <a:off x="2926080" y="1700784"/>
            <a:ext cx="3337560" cy="1078992"/>
          </a:xfrm>
          <a:prstGeom prst="roundRect">
            <a:avLst>
              <a:gd name="adj" fmla="val 8475"/>
            </a:avLst>
          </a:prstGeom>
          <a:solidFill>
            <a:srgbClr val="FFFFFF"/>
          </a:solidFill>
          <a:ln w="19050">
            <a:solidFill>
              <a:srgbClr val="C9882E"/>
            </a:solidFill>
            <a:prstDash val="solid"/>
          </a:ln>
          <a:effectLst>
            <a:outerShdw blurRad="88900" dist="38100" dir="5400000" algn="bl" rotWithShape="0">
              <a:srgbClr val="000000">
                <a:alpha val="10000"/>
              </a:srgbClr>
            </a:outerShdw>
          </a:effectLst>
        </p:spPr>
        <p:txBody>
          <a:bodyPr/>
          <a:lstStyle/>
          <a:p>
            <a:endParaRPr lang="en-GB"/>
          </a:p>
        </p:txBody>
      </p:sp>
      <p:sp>
        <p:nvSpPr>
          <p:cNvPr id="12" name="Shape 9"/>
          <p:cNvSpPr/>
          <p:nvPr/>
        </p:nvSpPr>
        <p:spPr>
          <a:xfrm>
            <a:off x="3108960" y="2011680"/>
            <a:ext cx="457200" cy="457200"/>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13" name="Image 1" descr="preencoded.png"/>
          <p:cNvPicPr>
            <a:picLocks noChangeAspect="1"/>
          </p:cNvPicPr>
          <p:nvPr/>
        </p:nvPicPr>
        <p:blipFill>
          <a:blip r:embed="rId4">
            <a:biLevel thresh="25000"/>
          </a:blip>
          <a:stretch>
            <a:fillRect/>
          </a:stretch>
        </p:blipFill>
        <p:spPr>
          <a:xfrm>
            <a:off x="3232404" y="2135124"/>
            <a:ext cx="210312" cy="210312"/>
          </a:xfrm>
          <a:prstGeom prst="rect">
            <a:avLst/>
          </a:prstGeom>
        </p:spPr>
      </p:pic>
      <p:sp>
        <p:nvSpPr>
          <p:cNvPr id="14" name="Text 10"/>
          <p:cNvSpPr/>
          <p:nvPr/>
        </p:nvSpPr>
        <p:spPr>
          <a:xfrm>
            <a:off x="3675888" y="1700784"/>
            <a:ext cx="2468880" cy="1078992"/>
          </a:xfrm>
          <a:prstGeom prst="rect">
            <a:avLst/>
          </a:prstGeom>
          <a:noFill/>
          <a:ln/>
        </p:spPr>
        <p:txBody>
          <a:bodyPr wrap="square" lIns="0" tIns="0" rIns="0" bIns="0" rtlCol="0" anchor="ctr"/>
          <a:lstStyle/>
          <a:p>
            <a:pPr marL="0" indent="0">
              <a:lnSpc>
                <a:spcPct val="95000"/>
              </a:lnSpc>
              <a:buNone/>
            </a:pPr>
            <a:r>
              <a:rPr lang="en-US" sz="1400" b="1" dirty="0">
                <a:solidFill>
                  <a:srgbClr val="A66E22"/>
                </a:solidFill>
                <a:latin typeface="Calibri" pitchFamily="34" charset="0"/>
                <a:ea typeface="Calibri" pitchFamily="34" charset="-122"/>
                <a:cs typeface="Calibri" pitchFamily="34" charset="-120"/>
              </a:rPr>
              <a:t>Module 1 — RAG</a:t>
            </a:r>
            <a:endParaRPr lang="en-US" sz="1400" dirty="0"/>
          </a:p>
          <a:p>
            <a:pPr marL="0" indent="0">
              <a:lnSpc>
                <a:spcPct val="95000"/>
              </a:lnSpc>
              <a:buNone/>
            </a:pPr>
            <a:r>
              <a:rPr lang="en-US" sz="1100" dirty="0">
                <a:solidFill>
                  <a:srgbClr val="5B6B82"/>
                </a:solidFill>
                <a:latin typeface="Calibri" pitchFamily="34" charset="0"/>
                <a:ea typeface="Calibri" pitchFamily="34" charset="-122"/>
                <a:cs typeface="Calibri" pitchFamily="34" charset="-120"/>
              </a:rPr>
              <a:t>Answer grounded in indexed lessons</a:t>
            </a:r>
            <a:endParaRPr lang="en-US" sz="1400" dirty="0"/>
          </a:p>
        </p:txBody>
      </p:sp>
      <p:sp>
        <p:nvSpPr>
          <p:cNvPr id="15" name="Shape 11"/>
          <p:cNvSpPr/>
          <p:nvPr/>
        </p:nvSpPr>
        <p:spPr>
          <a:xfrm>
            <a:off x="2926080" y="3127248"/>
            <a:ext cx="3337560" cy="1078992"/>
          </a:xfrm>
          <a:prstGeom prst="roundRect">
            <a:avLst>
              <a:gd name="adj" fmla="val 8475"/>
            </a:avLst>
          </a:prstGeom>
          <a:solidFill>
            <a:srgbClr val="FFFFFF"/>
          </a:solidFill>
          <a:ln w="19050">
            <a:solidFill>
              <a:srgbClr val="2C6E72"/>
            </a:solidFill>
            <a:prstDash val="solid"/>
          </a:ln>
          <a:effectLst>
            <a:outerShdw blurRad="88900" dist="38100" dir="5400000" algn="bl" rotWithShape="0">
              <a:srgbClr val="000000">
                <a:alpha val="10000"/>
              </a:srgbClr>
            </a:outerShdw>
          </a:effectLst>
        </p:spPr>
        <p:txBody>
          <a:bodyPr/>
          <a:lstStyle/>
          <a:p>
            <a:endParaRPr lang="en-GB"/>
          </a:p>
        </p:txBody>
      </p:sp>
      <p:sp>
        <p:nvSpPr>
          <p:cNvPr id="16" name="Shape 12"/>
          <p:cNvSpPr/>
          <p:nvPr/>
        </p:nvSpPr>
        <p:spPr>
          <a:xfrm>
            <a:off x="3108960" y="3438144"/>
            <a:ext cx="457200" cy="457200"/>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17" name="Image 2" descr="preencoded.png"/>
          <p:cNvPicPr>
            <a:picLocks noChangeAspect="1"/>
          </p:cNvPicPr>
          <p:nvPr/>
        </p:nvPicPr>
        <p:blipFill>
          <a:blip r:embed="rId5"/>
          <a:stretch>
            <a:fillRect/>
          </a:stretch>
        </p:blipFill>
        <p:spPr>
          <a:xfrm>
            <a:off x="3232404" y="3561588"/>
            <a:ext cx="210312" cy="210312"/>
          </a:xfrm>
          <a:prstGeom prst="rect">
            <a:avLst/>
          </a:prstGeom>
        </p:spPr>
      </p:pic>
      <p:sp>
        <p:nvSpPr>
          <p:cNvPr id="18" name="Text 13"/>
          <p:cNvSpPr/>
          <p:nvPr/>
        </p:nvSpPr>
        <p:spPr>
          <a:xfrm>
            <a:off x="3675888" y="3127248"/>
            <a:ext cx="2468880" cy="1078992"/>
          </a:xfrm>
          <a:prstGeom prst="rect">
            <a:avLst/>
          </a:prstGeom>
          <a:noFill/>
          <a:ln/>
        </p:spPr>
        <p:txBody>
          <a:bodyPr wrap="square" lIns="0" tIns="0" rIns="0" bIns="0" rtlCol="0" anchor="ctr"/>
          <a:lstStyle/>
          <a:p>
            <a:pPr marL="0" indent="0">
              <a:lnSpc>
                <a:spcPct val="95000"/>
              </a:lnSpc>
              <a:buNone/>
            </a:pPr>
            <a:r>
              <a:rPr lang="en-US" sz="1400" b="1" dirty="0">
                <a:solidFill>
                  <a:srgbClr val="2C6E72"/>
                </a:solidFill>
                <a:latin typeface="Calibri" pitchFamily="34" charset="0"/>
                <a:ea typeface="Calibri" pitchFamily="34" charset="-122"/>
                <a:cs typeface="Calibri" pitchFamily="34" charset="-120"/>
              </a:rPr>
              <a:t>Module 2 — Contradictions</a:t>
            </a:r>
            <a:endParaRPr lang="en-US" sz="1400" dirty="0"/>
          </a:p>
          <a:p>
            <a:pPr marL="0" indent="0">
              <a:lnSpc>
                <a:spcPct val="95000"/>
              </a:lnSpc>
              <a:buNone/>
            </a:pPr>
            <a:r>
              <a:rPr lang="en-US" sz="1100" dirty="0">
                <a:solidFill>
                  <a:srgbClr val="5B6B82"/>
                </a:solidFill>
                <a:latin typeface="Calibri" pitchFamily="34" charset="0"/>
                <a:ea typeface="Calibri" pitchFamily="34" charset="-122"/>
                <a:cs typeface="Calibri" pitchFamily="34" charset="-120"/>
              </a:rPr>
              <a:t>Detection of divergencies across </a:t>
            </a:r>
          </a:p>
          <a:p>
            <a:pPr marL="0" indent="0">
              <a:lnSpc>
                <a:spcPct val="95000"/>
              </a:lnSpc>
              <a:buNone/>
            </a:pPr>
            <a:r>
              <a:rPr lang="en-US" sz="1100" dirty="0">
                <a:solidFill>
                  <a:srgbClr val="5B6B82"/>
                </a:solidFill>
                <a:latin typeface="Calibri" pitchFamily="34" charset="0"/>
                <a:ea typeface="Calibri" pitchFamily="34" charset="-122"/>
                <a:cs typeface="Calibri" pitchFamily="34" charset="-120"/>
              </a:rPr>
              <a:t>historical sources</a:t>
            </a:r>
            <a:endParaRPr lang="en-US" sz="1400" dirty="0"/>
          </a:p>
        </p:txBody>
      </p:sp>
      <p:sp>
        <p:nvSpPr>
          <p:cNvPr id="19" name="Shape 14"/>
          <p:cNvSpPr/>
          <p:nvPr/>
        </p:nvSpPr>
        <p:spPr>
          <a:xfrm>
            <a:off x="6812280" y="1783080"/>
            <a:ext cx="1828800" cy="914400"/>
          </a:xfrm>
          <a:prstGeom prst="roundRect">
            <a:avLst>
              <a:gd name="adj" fmla="val 10000"/>
            </a:avLst>
          </a:prstGeom>
          <a:solidFill>
            <a:srgbClr val="F6ECD8"/>
          </a:solidFill>
          <a:ln w="15875">
            <a:solidFill>
              <a:srgbClr val="C9882E"/>
            </a:solidFill>
            <a:prstDash val="solid"/>
          </a:ln>
        </p:spPr>
        <p:txBody>
          <a:bodyPr/>
          <a:lstStyle/>
          <a:p>
            <a:endParaRPr lang="en-GB"/>
          </a:p>
        </p:txBody>
      </p:sp>
      <p:sp>
        <p:nvSpPr>
          <p:cNvPr id="20" name="Text 15"/>
          <p:cNvSpPr/>
          <p:nvPr/>
        </p:nvSpPr>
        <p:spPr>
          <a:xfrm>
            <a:off x="6858000" y="1783080"/>
            <a:ext cx="1737360" cy="914400"/>
          </a:xfrm>
          <a:prstGeom prst="rect">
            <a:avLst/>
          </a:prstGeom>
          <a:noFill/>
          <a:ln/>
        </p:spPr>
        <p:txBody>
          <a:bodyPr wrap="square" lIns="0" tIns="0" rIns="0" bIns="0" rtlCol="0" anchor="ctr"/>
          <a:lstStyle/>
          <a:p>
            <a:pPr marL="0" indent="0" algn="ctr">
              <a:lnSpc>
                <a:spcPct val="95000"/>
              </a:lnSpc>
              <a:buNone/>
            </a:pPr>
            <a:r>
              <a:rPr lang="en-US" sz="1250" b="1" dirty="0">
                <a:solidFill>
                  <a:srgbClr val="A66E22"/>
                </a:solidFill>
                <a:latin typeface="Calibri" pitchFamily="34" charset="0"/>
                <a:ea typeface="Calibri" pitchFamily="34" charset="-122"/>
                <a:cs typeface="Calibri" pitchFamily="34" charset="-120"/>
              </a:rPr>
              <a:t>Answer</a:t>
            </a:r>
            <a:endParaRPr lang="en-US" sz="1250" dirty="0"/>
          </a:p>
          <a:p>
            <a:pPr marL="0" indent="0" algn="ctr">
              <a:lnSpc>
                <a:spcPct val="95000"/>
              </a:lnSpc>
              <a:buNone/>
            </a:pPr>
            <a:r>
              <a:rPr lang="en-US" sz="1250" b="1" dirty="0">
                <a:solidFill>
                  <a:srgbClr val="A66E22"/>
                </a:solidFill>
                <a:latin typeface="Calibri" pitchFamily="34" charset="0"/>
                <a:ea typeface="Calibri" pitchFamily="34" charset="-122"/>
                <a:cs typeface="Calibri" pitchFamily="34" charset="-120"/>
              </a:rPr>
              <a:t>with citations</a:t>
            </a:r>
            <a:endParaRPr lang="en-US" sz="1250" dirty="0"/>
          </a:p>
        </p:txBody>
      </p:sp>
      <p:sp>
        <p:nvSpPr>
          <p:cNvPr id="21" name="Shape 16"/>
          <p:cNvSpPr/>
          <p:nvPr/>
        </p:nvSpPr>
        <p:spPr>
          <a:xfrm>
            <a:off x="6812280" y="3200400"/>
            <a:ext cx="1828800" cy="914400"/>
          </a:xfrm>
          <a:prstGeom prst="roundRect">
            <a:avLst>
              <a:gd name="adj" fmla="val 10000"/>
            </a:avLst>
          </a:prstGeom>
          <a:solidFill>
            <a:srgbClr val="E4F0F0"/>
          </a:solidFill>
          <a:ln w="15875">
            <a:solidFill>
              <a:srgbClr val="2C6E72"/>
            </a:solidFill>
            <a:prstDash val="solid"/>
          </a:ln>
        </p:spPr>
        <p:txBody>
          <a:bodyPr/>
          <a:lstStyle/>
          <a:p>
            <a:endParaRPr lang="en-GB"/>
          </a:p>
        </p:txBody>
      </p:sp>
      <p:sp>
        <p:nvSpPr>
          <p:cNvPr id="22" name="Text 17"/>
          <p:cNvSpPr/>
          <p:nvPr/>
        </p:nvSpPr>
        <p:spPr>
          <a:xfrm>
            <a:off x="6858000" y="3200400"/>
            <a:ext cx="1737360" cy="914400"/>
          </a:xfrm>
          <a:prstGeom prst="rect">
            <a:avLst/>
          </a:prstGeom>
          <a:noFill/>
          <a:ln/>
        </p:spPr>
        <p:txBody>
          <a:bodyPr wrap="square" lIns="0" tIns="0" rIns="0" bIns="0" rtlCol="0" anchor="ctr"/>
          <a:lstStyle/>
          <a:p>
            <a:pPr marL="0" indent="0" algn="ctr">
              <a:lnSpc>
                <a:spcPct val="95000"/>
              </a:lnSpc>
              <a:buNone/>
            </a:pPr>
            <a:r>
              <a:rPr lang="en-US" sz="1250" b="1" dirty="0">
                <a:solidFill>
                  <a:srgbClr val="2C6E72"/>
                </a:solidFill>
                <a:latin typeface="Calibri" pitchFamily="34" charset="0"/>
                <a:ea typeface="Calibri" pitchFamily="34" charset="-122"/>
                <a:cs typeface="Calibri" pitchFamily="34" charset="-120"/>
              </a:rPr>
              <a:t>Contradiction</a:t>
            </a:r>
            <a:endParaRPr lang="en-US" sz="1250" dirty="0"/>
          </a:p>
          <a:p>
            <a:pPr marL="0" indent="0" algn="ctr">
              <a:lnSpc>
                <a:spcPct val="95000"/>
              </a:lnSpc>
              <a:buNone/>
            </a:pPr>
            <a:r>
              <a:rPr lang="en-US" sz="1250" b="1" dirty="0">
                <a:solidFill>
                  <a:srgbClr val="2C6E72"/>
                </a:solidFill>
                <a:latin typeface="Calibri" pitchFamily="34" charset="0"/>
                <a:ea typeface="Calibri" pitchFamily="34" charset="-122"/>
                <a:cs typeface="Calibri" pitchFamily="34" charset="-120"/>
              </a:rPr>
              <a:t>report</a:t>
            </a:r>
            <a:endParaRPr lang="en-US" sz="1250" dirty="0"/>
          </a:p>
        </p:txBody>
      </p:sp>
      <p:sp>
        <p:nvSpPr>
          <p:cNvPr id="23" name="Shape 18"/>
          <p:cNvSpPr/>
          <p:nvPr/>
        </p:nvSpPr>
        <p:spPr>
          <a:xfrm flipV="1">
            <a:off x="2286000" y="2240280"/>
            <a:ext cx="603504" cy="749808"/>
          </a:xfrm>
          <a:prstGeom prst="line">
            <a:avLst/>
          </a:prstGeom>
          <a:noFill/>
          <a:ln w="22225">
            <a:solidFill>
              <a:srgbClr val="5B6B82"/>
            </a:solidFill>
            <a:prstDash val="solid"/>
            <a:tailEnd type="triangle"/>
          </a:ln>
        </p:spPr>
        <p:txBody>
          <a:bodyPr/>
          <a:lstStyle/>
          <a:p>
            <a:endParaRPr lang="en-GB"/>
          </a:p>
        </p:txBody>
      </p:sp>
      <p:sp>
        <p:nvSpPr>
          <p:cNvPr id="24" name="Shape 19"/>
          <p:cNvSpPr/>
          <p:nvPr/>
        </p:nvSpPr>
        <p:spPr>
          <a:xfrm>
            <a:off x="2286000" y="2990088"/>
            <a:ext cx="603504" cy="658368"/>
          </a:xfrm>
          <a:prstGeom prst="line">
            <a:avLst/>
          </a:prstGeom>
          <a:noFill/>
          <a:ln w="22225">
            <a:solidFill>
              <a:srgbClr val="5B6B82"/>
            </a:solidFill>
            <a:prstDash val="solid"/>
            <a:tailEnd type="triangle"/>
          </a:ln>
        </p:spPr>
        <p:txBody>
          <a:bodyPr/>
          <a:lstStyle/>
          <a:p>
            <a:endParaRPr lang="en-GB"/>
          </a:p>
        </p:txBody>
      </p:sp>
      <p:sp>
        <p:nvSpPr>
          <p:cNvPr id="25" name="Shape 20"/>
          <p:cNvSpPr/>
          <p:nvPr/>
        </p:nvSpPr>
        <p:spPr>
          <a:xfrm>
            <a:off x="6263640" y="2240280"/>
            <a:ext cx="512064" cy="0"/>
          </a:xfrm>
          <a:prstGeom prst="line">
            <a:avLst/>
          </a:prstGeom>
          <a:noFill/>
          <a:ln w="22225">
            <a:solidFill>
              <a:srgbClr val="C9882E"/>
            </a:solidFill>
            <a:prstDash val="solid"/>
            <a:tailEnd type="triangle"/>
          </a:ln>
        </p:spPr>
        <p:txBody>
          <a:bodyPr/>
          <a:lstStyle/>
          <a:p>
            <a:endParaRPr lang="en-GB"/>
          </a:p>
        </p:txBody>
      </p:sp>
      <p:sp>
        <p:nvSpPr>
          <p:cNvPr id="26" name="Shape 21"/>
          <p:cNvSpPr/>
          <p:nvPr/>
        </p:nvSpPr>
        <p:spPr>
          <a:xfrm>
            <a:off x="6263640" y="3657600"/>
            <a:ext cx="512064" cy="0"/>
          </a:xfrm>
          <a:prstGeom prst="line">
            <a:avLst/>
          </a:prstGeom>
          <a:noFill/>
          <a:ln w="22225">
            <a:solidFill>
              <a:srgbClr val="2C6E72"/>
            </a:solidFill>
            <a:prstDash val="solid"/>
            <a:tailEnd type="triangle"/>
          </a:ln>
        </p:spPr>
        <p:txBody>
          <a:bodyPr/>
          <a:lstStyle/>
          <a:p>
            <a:endParaRPr lang="en-GB"/>
          </a:p>
        </p:txBody>
      </p:sp>
      <p:sp>
        <p:nvSpPr>
          <p:cNvPr id="27" name="Text 22"/>
          <p:cNvSpPr/>
          <p:nvPr/>
        </p:nvSpPr>
        <p:spPr>
          <a:xfrm>
            <a:off x="502920" y="4608576"/>
            <a:ext cx="8138160" cy="320040"/>
          </a:xfrm>
          <a:prstGeom prst="rect">
            <a:avLst/>
          </a:prstGeom>
          <a:noFill/>
          <a:ln/>
        </p:spPr>
        <p:txBody>
          <a:bodyPr wrap="square" lIns="0" tIns="0" rIns="0" bIns="0" rtlCol="0" anchor="ctr"/>
          <a:lstStyle/>
          <a:p>
            <a:pPr marL="0" indent="0" algn="ctr">
              <a:buNone/>
            </a:pPr>
            <a:r>
              <a:rPr lang="en-US" sz="1150" i="1" dirty="0">
                <a:solidFill>
                  <a:srgbClr val="5B6B82"/>
                </a:solidFill>
                <a:latin typeface="Calibri" pitchFamily="34" charset="0"/>
                <a:ea typeface="Calibri" pitchFamily="34" charset="-122"/>
                <a:cs typeface="Calibri" pitchFamily="34" charset="-120"/>
              </a:rPr>
              <a:t>The two modules are fully independent — each with its own processing flow and its own output.</a:t>
            </a:r>
            <a:endParaRPr lang="en-US" sz="1150" dirty="0"/>
          </a:p>
        </p:txBody>
      </p:sp>
      <p:sp>
        <p:nvSpPr>
          <p:cNvPr id="28" name="Text 23"/>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txBox="1"/>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POSITIONING</a:t>
            </a:r>
            <a:endParaRPr lang="en-US" sz="1000" dirty="0"/>
          </a:p>
        </p:txBody>
      </p:sp>
      <p:sp>
        <p:nvSpPr>
          <p:cNvPr id="4" name="Text 2"/>
          <p:cNvSpPr txBox="1"/>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Comparison with existing tools</a:t>
            </a:r>
            <a:endParaRPr lang="en-US" sz="1000" dirty="0"/>
          </a:p>
        </p:txBody>
      </p:sp>
      <p:sp>
        <p:nvSpPr>
          <p:cNvPr id="5" name="Text 3"/>
          <p:cNvSpPr txBox="1"/>
          <p:nvPr/>
        </p:nvSpPr>
        <p:spPr>
          <a:xfrm>
            <a:off x="502920" y="1371600"/>
            <a:ext cx="4160520" cy="274320"/>
          </a:xfrm>
          <a:prstGeom prst="rect">
            <a:avLst/>
          </a:prstGeom>
          <a:noFill/>
          <a:ln/>
        </p:spPr>
        <p:txBody>
          <a:bodyPr wrap="square" lIns="0" tIns="0" rIns="0" bIns="0" rtlCol="0" anchor="ctr"/>
          <a:lstStyle/>
          <a:p>
            <a:pPr marL="0" indent="0" algn="l">
              <a:buNone/>
            </a:pPr>
            <a:r>
              <a:rPr lang="en-US" sz="1400" b="1" dirty="0">
                <a:solidFill>
                  <a:srgbClr val="5B6B82"/>
                </a:solidFill>
                <a:latin typeface="Calibri" pitchFamily="34" charset="0"/>
                <a:ea typeface="Calibri" pitchFamily="34" charset="-122"/>
                <a:cs typeface="Calibri" pitchFamily="34" charset="-120"/>
              </a:rPr>
              <a:t>Closest tool: NotebookLM</a:t>
            </a:r>
            <a:endParaRPr lang="en-US" sz="1000" dirty="0"/>
          </a:p>
        </p:txBody>
      </p:sp>
      <p:sp>
        <p:nvSpPr>
          <p:cNvPr id="6" name="Text 4"/>
          <p:cNvSpPr txBox="1"/>
          <p:nvPr/>
        </p:nvSpPr>
        <p:spPr>
          <a:xfrm>
            <a:off x="502920" y="1691640"/>
            <a:ext cx="4160520" cy="502920"/>
          </a:xfrm>
          <a:prstGeom prst="rect">
            <a:avLst/>
          </a:prstGeom>
          <a:noFill/>
          <a:ln/>
        </p:spPr>
        <p:txBody>
          <a:bodyPr wrap="square" lIns="0" tIns="0" rIns="0" bIns="0" rtlCol="0" anchor="t"/>
          <a:lstStyle/>
          <a:p>
            <a:pPr marL="0" indent="0" algn="l">
              <a:lnSpc>
                <a:spcPct val="115000"/>
              </a:lnSpc>
              <a:buNone/>
            </a:pPr>
            <a:r>
              <a:rPr lang="en-US" sz="1100" dirty="0">
                <a:solidFill>
                  <a:srgbClr val="5B6B82"/>
                </a:solidFill>
                <a:latin typeface="Calibri" pitchFamily="34" charset="0"/>
                <a:ea typeface="Calibri" pitchFamily="34" charset="-122"/>
                <a:cs typeface="Calibri" pitchFamily="34" charset="-120"/>
              </a:rPr>
              <a:t>Answers only from user-uploaded sources, with citations. Module 1 main upgrades:</a:t>
            </a:r>
            <a:endParaRPr lang="en-US" sz="1000" dirty="0"/>
          </a:p>
        </p:txBody>
      </p:sp>
      <p:sp>
        <p:nvSpPr>
          <p:cNvPr id="9" name="Text 1b"/>
          <p:cNvSpPr txBox="1"/>
          <p:nvPr/>
        </p:nvSpPr>
        <p:spPr>
          <a:xfrm>
            <a:off x="969264" y="2888198"/>
            <a:ext cx="3776472" cy="457200"/>
          </a:xfrm>
          <a:prstGeom prst="rect">
            <a:avLst/>
          </a:prstGeom>
          <a:noFill/>
          <a:ln/>
        </p:spPr>
        <p:txBody>
          <a:bodyPr wrap="square" lIns="0" tIns="0" rIns="0" bIns="0" rtlCol="0" anchor="t"/>
          <a:lstStyle/>
          <a:p>
            <a:pPr marL="0" indent="0" algn="l">
              <a:lnSpc>
                <a:spcPct val="112000"/>
              </a:lnSpc>
              <a:buNone/>
            </a:pPr>
            <a:r>
              <a:rPr lang="en-US" sz="1050" b="1" dirty="0">
                <a:solidFill>
                  <a:srgbClr val="1E2B45"/>
                </a:solidFill>
                <a:latin typeface="Calibri" pitchFamily="34" charset="0"/>
                <a:ea typeface="Calibri" pitchFamily="34" charset="-122"/>
                <a:cs typeface="Calibri" pitchFamily="34" charset="-120"/>
              </a:rPr>
              <a:t>Domain filtering</a:t>
            </a:r>
            <a:r>
              <a:rPr lang="en-US" sz="1050" dirty="0">
                <a:solidFill>
                  <a:srgbClr val="5B6B82"/>
                </a:solidFill>
                <a:latin typeface="Calibri" pitchFamily="34" charset="0"/>
                <a:ea typeface="Calibri" pitchFamily="34" charset="-122"/>
                <a:cs typeface="Calibri" pitchFamily="34" charset="-120"/>
              </a:rPr>
              <a:t> — questions outside history, or not in the corpus, are rejected before retrieval.</a:t>
            </a:r>
            <a:endParaRPr lang="en-US" sz="1000" dirty="0"/>
          </a:p>
        </p:txBody>
      </p:sp>
      <p:sp>
        <p:nvSpPr>
          <p:cNvPr id="12" name="Text 2b"/>
          <p:cNvSpPr txBox="1"/>
          <p:nvPr/>
        </p:nvSpPr>
        <p:spPr>
          <a:xfrm>
            <a:off x="969264" y="3469495"/>
            <a:ext cx="3776472" cy="457200"/>
          </a:xfrm>
          <a:prstGeom prst="rect">
            <a:avLst/>
          </a:prstGeom>
          <a:noFill/>
          <a:ln/>
        </p:spPr>
        <p:txBody>
          <a:bodyPr wrap="square" lIns="0" tIns="0" rIns="0" bIns="0" rtlCol="0" anchor="t"/>
          <a:lstStyle/>
          <a:p>
            <a:pPr marL="0" indent="0" algn="l">
              <a:lnSpc>
                <a:spcPct val="112000"/>
              </a:lnSpc>
              <a:buNone/>
            </a:pPr>
            <a:r>
              <a:rPr lang="en-US" sz="1050" b="1" dirty="0">
                <a:solidFill>
                  <a:srgbClr val="1E2B45"/>
                </a:solidFill>
                <a:latin typeface="Calibri" pitchFamily="34" charset="0"/>
                <a:ea typeface="Calibri" pitchFamily="34" charset="-122"/>
                <a:cs typeface="Calibri" pitchFamily="34" charset="-120"/>
              </a:rPr>
              <a:t>Hybrid retrieval</a:t>
            </a:r>
            <a:r>
              <a:rPr lang="en-US" sz="1050" dirty="0">
                <a:solidFill>
                  <a:srgbClr val="5B6B82"/>
                </a:solidFill>
                <a:latin typeface="Calibri" pitchFamily="34" charset="0"/>
                <a:ea typeface="Calibri" pitchFamily="34" charset="-122"/>
                <a:cs typeface="Calibri" pitchFamily="34" charset="-120"/>
              </a:rPr>
              <a:t> — metadata filters on years, entities and locations, not only semantic search.</a:t>
            </a:r>
            <a:endParaRPr lang="en-US" sz="1000" dirty="0"/>
          </a:p>
        </p:txBody>
      </p:sp>
      <p:sp>
        <p:nvSpPr>
          <p:cNvPr id="15" name="Text 3b"/>
          <p:cNvSpPr txBox="1"/>
          <p:nvPr/>
        </p:nvSpPr>
        <p:spPr>
          <a:xfrm>
            <a:off x="969264" y="4076918"/>
            <a:ext cx="3776472" cy="457200"/>
          </a:xfrm>
          <a:prstGeom prst="rect">
            <a:avLst/>
          </a:prstGeom>
          <a:noFill/>
          <a:ln/>
        </p:spPr>
        <p:txBody>
          <a:bodyPr wrap="square" lIns="0" tIns="0" rIns="0" bIns="0" rtlCol="0" anchor="t"/>
          <a:lstStyle/>
          <a:p>
            <a:pPr marL="0" indent="0" algn="l">
              <a:lnSpc>
                <a:spcPct val="112000"/>
              </a:lnSpc>
              <a:buNone/>
            </a:pPr>
            <a:r>
              <a:rPr lang="en-US" sz="1050" b="1" dirty="0">
                <a:solidFill>
                  <a:srgbClr val="1E2B45"/>
                </a:solidFill>
                <a:latin typeface="Calibri" pitchFamily="34" charset="0"/>
                <a:ea typeface="Calibri" pitchFamily="34" charset="-122"/>
                <a:cs typeface="Calibri" pitchFamily="34" charset="-120"/>
              </a:rPr>
              <a:t>Reading level</a:t>
            </a:r>
            <a:r>
              <a:rPr lang="en-US" sz="1050" dirty="0">
                <a:solidFill>
                  <a:srgbClr val="5B6B82"/>
                </a:solidFill>
                <a:latin typeface="Calibri" pitchFamily="34" charset="0"/>
                <a:ea typeface="Calibri" pitchFamily="34" charset="-122"/>
                <a:cs typeface="Calibri" pitchFamily="34" charset="-120"/>
              </a:rPr>
              <a:t> — controlled for a seventh-grade student.</a:t>
            </a:r>
            <a:endParaRPr lang="en-US" sz="1000" dirty="0"/>
          </a:p>
        </p:txBody>
      </p:sp>
      <p:grpSp>
        <p:nvGrpSpPr>
          <p:cNvPr id="33" name="Group 32">
            <a:extLst>
              <a:ext uri="{FF2B5EF4-FFF2-40B4-BE49-F238E27FC236}">
                <a16:creationId xmlns:a16="http://schemas.microsoft.com/office/drawing/2014/main" id="{D88834F3-4793-CA9D-7253-65F54A057A3C}"/>
              </a:ext>
            </a:extLst>
          </p:cNvPr>
          <p:cNvGrpSpPr/>
          <p:nvPr/>
        </p:nvGrpSpPr>
        <p:grpSpPr>
          <a:xfrm>
            <a:off x="484632" y="2385278"/>
            <a:ext cx="274320" cy="1920240"/>
            <a:chOff x="502920" y="2331720"/>
            <a:chExt cx="274320" cy="1920240"/>
          </a:xfrm>
        </p:grpSpPr>
        <p:sp>
          <p:nvSpPr>
            <p:cNvPr id="7" name="Shape 1a"/>
            <p:cNvSpPr/>
            <p:nvPr/>
          </p:nvSpPr>
          <p:spPr>
            <a:xfrm>
              <a:off x="502920" y="2331720"/>
              <a:ext cx="274320" cy="274320"/>
            </a:xfrm>
            <a:prstGeom prst="ellipse">
              <a:avLst/>
            </a:prstGeom>
            <a:solidFill>
              <a:srgbClr val="C9882E"/>
            </a:solidFill>
            <a:ln/>
          </p:spPr>
          <p:txBody>
            <a:bodyPr/>
            <a:lstStyle/>
            <a:p>
              <a:endParaRPr lang="en-GB"/>
            </a:p>
          </p:txBody>
        </p:sp>
        <p:sp>
          <p:nvSpPr>
            <p:cNvPr id="8" name="Text 1n"/>
            <p:cNvSpPr txBox="1"/>
            <p:nvPr/>
          </p:nvSpPr>
          <p:spPr>
            <a:xfrm>
              <a:off x="502920" y="2331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Shape 2a"/>
            <p:cNvSpPr/>
            <p:nvPr/>
          </p:nvSpPr>
          <p:spPr>
            <a:xfrm>
              <a:off x="502920" y="2880360"/>
              <a:ext cx="274320" cy="274320"/>
            </a:xfrm>
            <a:prstGeom prst="ellipse">
              <a:avLst/>
            </a:prstGeom>
            <a:solidFill>
              <a:srgbClr val="C9882E"/>
            </a:solidFill>
            <a:ln/>
          </p:spPr>
          <p:txBody>
            <a:bodyPr/>
            <a:lstStyle/>
            <a:p>
              <a:endParaRPr lang="en-GB"/>
            </a:p>
          </p:txBody>
        </p:sp>
        <p:sp>
          <p:nvSpPr>
            <p:cNvPr id="11" name="Text 2n"/>
            <p:cNvSpPr txBox="1"/>
            <p:nvPr/>
          </p:nvSpPr>
          <p:spPr>
            <a:xfrm>
              <a:off x="502920" y="288036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3a"/>
            <p:cNvSpPr/>
            <p:nvPr/>
          </p:nvSpPr>
          <p:spPr>
            <a:xfrm>
              <a:off x="502920" y="3429000"/>
              <a:ext cx="274320" cy="274320"/>
            </a:xfrm>
            <a:prstGeom prst="ellipse">
              <a:avLst/>
            </a:prstGeom>
            <a:solidFill>
              <a:srgbClr val="C9882E"/>
            </a:solidFill>
            <a:ln/>
          </p:spPr>
          <p:txBody>
            <a:bodyPr/>
            <a:lstStyle/>
            <a:p>
              <a:endParaRPr lang="en-GB"/>
            </a:p>
          </p:txBody>
        </p:sp>
        <p:sp>
          <p:nvSpPr>
            <p:cNvPr id="14" name="Text 3n"/>
            <p:cNvSpPr txBox="1"/>
            <p:nvPr/>
          </p:nvSpPr>
          <p:spPr>
            <a:xfrm>
              <a:off x="502920" y="34290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Shape 4a"/>
            <p:cNvSpPr/>
            <p:nvPr/>
          </p:nvSpPr>
          <p:spPr>
            <a:xfrm>
              <a:off x="502920" y="3977640"/>
              <a:ext cx="274320" cy="274320"/>
            </a:xfrm>
            <a:prstGeom prst="ellipse">
              <a:avLst/>
            </a:prstGeom>
            <a:solidFill>
              <a:srgbClr val="C9882E"/>
            </a:solidFill>
            <a:ln/>
          </p:spPr>
          <p:txBody>
            <a:bodyPr/>
            <a:lstStyle/>
            <a:p>
              <a:endParaRPr lang="en-GB"/>
            </a:p>
          </p:txBody>
        </p:sp>
        <p:sp>
          <p:nvSpPr>
            <p:cNvPr id="17" name="Text 4n"/>
            <p:cNvSpPr txBox="1"/>
            <p:nvPr/>
          </p:nvSpPr>
          <p:spPr>
            <a:xfrm>
              <a:off x="502920" y="397764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000" dirty="0"/>
            </a:p>
          </p:txBody>
        </p:sp>
      </p:grpSp>
      <p:sp>
        <p:nvSpPr>
          <p:cNvPr id="18" name="Text 4b"/>
          <p:cNvSpPr txBox="1"/>
          <p:nvPr/>
        </p:nvSpPr>
        <p:spPr>
          <a:xfrm>
            <a:off x="969264" y="2430998"/>
            <a:ext cx="3776472" cy="457200"/>
          </a:xfrm>
          <a:prstGeom prst="rect">
            <a:avLst/>
          </a:prstGeom>
          <a:noFill/>
          <a:ln/>
        </p:spPr>
        <p:txBody>
          <a:bodyPr wrap="square" lIns="0" tIns="0" rIns="0" bIns="0" rtlCol="0" anchor="t"/>
          <a:lstStyle/>
          <a:p>
            <a:pPr marL="0" indent="0" algn="l">
              <a:lnSpc>
                <a:spcPct val="112000"/>
              </a:lnSpc>
              <a:buNone/>
            </a:pPr>
            <a:r>
              <a:rPr lang="en-US" sz="1050" b="1" dirty="0">
                <a:solidFill>
                  <a:srgbClr val="1E2B45"/>
                </a:solidFill>
                <a:latin typeface="Calibri" pitchFamily="34" charset="0"/>
                <a:ea typeface="Calibri" pitchFamily="34" charset="-122"/>
                <a:cs typeface="Calibri" pitchFamily="34" charset="-120"/>
              </a:rPr>
              <a:t>Open pipeline</a:t>
            </a:r>
            <a:r>
              <a:rPr lang="en-US" sz="1050" dirty="0">
                <a:solidFill>
                  <a:srgbClr val="5B6B82"/>
                </a:solidFill>
                <a:latin typeface="Calibri" pitchFamily="34" charset="0"/>
                <a:ea typeface="Calibri" pitchFamily="34" charset="-122"/>
                <a:cs typeface="Calibri" pitchFamily="34" charset="-120"/>
              </a:rPr>
              <a:t> — evaluated component by component.</a:t>
            </a:r>
            <a:endParaRPr lang="en-US" sz="1000" dirty="0"/>
          </a:p>
        </p:txBody>
      </p:sp>
      <p:sp>
        <p:nvSpPr>
          <p:cNvPr id="20" name="Shape 10"/>
          <p:cNvSpPr/>
          <p:nvPr/>
        </p:nvSpPr>
        <p:spPr>
          <a:xfrm>
            <a:off x="4956048" y="1432995"/>
            <a:ext cx="3794760" cy="3285309"/>
          </a:xfrm>
          <a:prstGeom prst="roundRect">
            <a:avLst>
              <a:gd name="adj" fmla="val 3012"/>
            </a:avLst>
          </a:prstGeom>
          <a:solidFill>
            <a:srgbClr val="15233B"/>
          </a:solidFill>
          <a:ln/>
          <a:effectLst>
            <a:outerShdw blurRad="88900" dist="38100" dir="5400000" algn="bl" rotWithShape="0">
              <a:srgbClr val="000000">
                <a:alpha val="18000"/>
              </a:srgbClr>
            </a:outerShdw>
          </a:effectLst>
        </p:spPr>
        <p:txBody>
          <a:bodyPr/>
          <a:lstStyle/>
          <a:p>
            <a:endParaRPr lang="en-GB"/>
          </a:p>
        </p:txBody>
      </p:sp>
      <p:sp>
        <p:nvSpPr>
          <p:cNvPr id="21" name="Shape 11"/>
          <p:cNvSpPr/>
          <p:nvPr/>
        </p:nvSpPr>
        <p:spPr>
          <a:xfrm>
            <a:off x="5184648" y="1652452"/>
            <a:ext cx="566928" cy="566928"/>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22" name="Image 0" descr="preencoded.png"/>
          <p:cNvPicPr>
            <a:picLocks noChangeAspect="1"/>
          </p:cNvPicPr>
          <p:nvPr/>
        </p:nvPicPr>
        <p:blipFill>
          <a:blip r:embed="rId3">
            <a:biLevel thresh="25000"/>
          </a:blip>
          <a:stretch>
            <a:fillRect/>
          </a:stretch>
        </p:blipFill>
        <p:spPr>
          <a:xfrm>
            <a:off x="5337719" y="1805523"/>
            <a:ext cx="260787" cy="260787"/>
          </a:xfrm>
          <a:prstGeom prst="rect">
            <a:avLst/>
          </a:prstGeom>
        </p:spPr>
      </p:pic>
      <p:sp>
        <p:nvSpPr>
          <p:cNvPr id="23" name="Text 12"/>
          <p:cNvSpPr txBox="1"/>
          <p:nvPr/>
        </p:nvSpPr>
        <p:spPr>
          <a:xfrm>
            <a:off x="5888736" y="1689028"/>
            <a:ext cx="2651760" cy="502920"/>
          </a:xfrm>
          <a:prstGeom prst="rect">
            <a:avLst/>
          </a:prstGeom>
          <a:noFill/>
          <a:ln/>
        </p:spPr>
        <p:txBody>
          <a:bodyPr wrap="square" lIns="0" tIns="0" rIns="0" bIns="0" rtlCol="0" anchor="ctr"/>
          <a:lstStyle/>
          <a:p>
            <a:pPr marL="0" indent="0" algn="l">
              <a:buNone/>
            </a:pPr>
            <a:r>
              <a:rPr lang="en-US" sz="1700" b="1" dirty="0">
                <a:solidFill>
                  <a:srgbClr val="FFFFFF"/>
                </a:solidFill>
                <a:latin typeface="Cambria" pitchFamily="34" charset="0"/>
                <a:ea typeface="Cambria" pitchFamily="34" charset="-122"/>
                <a:cs typeface="Cambria" pitchFamily="34" charset="-120"/>
              </a:rPr>
              <a:t>Module 2 — consistency</a:t>
            </a:r>
            <a:br>
              <a:rPr lang="en-US" sz="1700" b="1" dirty="0">
                <a:solidFill>
                  <a:srgbClr val="FFFFFF"/>
                </a:solidFill>
                <a:latin typeface="Cambria" pitchFamily="34" charset="0"/>
                <a:ea typeface="Cambria" pitchFamily="34" charset="-122"/>
                <a:cs typeface="Cambria" pitchFamily="34" charset="-120"/>
              </a:rPr>
            </a:br>
            <a:r>
              <a:rPr lang="en-US" sz="1700" b="1" dirty="0">
                <a:solidFill>
                  <a:srgbClr val="FFFFFF"/>
                </a:solidFill>
                <a:latin typeface="Cambria" pitchFamily="34" charset="0"/>
                <a:ea typeface="Cambria" pitchFamily="34" charset="-122"/>
                <a:cs typeface="Cambria" pitchFamily="34" charset="-120"/>
              </a:rPr>
              <a:t>without an arbiter</a:t>
            </a:r>
            <a:endParaRPr lang="en-US" sz="1000" dirty="0"/>
          </a:p>
        </p:txBody>
      </p:sp>
      <p:sp>
        <p:nvSpPr>
          <p:cNvPr id="24" name="Text 13"/>
          <p:cNvSpPr txBox="1"/>
          <p:nvPr/>
        </p:nvSpPr>
        <p:spPr>
          <a:xfrm>
            <a:off x="5184648" y="2347396"/>
            <a:ext cx="3291840" cy="457200"/>
          </a:xfrm>
          <a:prstGeom prst="rect">
            <a:avLst/>
          </a:prstGeom>
          <a:noFill/>
          <a:ln/>
        </p:spPr>
        <p:txBody>
          <a:bodyPr wrap="square" lIns="0" tIns="0" rIns="0" bIns="0" rtlCol="0" anchor="t"/>
          <a:lstStyle/>
          <a:p>
            <a:pPr marL="0" indent="0" algn="l">
              <a:lnSpc>
                <a:spcPct val="112000"/>
              </a:lnSpc>
              <a:buNone/>
            </a:pPr>
            <a:r>
              <a:rPr lang="en-US" sz="1200" dirty="0">
                <a:solidFill>
                  <a:srgbClr val="C8D2E2"/>
                </a:solidFill>
                <a:latin typeface="Calibri" pitchFamily="34" charset="0"/>
                <a:ea typeface="Calibri" pitchFamily="34" charset="-122"/>
                <a:cs typeface="Calibri" pitchFamily="34" charset="-120"/>
              </a:rPr>
              <a:t>Classic fact-checking (FEVER) tests a claim against evidence that settles it.</a:t>
            </a:r>
            <a:endParaRPr lang="en-US" sz="1000" dirty="0"/>
          </a:p>
        </p:txBody>
      </p:sp>
      <p:sp>
        <p:nvSpPr>
          <p:cNvPr id="25" name="Shape 21"/>
          <p:cNvSpPr/>
          <p:nvPr/>
        </p:nvSpPr>
        <p:spPr>
          <a:xfrm>
            <a:off x="5193792" y="2941756"/>
            <a:ext cx="109728" cy="109728"/>
          </a:xfrm>
          <a:prstGeom prst="ellipse">
            <a:avLst/>
          </a:prstGeom>
          <a:solidFill>
            <a:srgbClr val="C9882E"/>
          </a:solidFill>
          <a:ln/>
        </p:spPr>
        <p:txBody>
          <a:bodyPr/>
          <a:lstStyle/>
          <a:p>
            <a:endParaRPr lang="en-GB"/>
          </a:p>
        </p:txBody>
      </p:sp>
      <p:sp>
        <p:nvSpPr>
          <p:cNvPr id="26" name="Text 21"/>
          <p:cNvSpPr txBox="1"/>
          <p:nvPr/>
        </p:nvSpPr>
        <p:spPr>
          <a:xfrm>
            <a:off x="5413248" y="2896036"/>
            <a:ext cx="3127248" cy="457200"/>
          </a:xfrm>
          <a:prstGeom prst="rect">
            <a:avLst/>
          </a:prstGeom>
          <a:noFill/>
          <a:ln/>
        </p:spPr>
        <p:txBody>
          <a:bodyPr wrap="square" lIns="0" tIns="0" rIns="0" bIns="0" rtlCol="0" anchor="t"/>
          <a:lstStyle/>
          <a:p>
            <a:pPr marL="0" indent="0" algn="l">
              <a:lnSpc>
                <a:spcPct val="112000"/>
              </a:lnSpc>
              <a:buNone/>
            </a:pPr>
            <a:r>
              <a:rPr lang="en-US" sz="1200" dirty="0">
                <a:solidFill>
                  <a:srgbClr val="FFFFFF"/>
                </a:solidFill>
                <a:latin typeface="Calibri" pitchFamily="34" charset="0"/>
                <a:ea typeface="Calibri" pitchFamily="34" charset="-122"/>
                <a:cs typeface="Calibri" pitchFamily="34" charset="-120"/>
              </a:rPr>
              <a:t>History offers no source of official standing to arbitrate.</a:t>
            </a:r>
            <a:endParaRPr lang="en-US" sz="1000" dirty="0"/>
          </a:p>
        </p:txBody>
      </p:sp>
      <p:sp>
        <p:nvSpPr>
          <p:cNvPr id="27" name="Shape 22"/>
          <p:cNvSpPr/>
          <p:nvPr/>
        </p:nvSpPr>
        <p:spPr>
          <a:xfrm>
            <a:off x="5193792" y="3435532"/>
            <a:ext cx="109728" cy="109728"/>
          </a:xfrm>
          <a:prstGeom prst="ellipse">
            <a:avLst/>
          </a:prstGeom>
          <a:solidFill>
            <a:srgbClr val="C9882E"/>
          </a:solidFill>
          <a:ln/>
        </p:spPr>
        <p:txBody>
          <a:bodyPr/>
          <a:lstStyle/>
          <a:p>
            <a:endParaRPr lang="en-GB"/>
          </a:p>
        </p:txBody>
      </p:sp>
      <p:sp>
        <p:nvSpPr>
          <p:cNvPr id="28" name="Text 22"/>
          <p:cNvSpPr txBox="1"/>
          <p:nvPr/>
        </p:nvSpPr>
        <p:spPr>
          <a:xfrm>
            <a:off x="5413248" y="3389812"/>
            <a:ext cx="3127248" cy="457200"/>
          </a:xfrm>
          <a:prstGeom prst="rect">
            <a:avLst/>
          </a:prstGeom>
          <a:noFill/>
          <a:ln/>
        </p:spPr>
        <p:txBody>
          <a:bodyPr wrap="square" lIns="0" tIns="0" rIns="0" bIns="0" rtlCol="0" anchor="t"/>
          <a:lstStyle/>
          <a:p>
            <a:pPr marL="0" indent="0" algn="l">
              <a:lnSpc>
                <a:spcPct val="112000"/>
              </a:lnSpc>
              <a:buNone/>
            </a:pPr>
            <a:r>
              <a:rPr lang="en-US" sz="1200" dirty="0">
                <a:solidFill>
                  <a:srgbClr val="FFFFFF"/>
                </a:solidFill>
                <a:latin typeface="Calibri" pitchFamily="34" charset="0"/>
                <a:ea typeface="Calibri" pitchFamily="34" charset="-122"/>
                <a:cs typeface="Calibri" pitchFamily="34" charset="-120"/>
              </a:rPr>
              <a:t>The test becomes logical compatibility: can both be true at once?</a:t>
            </a:r>
            <a:endParaRPr lang="en-US" sz="1000" dirty="0"/>
          </a:p>
        </p:txBody>
      </p:sp>
      <p:sp>
        <p:nvSpPr>
          <p:cNvPr id="29" name="Shape 23"/>
          <p:cNvSpPr/>
          <p:nvPr/>
        </p:nvSpPr>
        <p:spPr>
          <a:xfrm>
            <a:off x="5193792" y="3929308"/>
            <a:ext cx="109728" cy="109728"/>
          </a:xfrm>
          <a:prstGeom prst="ellipse">
            <a:avLst/>
          </a:prstGeom>
          <a:solidFill>
            <a:srgbClr val="C9882E"/>
          </a:solidFill>
          <a:ln/>
        </p:spPr>
        <p:txBody>
          <a:bodyPr/>
          <a:lstStyle/>
          <a:p>
            <a:endParaRPr lang="en-GB"/>
          </a:p>
        </p:txBody>
      </p:sp>
      <p:sp>
        <p:nvSpPr>
          <p:cNvPr id="30" name="Text 23"/>
          <p:cNvSpPr txBox="1"/>
          <p:nvPr/>
        </p:nvSpPr>
        <p:spPr>
          <a:xfrm>
            <a:off x="5413248" y="3883588"/>
            <a:ext cx="3127248" cy="457200"/>
          </a:xfrm>
          <a:prstGeom prst="rect">
            <a:avLst/>
          </a:prstGeom>
          <a:noFill/>
          <a:ln/>
        </p:spPr>
        <p:txBody>
          <a:bodyPr wrap="square" lIns="0" tIns="0" rIns="0" bIns="0" rtlCol="0" anchor="t"/>
          <a:lstStyle/>
          <a:p>
            <a:pPr marL="0" indent="0" algn="l">
              <a:lnSpc>
                <a:spcPct val="112000"/>
              </a:lnSpc>
              <a:buNone/>
            </a:pPr>
            <a:r>
              <a:rPr lang="en-US" sz="1200" dirty="0">
                <a:solidFill>
                  <a:srgbClr val="FFFFFF"/>
                </a:solidFill>
                <a:latin typeface="Calibri" pitchFamily="34" charset="0"/>
                <a:ea typeface="Calibri" pitchFamily="34" charset="-122"/>
                <a:cs typeface="Calibri" pitchFamily="34" charset="-120"/>
              </a:rPr>
              <a:t>Alignment on shared questions, then structural check, NLI and judge.</a:t>
            </a:r>
            <a:endParaRPr lang="en-US" sz="1000" dirty="0"/>
          </a:p>
        </p:txBody>
      </p:sp>
      <p:sp>
        <p:nvSpPr>
          <p:cNvPr id="32" name="Text 31"/>
          <p:cNvSpPr txBox="1"/>
          <p:nvPr/>
        </p:nvSpPr>
        <p:spPr>
          <a:xfrm>
            <a:off x="8549640" y="4718304"/>
            <a:ext cx="365760" cy="274320"/>
          </a:xfrm>
          <a:prstGeom prst="rect">
            <a:avLst/>
          </a:prstGeom>
          <a:noFill/>
          <a:ln/>
        </p:spPr>
        <p:txBody>
          <a:bodyPr wrap="square" lIns="0" tIns="0" rIns="0" bIns="0"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MODULE 1 · RAG</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Data ingestion pipeline</a:t>
            </a:r>
            <a:endParaRPr lang="en-US" sz="2900" dirty="0"/>
          </a:p>
        </p:txBody>
      </p:sp>
      <p:sp>
        <p:nvSpPr>
          <p:cNvPr id="5" name="Text 3"/>
          <p:cNvSpPr/>
          <p:nvPr/>
        </p:nvSpPr>
        <p:spPr>
          <a:xfrm>
            <a:off x="502920" y="1335024"/>
            <a:ext cx="8138160" cy="310896"/>
          </a:xfrm>
          <a:prstGeom prst="rect">
            <a:avLst/>
          </a:prstGeom>
          <a:noFill/>
          <a:ln/>
        </p:spPr>
        <p:txBody>
          <a:bodyPr wrap="square" lIns="0" tIns="0" rIns="0" bIns="0" rtlCol="0" anchor="ctr"/>
          <a:lstStyle/>
          <a:p>
            <a:pPr marL="0" indent="0">
              <a:buNone/>
            </a:pPr>
            <a:r>
              <a:rPr lang="en-US" sz="1300" dirty="0">
                <a:solidFill>
                  <a:srgbClr val="5B6B82"/>
                </a:solidFill>
                <a:latin typeface="Calibri" pitchFamily="34" charset="0"/>
                <a:ea typeface="Calibri" pitchFamily="34" charset="-122"/>
                <a:cs typeface="Calibri" pitchFamily="34" charset="-120"/>
              </a:rPr>
              <a:t>Transforms each lesson's raw text into a hierarchical, semantically enriched, vectorized representation.</a:t>
            </a:r>
            <a:endParaRPr lang="en-US" sz="1300" dirty="0"/>
          </a:p>
        </p:txBody>
      </p:sp>
      <p:sp>
        <p:nvSpPr>
          <p:cNvPr id="6" name="Shape 4"/>
          <p:cNvSpPr/>
          <p:nvPr/>
        </p:nvSpPr>
        <p:spPr>
          <a:xfrm>
            <a:off x="448056" y="1993392"/>
            <a:ext cx="1517904" cy="2148840"/>
          </a:xfrm>
          <a:prstGeom prst="roundRect">
            <a:avLst>
              <a:gd name="adj" fmla="val 4819"/>
            </a:avLst>
          </a:prstGeom>
          <a:solidFill>
            <a:srgbClr val="F4F6FA"/>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7" name="Shape 5"/>
          <p:cNvSpPr/>
          <p:nvPr/>
        </p:nvSpPr>
        <p:spPr>
          <a:xfrm>
            <a:off x="923544" y="2231136"/>
            <a:ext cx="566928" cy="566928"/>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1076615" y="2384207"/>
            <a:ext cx="260787" cy="260787"/>
          </a:xfrm>
          <a:prstGeom prst="rect">
            <a:avLst/>
          </a:prstGeom>
        </p:spPr>
      </p:pic>
      <p:sp>
        <p:nvSpPr>
          <p:cNvPr id="9" name="Shape 6"/>
          <p:cNvSpPr/>
          <p:nvPr/>
        </p:nvSpPr>
        <p:spPr>
          <a:xfrm>
            <a:off x="1581912" y="2103120"/>
            <a:ext cx="274320" cy="274320"/>
          </a:xfrm>
          <a:prstGeom prst="ellipse">
            <a:avLst/>
          </a:prstGeom>
          <a:solidFill>
            <a:srgbClr val="C9882E"/>
          </a:solidFill>
          <a:ln/>
        </p:spPr>
        <p:txBody>
          <a:bodyPr/>
          <a:lstStyle/>
          <a:p>
            <a:endParaRPr lang="en-GB"/>
          </a:p>
        </p:txBody>
      </p:sp>
      <p:sp>
        <p:nvSpPr>
          <p:cNvPr id="10" name="Text 7"/>
          <p:cNvSpPr/>
          <p:nvPr/>
        </p:nvSpPr>
        <p:spPr>
          <a:xfrm>
            <a:off x="1581912" y="2103120"/>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a:t>
            </a:r>
            <a:endParaRPr lang="en-US" sz="1300" dirty="0"/>
          </a:p>
        </p:txBody>
      </p:sp>
      <p:sp>
        <p:nvSpPr>
          <p:cNvPr id="11" name="Text 8"/>
          <p:cNvSpPr/>
          <p:nvPr/>
        </p:nvSpPr>
        <p:spPr>
          <a:xfrm>
            <a:off x="521208" y="2926080"/>
            <a:ext cx="1371600" cy="566928"/>
          </a:xfrm>
          <a:prstGeom prst="rect">
            <a:avLst/>
          </a:prstGeom>
          <a:noFill/>
          <a:ln/>
        </p:spPr>
        <p:txBody>
          <a:bodyPr wrap="square" lIns="0" tIns="0" rIns="0" bIns="0" rtlCol="0" anchor="t"/>
          <a:lstStyle/>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Semantic</a:t>
            </a:r>
            <a:endParaRPr lang="en-US" sz="1300" dirty="0"/>
          </a:p>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segmentation</a:t>
            </a:r>
            <a:endParaRPr lang="en-US" sz="1300" dirty="0"/>
          </a:p>
        </p:txBody>
      </p:sp>
      <p:sp>
        <p:nvSpPr>
          <p:cNvPr id="12" name="Text 9"/>
          <p:cNvSpPr/>
          <p:nvPr/>
        </p:nvSpPr>
        <p:spPr>
          <a:xfrm>
            <a:off x="539496" y="3474720"/>
            <a:ext cx="1335024" cy="603504"/>
          </a:xfrm>
          <a:prstGeom prst="rect">
            <a:avLst/>
          </a:prstGeom>
          <a:noFill/>
          <a:ln/>
        </p:spPr>
        <p:txBody>
          <a:bodyPr wrap="square" lIns="0" tIns="0" rIns="0" bIns="0" rtlCol="0" anchor="t"/>
          <a:lstStyle/>
          <a:p>
            <a:pPr marL="0" indent="0" algn="ctr">
              <a:lnSpc>
                <a:spcPct val="95000"/>
              </a:lnSpc>
              <a:buNone/>
            </a:pPr>
            <a:r>
              <a:rPr lang="en-US" sz="1000" dirty="0">
                <a:solidFill>
                  <a:srgbClr val="5B6B82"/>
                </a:solidFill>
                <a:latin typeface="Calibri" pitchFamily="34" charset="0"/>
                <a:ea typeface="Calibri" pitchFamily="34" charset="-122"/>
                <a:cs typeface="Calibri" pitchFamily="34" charset="-120"/>
              </a:rPr>
              <a:t>Split into logical chapters (gpt-4o-mini)</a:t>
            </a:r>
            <a:endParaRPr lang="en-US" sz="1000" dirty="0"/>
          </a:p>
        </p:txBody>
      </p:sp>
      <p:sp>
        <p:nvSpPr>
          <p:cNvPr id="13" name="Shape 10"/>
          <p:cNvSpPr/>
          <p:nvPr/>
        </p:nvSpPr>
        <p:spPr>
          <a:xfrm>
            <a:off x="1979676" y="2907792"/>
            <a:ext cx="137160" cy="137160"/>
          </a:xfrm>
          <a:prstGeom prst="ellipse">
            <a:avLst/>
          </a:prstGeom>
          <a:solidFill>
            <a:srgbClr val="C9882E"/>
          </a:solidFill>
          <a:ln/>
        </p:spPr>
        <p:txBody>
          <a:bodyPr/>
          <a:lstStyle/>
          <a:p>
            <a:endParaRPr lang="en-GB"/>
          </a:p>
        </p:txBody>
      </p:sp>
      <p:sp>
        <p:nvSpPr>
          <p:cNvPr id="14" name="Shape 11"/>
          <p:cNvSpPr/>
          <p:nvPr/>
        </p:nvSpPr>
        <p:spPr>
          <a:xfrm>
            <a:off x="2130552" y="1993392"/>
            <a:ext cx="1517904" cy="2148840"/>
          </a:xfrm>
          <a:prstGeom prst="roundRect">
            <a:avLst>
              <a:gd name="adj" fmla="val 4819"/>
            </a:avLst>
          </a:prstGeom>
          <a:solidFill>
            <a:srgbClr val="EAF0F8"/>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15" name="Shape 12"/>
          <p:cNvSpPr/>
          <p:nvPr/>
        </p:nvSpPr>
        <p:spPr>
          <a:xfrm>
            <a:off x="2606040" y="2231136"/>
            <a:ext cx="566928" cy="566928"/>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16" name="Image 1" descr="preencoded.png"/>
          <p:cNvPicPr>
            <a:picLocks noChangeAspect="1"/>
          </p:cNvPicPr>
          <p:nvPr/>
        </p:nvPicPr>
        <p:blipFill>
          <a:blip r:embed="rId4"/>
          <a:stretch>
            <a:fillRect/>
          </a:stretch>
        </p:blipFill>
        <p:spPr>
          <a:xfrm>
            <a:off x="2759111" y="2384207"/>
            <a:ext cx="260787" cy="260787"/>
          </a:xfrm>
          <a:prstGeom prst="rect">
            <a:avLst/>
          </a:prstGeom>
        </p:spPr>
      </p:pic>
      <p:sp>
        <p:nvSpPr>
          <p:cNvPr id="17" name="Shape 13"/>
          <p:cNvSpPr/>
          <p:nvPr/>
        </p:nvSpPr>
        <p:spPr>
          <a:xfrm>
            <a:off x="3264408" y="2103120"/>
            <a:ext cx="274320" cy="274320"/>
          </a:xfrm>
          <a:prstGeom prst="ellipse">
            <a:avLst/>
          </a:prstGeom>
          <a:solidFill>
            <a:srgbClr val="C9882E"/>
          </a:solidFill>
          <a:ln/>
        </p:spPr>
        <p:txBody>
          <a:bodyPr/>
          <a:lstStyle/>
          <a:p>
            <a:endParaRPr lang="en-GB"/>
          </a:p>
        </p:txBody>
      </p:sp>
      <p:sp>
        <p:nvSpPr>
          <p:cNvPr id="18" name="Text 14"/>
          <p:cNvSpPr/>
          <p:nvPr/>
        </p:nvSpPr>
        <p:spPr>
          <a:xfrm>
            <a:off x="3264408" y="2103120"/>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B</a:t>
            </a:r>
            <a:endParaRPr lang="en-US" sz="1300" dirty="0"/>
          </a:p>
        </p:txBody>
      </p:sp>
      <p:sp>
        <p:nvSpPr>
          <p:cNvPr id="19" name="Text 15"/>
          <p:cNvSpPr/>
          <p:nvPr/>
        </p:nvSpPr>
        <p:spPr>
          <a:xfrm>
            <a:off x="2203704" y="2926080"/>
            <a:ext cx="1371600" cy="566928"/>
          </a:xfrm>
          <a:prstGeom prst="rect">
            <a:avLst/>
          </a:prstGeom>
          <a:noFill/>
          <a:ln/>
        </p:spPr>
        <p:txBody>
          <a:bodyPr wrap="square" lIns="0" tIns="0" rIns="0" bIns="0" rtlCol="0" anchor="t"/>
          <a:lstStyle/>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Metadata</a:t>
            </a:r>
            <a:endParaRPr lang="en-US" sz="1300" dirty="0"/>
          </a:p>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&amp; NER</a:t>
            </a:r>
            <a:endParaRPr lang="en-US" sz="1300" dirty="0"/>
          </a:p>
        </p:txBody>
      </p:sp>
      <p:sp>
        <p:nvSpPr>
          <p:cNvPr id="20" name="Text 16"/>
          <p:cNvSpPr/>
          <p:nvPr/>
        </p:nvSpPr>
        <p:spPr>
          <a:xfrm>
            <a:off x="2221992" y="3474720"/>
            <a:ext cx="1335024" cy="603504"/>
          </a:xfrm>
          <a:prstGeom prst="rect">
            <a:avLst/>
          </a:prstGeom>
          <a:noFill/>
          <a:ln/>
        </p:spPr>
        <p:txBody>
          <a:bodyPr wrap="square" lIns="0" tIns="0" rIns="0" bIns="0" rtlCol="0" anchor="t"/>
          <a:lstStyle/>
          <a:p>
            <a:pPr marL="0" indent="0" algn="ctr">
              <a:lnSpc>
                <a:spcPct val="95000"/>
              </a:lnSpc>
              <a:buNone/>
            </a:pPr>
            <a:r>
              <a:rPr lang="en-US" sz="1000" dirty="0">
                <a:solidFill>
                  <a:srgbClr val="5B6B82"/>
                </a:solidFill>
                <a:latin typeface="Calibri" pitchFamily="34" charset="0"/>
                <a:ea typeface="Calibri" pitchFamily="34" charset="-122"/>
                <a:cs typeface="Calibri" pitchFamily="34" charset="-120"/>
              </a:rPr>
              <a:t>Historical figures, places, years and periods, key concepts</a:t>
            </a:r>
            <a:endParaRPr lang="en-US" sz="1000" dirty="0"/>
          </a:p>
        </p:txBody>
      </p:sp>
      <p:sp>
        <p:nvSpPr>
          <p:cNvPr id="21" name="Shape 17"/>
          <p:cNvSpPr/>
          <p:nvPr/>
        </p:nvSpPr>
        <p:spPr>
          <a:xfrm>
            <a:off x="3662172" y="2907792"/>
            <a:ext cx="137160" cy="137160"/>
          </a:xfrm>
          <a:prstGeom prst="ellipse">
            <a:avLst/>
          </a:prstGeom>
          <a:solidFill>
            <a:srgbClr val="C9882E"/>
          </a:solidFill>
          <a:ln/>
        </p:spPr>
        <p:txBody>
          <a:bodyPr/>
          <a:lstStyle/>
          <a:p>
            <a:endParaRPr lang="en-GB"/>
          </a:p>
        </p:txBody>
      </p:sp>
      <p:sp>
        <p:nvSpPr>
          <p:cNvPr id="22" name="Shape 18"/>
          <p:cNvSpPr/>
          <p:nvPr/>
        </p:nvSpPr>
        <p:spPr>
          <a:xfrm>
            <a:off x="3813048" y="1993392"/>
            <a:ext cx="1517904" cy="2148840"/>
          </a:xfrm>
          <a:prstGeom prst="roundRect">
            <a:avLst>
              <a:gd name="adj" fmla="val 4819"/>
            </a:avLst>
          </a:prstGeom>
          <a:solidFill>
            <a:srgbClr val="F4F6FA"/>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23" name="Shape 19"/>
          <p:cNvSpPr/>
          <p:nvPr/>
        </p:nvSpPr>
        <p:spPr>
          <a:xfrm>
            <a:off x="4288536" y="2231136"/>
            <a:ext cx="566928" cy="566928"/>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24" name="Image 2" descr="preencoded.png"/>
          <p:cNvPicPr>
            <a:picLocks noChangeAspect="1"/>
          </p:cNvPicPr>
          <p:nvPr/>
        </p:nvPicPr>
        <p:blipFill>
          <a:blip r:embed="rId5"/>
          <a:stretch>
            <a:fillRect/>
          </a:stretch>
        </p:blipFill>
        <p:spPr>
          <a:xfrm>
            <a:off x="4441607" y="2384207"/>
            <a:ext cx="260787" cy="260787"/>
          </a:xfrm>
          <a:prstGeom prst="rect">
            <a:avLst/>
          </a:prstGeom>
        </p:spPr>
      </p:pic>
      <p:sp>
        <p:nvSpPr>
          <p:cNvPr id="25" name="Shape 20"/>
          <p:cNvSpPr/>
          <p:nvPr/>
        </p:nvSpPr>
        <p:spPr>
          <a:xfrm>
            <a:off x="4946904" y="2103120"/>
            <a:ext cx="274320" cy="274320"/>
          </a:xfrm>
          <a:prstGeom prst="ellipse">
            <a:avLst/>
          </a:prstGeom>
          <a:solidFill>
            <a:srgbClr val="C9882E"/>
          </a:solidFill>
          <a:ln/>
        </p:spPr>
        <p:txBody>
          <a:bodyPr/>
          <a:lstStyle/>
          <a:p>
            <a:endParaRPr lang="en-GB"/>
          </a:p>
        </p:txBody>
      </p:sp>
      <p:sp>
        <p:nvSpPr>
          <p:cNvPr id="26" name="Text 21"/>
          <p:cNvSpPr/>
          <p:nvPr/>
        </p:nvSpPr>
        <p:spPr>
          <a:xfrm>
            <a:off x="4946904" y="2103120"/>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C</a:t>
            </a:r>
            <a:endParaRPr lang="en-US" sz="1300" dirty="0"/>
          </a:p>
        </p:txBody>
      </p:sp>
      <p:sp>
        <p:nvSpPr>
          <p:cNvPr id="27" name="Text 22"/>
          <p:cNvSpPr/>
          <p:nvPr/>
        </p:nvSpPr>
        <p:spPr>
          <a:xfrm>
            <a:off x="3886200" y="2926080"/>
            <a:ext cx="1371600" cy="566928"/>
          </a:xfrm>
          <a:prstGeom prst="rect">
            <a:avLst/>
          </a:prstGeom>
          <a:noFill/>
          <a:ln/>
        </p:spPr>
        <p:txBody>
          <a:bodyPr wrap="square" lIns="0" tIns="0" rIns="0" bIns="0" rtlCol="0" anchor="t"/>
          <a:lstStyle/>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Hierarchical</a:t>
            </a:r>
            <a:endParaRPr lang="en-US" sz="1300" dirty="0"/>
          </a:p>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summarization</a:t>
            </a:r>
            <a:endParaRPr lang="en-US" sz="1300" dirty="0"/>
          </a:p>
        </p:txBody>
      </p:sp>
      <p:sp>
        <p:nvSpPr>
          <p:cNvPr id="28" name="Text 23"/>
          <p:cNvSpPr/>
          <p:nvPr/>
        </p:nvSpPr>
        <p:spPr>
          <a:xfrm>
            <a:off x="3904488" y="3474720"/>
            <a:ext cx="1335024" cy="603504"/>
          </a:xfrm>
          <a:prstGeom prst="rect">
            <a:avLst/>
          </a:prstGeom>
          <a:noFill/>
          <a:ln/>
        </p:spPr>
        <p:txBody>
          <a:bodyPr wrap="square" lIns="0" tIns="0" rIns="0" bIns="0" rtlCol="0" anchor="t"/>
          <a:lstStyle/>
          <a:p>
            <a:pPr marL="0" indent="0" algn="ctr">
              <a:lnSpc>
                <a:spcPct val="95000"/>
              </a:lnSpc>
              <a:buNone/>
            </a:pPr>
            <a:r>
              <a:rPr lang="en-US" sz="1000" dirty="0">
                <a:solidFill>
                  <a:srgbClr val="5B6B82"/>
                </a:solidFill>
                <a:latin typeface="Calibri" pitchFamily="34" charset="0"/>
                <a:ea typeface="Calibri" pitchFamily="34" charset="-122"/>
                <a:cs typeface="Calibri" pitchFamily="34" charset="-120"/>
              </a:rPr>
              <a:t>Chapter summary → lesson-level summary</a:t>
            </a:r>
            <a:endParaRPr lang="en-US" sz="1000" dirty="0"/>
          </a:p>
        </p:txBody>
      </p:sp>
      <p:sp>
        <p:nvSpPr>
          <p:cNvPr id="29" name="Shape 24"/>
          <p:cNvSpPr/>
          <p:nvPr/>
        </p:nvSpPr>
        <p:spPr>
          <a:xfrm>
            <a:off x="5344668" y="2907792"/>
            <a:ext cx="137160" cy="137160"/>
          </a:xfrm>
          <a:prstGeom prst="ellipse">
            <a:avLst/>
          </a:prstGeom>
          <a:solidFill>
            <a:srgbClr val="C9882E"/>
          </a:solidFill>
          <a:ln/>
        </p:spPr>
        <p:txBody>
          <a:bodyPr/>
          <a:lstStyle/>
          <a:p>
            <a:endParaRPr lang="en-GB"/>
          </a:p>
        </p:txBody>
      </p:sp>
      <p:sp>
        <p:nvSpPr>
          <p:cNvPr id="30" name="Shape 25"/>
          <p:cNvSpPr/>
          <p:nvPr/>
        </p:nvSpPr>
        <p:spPr>
          <a:xfrm>
            <a:off x="5495544" y="1993392"/>
            <a:ext cx="1517904" cy="2148840"/>
          </a:xfrm>
          <a:prstGeom prst="roundRect">
            <a:avLst>
              <a:gd name="adj" fmla="val 4819"/>
            </a:avLst>
          </a:prstGeom>
          <a:solidFill>
            <a:srgbClr val="EAF0F8"/>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31" name="Shape 26"/>
          <p:cNvSpPr/>
          <p:nvPr/>
        </p:nvSpPr>
        <p:spPr>
          <a:xfrm>
            <a:off x="5971032" y="2231136"/>
            <a:ext cx="566928" cy="566928"/>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32" name="Image 3" descr="preencoded.png"/>
          <p:cNvPicPr>
            <a:picLocks noChangeAspect="1"/>
          </p:cNvPicPr>
          <p:nvPr/>
        </p:nvPicPr>
        <p:blipFill>
          <a:blip r:embed="rId6"/>
          <a:stretch>
            <a:fillRect/>
          </a:stretch>
        </p:blipFill>
        <p:spPr>
          <a:xfrm>
            <a:off x="6124103" y="2384207"/>
            <a:ext cx="260787" cy="260787"/>
          </a:xfrm>
          <a:prstGeom prst="rect">
            <a:avLst/>
          </a:prstGeom>
        </p:spPr>
      </p:pic>
      <p:sp>
        <p:nvSpPr>
          <p:cNvPr id="33" name="Shape 27"/>
          <p:cNvSpPr/>
          <p:nvPr/>
        </p:nvSpPr>
        <p:spPr>
          <a:xfrm>
            <a:off x="6629400" y="2103120"/>
            <a:ext cx="274320" cy="274320"/>
          </a:xfrm>
          <a:prstGeom prst="ellipse">
            <a:avLst/>
          </a:prstGeom>
          <a:solidFill>
            <a:srgbClr val="C9882E"/>
          </a:solidFill>
          <a:ln/>
        </p:spPr>
        <p:txBody>
          <a:bodyPr/>
          <a:lstStyle/>
          <a:p>
            <a:endParaRPr lang="en-GB"/>
          </a:p>
        </p:txBody>
      </p:sp>
      <p:sp>
        <p:nvSpPr>
          <p:cNvPr id="34" name="Text 28"/>
          <p:cNvSpPr/>
          <p:nvPr/>
        </p:nvSpPr>
        <p:spPr>
          <a:xfrm>
            <a:off x="6629400" y="2103120"/>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a:t>
            </a:r>
            <a:endParaRPr lang="en-US" sz="1300" dirty="0"/>
          </a:p>
        </p:txBody>
      </p:sp>
      <p:sp>
        <p:nvSpPr>
          <p:cNvPr id="35" name="Text 29"/>
          <p:cNvSpPr/>
          <p:nvPr/>
        </p:nvSpPr>
        <p:spPr>
          <a:xfrm>
            <a:off x="5568696" y="2926080"/>
            <a:ext cx="1371600" cy="566928"/>
          </a:xfrm>
          <a:prstGeom prst="rect">
            <a:avLst/>
          </a:prstGeom>
          <a:noFill/>
          <a:ln/>
        </p:spPr>
        <p:txBody>
          <a:bodyPr wrap="square" lIns="0" tIns="0" rIns="0" bIns="0" rtlCol="0" anchor="t"/>
          <a:lstStyle/>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Embedding</a:t>
            </a:r>
            <a:endParaRPr lang="en-US" sz="1300" dirty="0"/>
          </a:p>
        </p:txBody>
      </p:sp>
      <p:sp>
        <p:nvSpPr>
          <p:cNvPr id="36" name="Text 30"/>
          <p:cNvSpPr/>
          <p:nvPr/>
        </p:nvSpPr>
        <p:spPr>
          <a:xfrm>
            <a:off x="5586984" y="3474720"/>
            <a:ext cx="1335024" cy="603504"/>
          </a:xfrm>
          <a:prstGeom prst="rect">
            <a:avLst/>
          </a:prstGeom>
          <a:noFill/>
          <a:ln/>
        </p:spPr>
        <p:txBody>
          <a:bodyPr wrap="square" lIns="0" tIns="0" rIns="0" bIns="0" rtlCol="0" anchor="t"/>
          <a:lstStyle/>
          <a:p>
            <a:pPr algn="ctr">
              <a:lnSpc>
                <a:spcPct val="95000"/>
              </a:lnSpc>
            </a:pPr>
            <a:r>
              <a:rPr lang="en-US" sz="1000" dirty="0">
                <a:solidFill>
                  <a:srgbClr val="5B6B82"/>
                </a:solidFill>
                <a:latin typeface="Calibri" pitchFamily="34" charset="0"/>
                <a:ea typeface="Calibri" pitchFamily="34" charset="-122"/>
                <a:cs typeface="Calibri" pitchFamily="34" charset="-120"/>
              </a:rPr>
              <a:t>One vector for the content, one for the summary: text-embedding-3-large</a:t>
            </a:r>
          </a:p>
        </p:txBody>
      </p:sp>
      <p:sp>
        <p:nvSpPr>
          <p:cNvPr id="37" name="Shape 31"/>
          <p:cNvSpPr/>
          <p:nvPr/>
        </p:nvSpPr>
        <p:spPr>
          <a:xfrm>
            <a:off x="7027164" y="2907792"/>
            <a:ext cx="137160" cy="137160"/>
          </a:xfrm>
          <a:prstGeom prst="ellipse">
            <a:avLst/>
          </a:prstGeom>
          <a:solidFill>
            <a:srgbClr val="C9882E"/>
          </a:solidFill>
          <a:ln/>
        </p:spPr>
        <p:txBody>
          <a:bodyPr/>
          <a:lstStyle/>
          <a:p>
            <a:endParaRPr lang="en-GB"/>
          </a:p>
        </p:txBody>
      </p:sp>
      <p:sp>
        <p:nvSpPr>
          <p:cNvPr id="38" name="Shape 32"/>
          <p:cNvSpPr/>
          <p:nvPr/>
        </p:nvSpPr>
        <p:spPr>
          <a:xfrm>
            <a:off x="7178040" y="1993392"/>
            <a:ext cx="1517904" cy="2148840"/>
          </a:xfrm>
          <a:prstGeom prst="roundRect">
            <a:avLst>
              <a:gd name="adj" fmla="val 4819"/>
            </a:avLst>
          </a:prstGeom>
          <a:solidFill>
            <a:srgbClr val="F4F6FA"/>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39" name="Shape 33"/>
          <p:cNvSpPr/>
          <p:nvPr/>
        </p:nvSpPr>
        <p:spPr>
          <a:xfrm>
            <a:off x="7653528" y="2231136"/>
            <a:ext cx="566928" cy="566928"/>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40" name="Image 4" descr="preencoded.png"/>
          <p:cNvPicPr>
            <a:picLocks noChangeAspect="1"/>
          </p:cNvPicPr>
          <p:nvPr/>
        </p:nvPicPr>
        <p:blipFill>
          <a:blip r:embed="rId7"/>
          <a:stretch>
            <a:fillRect/>
          </a:stretch>
        </p:blipFill>
        <p:spPr>
          <a:xfrm>
            <a:off x="7806599" y="2384207"/>
            <a:ext cx="260787" cy="260787"/>
          </a:xfrm>
          <a:prstGeom prst="rect">
            <a:avLst/>
          </a:prstGeom>
        </p:spPr>
      </p:pic>
      <p:sp>
        <p:nvSpPr>
          <p:cNvPr id="41" name="Shape 34"/>
          <p:cNvSpPr/>
          <p:nvPr/>
        </p:nvSpPr>
        <p:spPr>
          <a:xfrm>
            <a:off x="8311896" y="2103120"/>
            <a:ext cx="274320" cy="274320"/>
          </a:xfrm>
          <a:prstGeom prst="ellipse">
            <a:avLst/>
          </a:prstGeom>
          <a:solidFill>
            <a:srgbClr val="C9882E"/>
          </a:solidFill>
          <a:ln/>
        </p:spPr>
        <p:txBody>
          <a:bodyPr/>
          <a:lstStyle/>
          <a:p>
            <a:endParaRPr lang="en-GB"/>
          </a:p>
        </p:txBody>
      </p:sp>
      <p:sp>
        <p:nvSpPr>
          <p:cNvPr id="42" name="Text 35"/>
          <p:cNvSpPr/>
          <p:nvPr/>
        </p:nvSpPr>
        <p:spPr>
          <a:xfrm>
            <a:off x="8311896" y="2103120"/>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E</a:t>
            </a:r>
            <a:endParaRPr lang="en-US" sz="1300" dirty="0"/>
          </a:p>
        </p:txBody>
      </p:sp>
      <p:sp>
        <p:nvSpPr>
          <p:cNvPr id="43" name="Text 36"/>
          <p:cNvSpPr/>
          <p:nvPr/>
        </p:nvSpPr>
        <p:spPr>
          <a:xfrm>
            <a:off x="7251192" y="2926080"/>
            <a:ext cx="1371600" cy="566928"/>
          </a:xfrm>
          <a:prstGeom prst="rect">
            <a:avLst/>
          </a:prstGeom>
          <a:noFill/>
          <a:ln/>
        </p:spPr>
        <p:txBody>
          <a:bodyPr wrap="square" lIns="0" tIns="0" rIns="0" bIns="0" rtlCol="0" anchor="t"/>
          <a:lstStyle/>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Storage &amp;</a:t>
            </a:r>
            <a:endParaRPr lang="en-US" sz="1300" dirty="0"/>
          </a:p>
          <a:p>
            <a:pPr marL="0" indent="0" algn="ctr">
              <a:lnSpc>
                <a:spcPct val="92000"/>
              </a:lnSpc>
              <a:buNone/>
            </a:pPr>
            <a:r>
              <a:rPr lang="en-US" sz="1300" b="1" dirty="0">
                <a:solidFill>
                  <a:srgbClr val="1E2B45"/>
                </a:solidFill>
                <a:latin typeface="Calibri" pitchFamily="34" charset="0"/>
                <a:ea typeface="Calibri" pitchFamily="34" charset="-122"/>
                <a:cs typeface="Calibri" pitchFamily="34" charset="-120"/>
              </a:rPr>
              <a:t>indexing</a:t>
            </a:r>
            <a:endParaRPr lang="en-US" sz="1300" dirty="0"/>
          </a:p>
        </p:txBody>
      </p:sp>
      <p:sp>
        <p:nvSpPr>
          <p:cNvPr id="44" name="Text 37"/>
          <p:cNvSpPr/>
          <p:nvPr/>
        </p:nvSpPr>
        <p:spPr>
          <a:xfrm>
            <a:off x="7269480" y="3474720"/>
            <a:ext cx="1335024" cy="603504"/>
          </a:xfrm>
          <a:prstGeom prst="rect">
            <a:avLst/>
          </a:prstGeom>
          <a:noFill/>
          <a:ln/>
        </p:spPr>
        <p:txBody>
          <a:bodyPr wrap="square" lIns="0" tIns="0" rIns="0" bIns="0" rtlCol="0" anchor="t"/>
          <a:lstStyle/>
          <a:p>
            <a:pPr marL="0" indent="0" algn="ctr">
              <a:lnSpc>
                <a:spcPct val="95000"/>
              </a:lnSpc>
              <a:buNone/>
            </a:pPr>
            <a:r>
              <a:rPr lang="en-US" sz="1000" dirty="0">
                <a:solidFill>
                  <a:srgbClr val="5B6B82"/>
                </a:solidFill>
                <a:latin typeface="Calibri" pitchFamily="34" charset="0"/>
                <a:ea typeface="Calibri" pitchFamily="34" charset="-122"/>
                <a:cs typeface="Calibri" pitchFamily="34" charset="-120"/>
              </a:rPr>
              <a:t>JSON documents in MongoDB, with indexes on metadata fields</a:t>
            </a:r>
            <a:endParaRPr lang="en-US" sz="1000" dirty="0"/>
          </a:p>
        </p:txBody>
      </p:sp>
      <p:sp>
        <p:nvSpPr>
          <p:cNvPr id="45" name="Text 38"/>
          <p:cNvSpPr/>
          <p:nvPr/>
        </p:nvSpPr>
        <p:spPr>
          <a:xfrm>
            <a:off x="502920" y="4425696"/>
            <a:ext cx="8138160" cy="457200"/>
          </a:xfrm>
          <a:prstGeom prst="rect">
            <a:avLst/>
          </a:prstGeom>
          <a:noFill/>
          <a:ln/>
        </p:spPr>
        <p:txBody>
          <a:bodyPr wrap="square" lIns="0" tIns="0" rIns="0" bIns="0" rtlCol="0" anchor="ctr"/>
          <a:lstStyle/>
          <a:p>
            <a:pPr marL="0" indent="0" algn="ctr">
              <a:buNone/>
            </a:pPr>
            <a:r>
              <a:rPr lang="en-US" sz="1150" i="1" dirty="0">
                <a:solidFill>
                  <a:srgbClr val="5B6B82"/>
                </a:solidFill>
                <a:latin typeface="Calibri" pitchFamily="34" charset="0"/>
                <a:ea typeface="Calibri" pitchFamily="34" charset="-122"/>
                <a:cs typeface="Calibri" pitchFamily="34" charset="-120"/>
              </a:rPr>
              <a:t>Semantic chunking avoids arbitrary fragmentation; structured metadata later enables precise, filtered retrieval.</a:t>
            </a:r>
            <a:endParaRPr lang="en-US" sz="1150" dirty="0"/>
          </a:p>
        </p:txBody>
      </p:sp>
      <p:sp>
        <p:nvSpPr>
          <p:cNvPr id="46" name="Text 39"/>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MODULE 1 · RAG</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Pipeline</a:t>
            </a:r>
            <a:endParaRPr lang="en-US" sz="2900" dirty="0"/>
          </a:p>
        </p:txBody>
      </p:sp>
      <p:sp>
        <p:nvSpPr>
          <p:cNvPr id="5" name="Text 3"/>
          <p:cNvSpPr/>
          <p:nvPr/>
        </p:nvSpPr>
        <p:spPr>
          <a:xfrm>
            <a:off x="502920" y="1371600"/>
            <a:ext cx="2743200" cy="256032"/>
          </a:xfrm>
          <a:prstGeom prst="rect">
            <a:avLst/>
          </a:prstGeom>
          <a:noFill/>
          <a:ln/>
        </p:spPr>
        <p:txBody>
          <a:bodyPr wrap="square" lIns="0" tIns="0" rIns="0" bIns="0" rtlCol="0" anchor="ctr"/>
          <a:lstStyle/>
          <a:p>
            <a:pPr marL="0" indent="0" algn="ctr">
              <a:buNone/>
            </a:pPr>
            <a:r>
              <a:rPr lang="en-US" sz="1150" b="1" kern="0" spc="100" dirty="0">
                <a:solidFill>
                  <a:srgbClr val="3E5C8A"/>
                </a:solidFill>
                <a:latin typeface="Calibri" pitchFamily="34" charset="0"/>
                <a:ea typeface="Calibri" pitchFamily="34" charset="-122"/>
                <a:cs typeface="Calibri" pitchFamily="34" charset="-120"/>
              </a:rPr>
              <a:t>QUERY UNDERSTANDING</a:t>
            </a:r>
            <a:endParaRPr lang="en-US" sz="1150" dirty="0"/>
          </a:p>
        </p:txBody>
      </p:sp>
      <p:sp>
        <p:nvSpPr>
          <p:cNvPr id="6" name="Shape 4"/>
          <p:cNvSpPr/>
          <p:nvPr/>
        </p:nvSpPr>
        <p:spPr>
          <a:xfrm>
            <a:off x="502920" y="1700784"/>
            <a:ext cx="2743200" cy="676656"/>
          </a:xfrm>
          <a:prstGeom prst="roundRect">
            <a:avLst>
              <a:gd name="adj" fmla="val 10811"/>
            </a:avLst>
          </a:prstGeom>
          <a:solidFill>
            <a:srgbClr val="EAF0F8"/>
          </a:solidFill>
          <a:ln w="12700">
            <a:solidFill>
              <a:srgbClr val="D8DEE9"/>
            </a:solidFill>
            <a:prstDash val="solid"/>
          </a:ln>
        </p:spPr>
        <p:txBody>
          <a:bodyPr/>
          <a:lstStyle/>
          <a:p>
            <a:endParaRPr lang="en-GB"/>
          </a:p>
        </p:txBody>
      </p:sp>
      <p:sp>
        <p:nvSpPr>
          <p:cNvPr id="7" name="Shape 5"/>
          <p:cNvSpPr/>
          <p:nvPr/>
        </p:nvSpPr>
        <p:spPr>
          <a:xfrm>
            <a:off x="658368" y="1828800"/>
            <a:ext cx="420624" cy="42062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771936" y="1942368"/>
            <a:ext cx="193487" cy="193487"/>
          </a:xfrm>
          <a:prstGeom prst="rect">
            <a:avLst/>
          </a:prstGeom>
        </p:spPr>
      </p:pic>
      <p:sp>
        <p:nvSpPr>
          <p:cNvPr id="9" name="Text 6"/>
          <p:cNvSpPr/>
          <p:nvPr/>
        </p:nvSpPr>
        <p:spPr>
          <a:xfrm>
            <a:off x="1188720" y="1700784"/>
            <a:ext cx="1993392" cy="676656"/>
          </a:xfrm>
          <a:prstGeom prst="rect">
            <a:avLst/>
          </a:prstGeom>
          <a:noFill/>
          <a:ln/>
        </p:spPr>
        <p:txBody>
          <a:bodyPr wrap="square" lIns="0" tIns="0" rIns="0" bIns="0" rtlCol="0" anchor="ctr"/>
          <a:lstStyle/>
          <a:p>
            <a:pPr marL="0" indent="0">
              <a:lnSpc>
                <a:spcPct val="92000"/>
              </a:lnSpc>
              <a:buNone/>
            </a:pPr>
            <a:r>
              <a:rPr lang="en-US" sz="1200" b="1" dirty="0">
                <a:solidFill>
                  <a:srgbClr val="1E2B45"/>
                </a:solidFill>
                <a:latin typeface="Calibri" pitchFamily="34" charset="0"/>
                <a:ea typeface="Calibri" pitchFamily="34" charset="-122"/>
                <a:cs typeface="Calibri" pitchFamily="34" charset="-120"/>
              </a:rPr>
              <a:t>A · Routing</a:t>
            </a:r>
            <a:endParaRPr lang="en-US" sz="1200" dirty="0"/>
          </a:p>
          <a:p>
            <a:pPr marL="0" indent="0">
              <a:lnSpc>
                <a:spcPct val="92000"/>
              </a:lnSpc>
              <a:buNone/>
            </a:pPr>
            <a:r>
              <a:rPr lang="en-US" sz="1000" dirty="0">
                <a:solidFill>
                  <a:srgbClr val="5B6B82"/>
                </a:solidFill>
                <a:latin typeface="Calibri" pitchFamily="34" charset="0"/>
                <a:ea typeface="Calibri" pitchFamily="34" charset="-122"/>
                <a:cs typeface="Calibri" pitchFamily="34" charset="-120"/>
              </a:rPr>
              <a:t>Does it belong to the history domain?</a:t>
            </a:r>
            <a:endParaRPr lang="en-US" sz="1200" dirty="0"/>
          </a:p>
        </p:txBody>
      </p:sp>
      <p:sp>
        <p:nvSpPr>
          <p:cNvPr id="10" name="Shape 7"/>
          <p:cNvSpPr/>
          <p:nvPr/>
        </p:nvSpPr>
        <p:spPr>
          <a:xfrm>
            <a:off x="502920" y="2487168"/>
            <a:ext cx="2743200" cy="676656"/>
          </a:xfrm>
          <a:prstGeom prst="roundRect">
            <a:avLst>
              <a:gd name="adj" fmla="val 10811"/>
            </a:avLst>
          </a:prstGeom>
          <a:solidFill>
            <a:srgbClr val="EAF0F8"/>
          </a:solidFill>
          <a:ln w="12700">
            <a:solidFill>
              <a:srgbClr val="D8DEE9"/>
            </a:solidFill>
            <a:prstDash val="solid"/>
          </a:ln>
        </p:spPr>
        <p:txBody>
          <a:bodyPr/>
          <a:lstStyle/>
          <a:p>
            <a:endParaRPr lang="en-GB"/>
          </a:p>
        </p:txBody>
      </p:sp>
      <p:sp>
        <p:nvSpPr>
          <p:cNvPr id="11" name="Shape 8"/>
          <p:cNvSpPr/>
          <p:nvPr/>
        </p:nvSpPr>
        <p:spPr>
          <a:xfrm>
            <a:off x="658368" y="2615184"/>
            <a:ext cx="420624" cy="42062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12" name="Image 1" descr="preencoded.png"/>
          <p:cNvPicPr>
            <a:picLocks noChangeAspect="1"/>
          </p:cNvPicPr>
          <p:nvPr/>
        </p:nvPicPr>
        <p:blipFill>
          <a:blip r:embed="rId4"/>
          <a:stretch>
            <a:fillRect/>
          </a:stretch>
        </p:blipFill>
        <p:spPr>
          <a:xfrm>
            <a:off x="771936" y="2728752"/>
            <a:ext cx="193487" cy="193487"/>
          </a:xfrm>
          <a:prstGeom prst="rect">
            <a:avLst/>
          </a:prstGeom>
        </p:spPr>
      </p:pic>
      <p:sp>
        <p:nvSpPr>
          <p:cNvPr id="13" name="Text 9"/>
          <p:cNvSpPr/>
          <p:nvPr/>
        </p:nvSpPr>
        <p:spPr>
          <a:xfrm>
            <a:off x="1188720" y="2487168"/>
            <a:ext cx="1993392" cy="676656"/>
          </a:xfrm>
          <a:prstGeom prst="rect">
            <a:avLst/>
          </a:prstGeom>
          <a:noFill/>
          <a:ln/>
        </p:spPr>
        <p:txBody>
          <a:bodyPr wrap="square" lIns="0" tIns="0" rIns="0" bIns="0" rtlCol="0" anchor="ctr"/>
          <a:lstStyle/>
          <a:p>
            <a:pPr marL="0" indent="0">
              <a:lnSpc>
                <a:spcPct val="92000"/>
              </a:lnSpc>
              <a:buNone/>
            </a:pPr>
            <a:r>
              <a:rPr lang="en-US" sz="1200" b="1" dirty="0">
                <a:solidFill>
                  <a:srgbClr val="1E2B45"/>
                </a:solidFill>
                <a:latin typeface="Calibri" pitchFamily="34" charset="0"/>
                <a:ea typeface="Calibri" pitchFamily="34" charset="-122"/>
                <a:cs typeface="Calibri" pitchFamily="34" charset="-120"/>
              </a:rPr>
              <a:t>B · Coverage</a:t>
            </a:r>
            <a:endParaRPr lang="en-US" sz="1200" dirty="0"/>
          </a:p>
          <a:p>
            <a:pPr marL="0" indent="0">
              <a:lnSpc>
                <a:spcPct val="92000"/>
              </a:lnSpc>
              <a:buNone/>
            </a:pPr>
            <a:r>
              <a:rPr lang="en-US" sz="1000" dirty="0">
                <a:solidFill>
                  <a:srgbClr val="5B6B82"/>
                </a:solidFill>
                <a:latin typeface="Calibri" pitchFamily="34" charset="0"/>
                <a:ea typeface="Calibri" pitchFamily="34" charset="-122"/>
                <a:cs typeface="Calibri" pitchFamily="34" charset="-120"/>
              </a:rPr>
              <a:t>Does the answer exist in the corpus?</a:t>
            </a:r>
            <a:endParaRPr lang="en-US" sz="1200" dirty="0"/>
          </a:p>
        </p:txBody>
      </p:sp>
      <p:sp>
        <p:nvSpPr>
          <p:cNvPr id="14" name="Shape 10"/>
          <p:cNvSpPr/>
          <p:nvPr/>
        </p:nvSpPr>
        <p:spPr>
          <a:xfrm>
            <a:off x="502920" y="3273552"/>
            <a:ext cx="2743200" cy="676656"/>
          </a:xfrm>
          <a:prstGeom prst="roundRect">
            <a:avLst>
              <a:gd name="adj" fmla="val 10811"/>
            </a:avLst>
          </a:prstGeom>
          <a:solidFill>
            <a:srgbClr val="EAF0F8"/>
          </a:solidFill>
          <a:ln w="12700">
            <a:solidFill>
              <a:srgbClr val="D8DEE9"/>
            </a:solidFill>
            <a:prstDash val="solid"/>
          </a:ln>
        </p:spPr>
        <p:txBody>
          <a:bodyPr/>
          <a:lstStyle/>
          <a:p>
            <a:endParaRPr lang="en-GB"/>
          </a:p>
        </p:txBody>
      </p:sp>
      <p:sp>
        <p:nvSpPr>
          <p:cNvPr id="15" name="Shape 11"/>
          <p:cNvSpPr/>
          <p:nvPr/>
        </p:nvSpPr>
        <p:spPr>
          <a:xfrm>
            <a:off x="658368" y="3401568"/>
            <a:ext cx="420624" cy="42062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16" name="Image 2" descr="preencoded.png"/>
          <p:cNvPicPr>
            <a:picLocks noChangeAspect="1"/>
          </p:cNvPicPr>
          <p:nvPr/>
        </p:nvPicPr>
        <p:blipFill>
          <a:blip r:embed="rId5"/>
          <a:stretch>
            <a:fillRect/>
          </a:stretch>
        </p:blipFill>
        <p:spPr>
          <a:xfrm>
            <a:off x="771936" y="3515136"/>
            <a:ext cx="193487" cy="193487"/>
          </a:xfrm>
          <a:prstGeom prst="rect">
            <a:avLst/>
          </a:prstGeom>
        </p:spPr>
      </p:pic>
      <p:sp>
        <p:nvSpPr>
          <p:cNvPr id="17" name="Text 12"/>
          <p:cNvSpPr/>
          <p:nvPr/>
        </p:nvSpPr>
        <p:spPr>
          <a:xfrm>
            <a:off x="1188720" y="3273552"/>
            <a:ext cx="1993392" cy="676656"/>
          </a:xfrm>
          <a:prstGeom prst="rect">
            <a:avLst/>
          </a:prstGeom>
          <a:noFill/>
          <a:ln/>
        </p:spPr>
        <p:txBody>
          <a:bodyPr wrap="square" lIns="0" tIns="0" rIns="0" bIns="0" rtlCol="0" anchor="ctr"/>
          <a:lstStyle/>
          <a:p>
            <a:pPr marL="0" indent="0">
              <a:lnSpc>
                <a:spcPct val="92000"/>
              </a:lnSpc>
              <a:buNone/>
            </a:pPr>
            <a:r>
              <a:rPr lang="en-US" sz="1200" b="1" dirty="0">
                <a:solidFill>
                  <a:srgbClr val="1E2B45"/>
                </a:solidFill>
                <a:latin typeface="Calibri" pitchFamily="34" charset="0"/>
                <a:ea typeface="Calibri" pitchFamily="34" charset="-122"/>
                <a:cs typeface="Calibri" pitchFamily="34" charset="-120"/>
              </a:rPr>
              <a:t>C · Filters</a:t>
            </a:r>
            <a:endParaRPr lang="en-US" sz="1200" dirty="0"/>
          </a:p>
          <a:p>
            <a:pPr marL="0" indent="0">
              <a:lnSpc>
                <a:spcPct val="92000"/>
              </a:lnSpc>
              <a:buNone/>
            </a:pPr>
            <a:r>
              <a:rPr lang="en-US" sz="1000" dirty="0">
                <a:solidFill>
                  <a:srgbClr val="5B6B82"/>
                </a:solidFill>
                <a:latin typeface="Calibri" pitchFamily="34" charset="0"/>
                <a:ea typeface="Calibri" pitchFamily="34" charset="-122"/>
                <a:cs typeface="Calibri" pitchFamily="34" charset="-120"/>
              </a:rPr>
              <a:t>Extract years, entities, locations</a:t>
            </a:r>
            <a:endParaRPr lang="en-US" sz="1200" dirty="0"/>
          </a:p>
        </p:txBody>
      </p:sp>
      <p:sp>
        <p:nvSpPr>
          <p:cNvPr id="18" name="Text 13"/>
          <p:cNvSpPr/>
          <p:nvPr/>
        </p:nvSpPr>
        <p:spPr>
          <a:xfrm>
            <a:off x="502920" y="4114800"/>
            <a:ext cx="2743200" cy="502920"/>
          </a:xfrm>
          <a:prstGeom prst="rect">
            <a:avLst/>
          </a:prstGeom>
          <a:noFill/>
          <a:ln/>
        </p:spPr>
        <p:txBody>
          <a:bodyPr wrap="square" lIns="0" tIns="0" rIns="0" bIns="0" rtlCol="0" anchor="ctr"/>
          <a:lstStyle/>
          <a:p>
            <a:pPr marL="0" indent="0" algn="ctr">
              <a:lnSpc>
                <a:spcPct val="95000"/>
              </a:lnSpc>
              <a:buNone/>
            </a:pPr>
            <a:r>
              <a:rPr lang="en-US" sz="950" i="1" dirty="0">
                <a:solidFill>
                  <a:srgbClr val="5B6B82"/>
                </a:solidFill>
                <a:latin typeface="Calibri" pitchFamily="34" charset="0"/>
                <a:ea typeface="Calibri" pitchFamily="34" charset="-122"/>
                <a:cs typeface="Calibri" pitchFamily="34" charset="-120"/>
              </a:rPr>
              <a:t>Out-of-domain or uncovered questions are rejected before retrieval.</a:t>
            </a:r>
            <a:endParaRPr lang="en-US" sz="950" dirty="0"/>
          </a:p>
        </p:txBody>
      </p:sp>
      <p:sp>
        <p:nvSpPr>
          <p:cNvPr id="19" name="Text 14"/>
          <p:cNvSpPr/>
          <p:nvPr/>
        </p:nvSpPr>
        <p:spPr>
          <a:xfrm>
            <a:off x="3566160" y="1371600"/>
            <a:ext cx="2606040" cy="256032"/>
          </a:xfrm>
          <a:prstGeom prst="rect">
            <a:avLst/>
          </a:prstGeom>
          <a:noFill/>
          <a:ln/>
        </p:spPr>
        <p:txBody>
          <a:bodyPr wrap="square" lIns="0" tIns="0" rIns="0" bIns="0" rtlCol="0" anchor="ctr"/>
          <a:lstStyle/>
          <a:p>
            <a:pPr marL="0" indent="0" algn="ctr">
              <a:buNone/>
            </a:pPr>
            <a:r>
              <a:rPr lang="en-US" sz="1150" b="1" kern="0" spc="100" dirty="0">
                <a:solidFill>
                  <a:srgbClr val="3E5C8A"/>
                </a:solidFill>
                <a:latin typeface="Calibri" pitchFamily="34" charset="0"/>
                <a:ea typeface="Calibri" pitchFamily="34" charset="-122"/>
                <a:cs typeface="Calibri" pitchFamily="34" charset="-120"/>
              </a:rPr>
              <a:t>HYBRID RETRIEVAL</a:t>
            </a:r>
            <a:endParaRPr lang="en-US" sz="1150" dirty="0"/>
          </a:p>
        </p:txBody>
      </p:sp>
      <p:sp>
        <p:nvSpPr>
          <p:cNvPr id="20" name="Shape 15"/>
          <p:cNvSpPr/>
          <p:nvPr/>
        </p:nvSpPr>
        <p:spPr>
          <a:xfrm>
            <a:off x="3566160" y="1700784"/>
            <a:ext cx="2606040" cy="676656"/>
          </a:xfrm>
          <a:prstGeom prst="roundRect">
            <a:avLst>
              <a:gd name="adj" fmla="val 10811"/>
            </a:avLst>
          </a:prstGeom>
          <a:solidFill>
            <a:srgbClr val="F4F6FA"/>
          </a:solidFill>
          <a:ln w="12700">
            <a:solidFill>
              <a:srgbClr val="D8DEE9"/>
            </a:solidFill>
            <a:prstDash val="solid"/>
          </a:ln>
        </p:spPr>
        <p:txBody>
          <a:bodyPr/>
          <a:lstStyle/>
          <a:p>
            <a:endParaRPr lang="en-GB"/>
          </a:p>
        </p:txBody>
      </p:sp>
      <p:sp>
        <p:nvSpPr>
          <p:cNvPr id="21" name="Shape 16"/>
          <p:cNvSpPr/>
          <p:nvPr/>
        </p:nvSpPr>
        <p:spPr>
          <a:xfrm>
            <a:off x="3712464" y="1828800"/>
            <a:ext cx="420624" cy="420624"/>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22" name="Image 3" descr="preencoded.png"/>
          <p:cNvPicPr>
            <a:picLocks noChangeAspect="1"/>
          </p:cNvPicPr>
          <p:nvPr/>
        </p:nvPicPr>
        <p:blipFill>
          <a:blip r:embed="rId5"/>
          <a:stretch>
            <a:fillRect/>
          </a:stretch>
        </p:blipFill>
        <p:spPr>
          <a:xfrm>
            <a:off x="3826032" y="1942368"/>
            <a:ext cx="193487" cy="193487"/>
          </a:xfrm>
          <a:prstGeom prst="rect">
            <a:avLst/>
          </a:prstGeom>
        </p:spPr>
      </p:pic>
      <p:sp>
        <p:nvSpPr>
          <p:cNvPr id="23" name="Text 17"/>
          <p:cNvSpPr/>
          <p:nvPr/>
        </p:nvSpPr>
        <p:spPr>
          <a:xfrm>
            <a:off x="4242816" y="1700784"/>
            <a:ext cx="1828800" cy="676656"/>
          </a:xfrm>
          <a:prstGeom prst="rect">
            <a:avLst/>
          </a:prstGeom>
          <a:noFill/>
          <a:ln/>
        </p:spPr>
        <p:txBody>
          <a:bodyPr wrap="square" lIns="0" tIns="0" rIns="0" bIns="0" rtlCol="0" anchor="ctr"/>
          <a:lstStyle/>
          <a:p>
            <a:pPr marL="0" indent="0">
              <a:lnSpc>
                <a:spcPct val="92000"/>
              </a:lnSpc>
              <a:buNone/>
            </a:pPr>
            <a:r>
              <a:rPr lang="en-US" sz="1200" b="1" dirty="0">
                <a:solidFill>
                  <a:srgbClr val="1E2B45"/>
                </a:solidFill>
                <a:latin typeface="Calibri" pitchFamily="34" charset="0"/>
                <a:ea typeface="Calibri" pitchFamily="34" charset="-122"/>
                <a:cs typeface="Calibri" pitchFamily="34" charset="-120"/>
              </a:rPr>
              <a:t>Route 1 · Metadata</a:t>
            </a:r>
            <a:endParaRPr lang="en-US" sz="1200" dirty="0"/>
          </a:p>
          <a:p>
            <a:pPr marL="0" indent="0">
              <a:lnSpc>
                <a:spcPct val="92000"/>
              </a:lnSpc>
              <a:buNone/>
            </a:pPr>
            <a:r>
              <a:rPr lang="en-US" sz="1000" dirty="0">
                <a:solidFill>
                  <a:srgbClr val="5B6B82"/>
                </a:solidFill>
                <a:latin typeface="Calibri" pitchFamily="34" charset="0"/>
                <a:ea typeface="Calibri" pitchFamily="34" charset="-122"/>
                <a:cs typeface="Calibri" pitchFamily="34" charset="-120"/>
              </a:rPr>
              <a:t>Strict → relaxed filtering</a:t>
            </a:r>
            <a:endParaRPr lang="en-US" sz="1200" dirty="0"/>
          </a:p>
        </p:txBody>
      </p:sp>
      <p:sp>
        <p:nvSpPr>
          <p:cNvPr id="24" name="Shape 18"/>
          <p:cNvSpPr/>
          <p:nvPr/>
        </p:nvSpPr>
        <p:spPr>
          <a:xfrm>
            <a:off x="3566160" y="2487168"/>
            <a:ext cx="2606040" cy="676656"/>
          </a:xfrm>
          <a:prstGeom prst="roundRect">
            <a:avLst>
              <a:gd name="adj" fmla="val 10811"/>
            </a:avLst>
          </a:prstGeom>
          <a:solidFill>
            <a:srgbClr val="F4F6FA"/>
          </a:solidFill>
          <a:ln w="12700">
            <a:solidFill>
              <a:srgbClr val="D8DEE9"/>
            </a:solidFill>
            <a:prstDash val="solid"/>
          </a:ln>
        </p:spPr>
        <p:txBody>
          <a:bodyPr/>
          <a:lstStyle/>
          <a:p>
            <a:endParaRPr lang="en-GB"/>
          </a:p>
        </p:txBody>
      </p:sp>
      <p:sp>
        <p:nvSpPr>
          <p:cNvPr id="25" name="Shape 19"/>
          <p:cNvSpPr/>
          <p:nvPr/>
        </p:nvSpPr>
        <p:spPr>
          <a:xfrm>
            <a:off x="3712464" y="2615184"/>
            <a:ext cx="420624" cy="420624"/>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26" name="Image 4" descr="preencoded.png"/>
          <p:cNvPicPr>
            <a:picLocks noChangeAspect="1"/>
          </p:cNvPicPr>
          <p:nvPr/>
        </p:nvPicPr>
        <p:blipFill>
          <a:blip r:embed="rId6"/>
          <a:stretch>
            <a:fillRect/>
          </a:stretch>
        </p:blipFill>
        <p:spPr>
          <a:xfrm>
            <a:off x="3826032" y="2728752"/>
            <a:ext cx="193487" cy="193487"/>
          </a:xfrm>
          <a:prstGeom prst="rect">
            <a:avLst/>
          </a:prstGeom>
        </p:spPr>
      </p:pic>
      <p:sp>
        <p:nvSpPr>
          <p:cNvPr id="27" name="Text 20"/>
          <p:cNvSpPr/>
          <p:nvPr/>
        </p:nvSpPr>
        <p:spPr>
          <a:xfrm>
            <a:off x="4242816" y="2487168"/>
            <a:ext cx="1828800" cy="676656"/>
          </a:xfrm>
          <a:prstGeom prst="rect">
            <a:avLst/>
          </a:prstGeom>
          <a:noFill/>
          <a:ln/>
        </p:spPr>
        <p:txBody>
          <a:bodyPr wrap="square" lIns="0" tIns="0" rIns="0" bIns="0" rtlCol="0" anchor="ctr"/>
          <a:lstStyle/>
          <a:p>
            <a:pPr marL="0" indent="0">
              <a:lnSpc>
                <a:spcPct val="92000"/>
              </a:lnSpc>
              <a:buNone/>
            </a:pPr>
            <a:r>
              <a:rPr lang="en-US" sz="1200" b="1" dirty="0">
                <a:solidFill>
                  <a:srgbClr val="1E2B45"/>
                </a:solidFill>
                <a:latin typeface="Calibri" pitchFamily="34" charset="0"/>
                <a:ea typeface="Calibri" pitchFamily="34" charset="-122"/>
                <a:cs typeface="Calibri" pitchFamily="34" charset="-120"/>
              </a:rPr>
              <a:t>Route 2 · Vector</a:t>
            </a:r>
            <a:endParaRPr lang="en-US" sz="1200" dirty="0"/>
          </a:p>
          <a:p>
            <a:pPr marL="0" indent="0">
              <a:lnSpc>
                <a:spcPct val="92000"/>
              </a:lnSpc>
              <a:buNone/>
            </a:pPr>
            <a:r>
              <a:rPr lang="en-US" sz="950" dirty="0">
                <a:solidFill>
                  <a:srgbClr val="5B6B82"/>
                </a:solidFill>
                <a:latin typeface="Calibri" pitchFamily="34" charset="0"/>
                <a:ea typeface="Calibri" pitchFamily="34" charset="-122"/>
                <a:cs typeface="Calibri" pitchFamily="34" charset="-120"/>
              </a:rPr>
              <a:t>Semantic search ($vectorSearch)</a:t>
            </a:r>
            <a:endParaRPr lang="en-US" sz="1200" dirty="0"/>
          </a:p>
        </p:txBody>
      </p:sp>
      <p:grpSp>
        <p:nvGrpSpPr>
          <p:cNvPr id="49" name="Group 48">
            <a:extLst>
              <a:ext uri="{FF2B5EF4-FFF2-40B4-BE49-F238E27FC236}">
                <a16:creationId xmlns:a16="http://schemas.microsoft.com/office/drawing/2014/main" id="{13F25CCF-53F9-8D89-6250-D6E504F8EE70}"/>
              </a:ext>
            </a:extLst>
          </p:cNvPr>
          <p:cNvGrpSpPr/>
          <p:nvPr/>
        </p:nvGrpSpPr>
        <p:grpSpPr>
          <a:xfrm>
            <a:off x="3566160" y="3273552"/>
            <a:ext cx="2606040" cy="676656"/>
            <a:chOff x="3566160" y="3273552"/>
            <a:chExt cx="2606040" cy="676656"/>
          </a:xfrm>
        </p:grpSpPr>
        <p:sp>
          <p:nvSpPr>
            <p:cNvPr id="28" name="Shape 21"/>
            <p:cNvSpPr/>
            <p:nvPr/>
          </p:nvSpPr>
          <p:spPr>
            <a:xfrm>
              <a:off x="3566160" y="3273552"/>
              <a:ext cx="2606040" cy="676656"/>
            </a:xfrm>
            <a:prstGeom prst="roundRect">
              <a:avLst>
                <a:gd name="adj" fmla="val 10811"/>
              </a:avLst>
            </a:prstGeom>
            <a:solidFill>
              <a:srgbClr val="15233B"/>
            </a:solidFill>
            <a:ln/>
            <a:effectLst>
              <a:outerShdw blurRad="88900" dist="38100" dir="5400000" algn="bl" rotWithShape="0">
                <a:srgbClr val="000000">
                  <a:alpha val="14000"/>
                </a:srgbClr>
              </a:outerShdw>
            </a:effectLst>
          </p:spPr>
          <p:txBody>
            <a:bodyPr/>
            <a:lstStyle/>
            <a:p>
              <a:endParaRPr lang="en-GB"/>
            </a:p>
          </p:txBody>
        </p:sp>
        <p:sp>
          <p:nvSpPr>
            <p:cNvPr id="29" name="Shape 22"/>
            <p:cNvSpPr/>
            <p:nvPr/>
          </p:nvSpPr>
          <p:spPr>
            <a:xfrm>
              <a:off x="3712464" y="3401568"/>
              <a:ext cx="420624" cy="420624"/>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30" name="Image 5" descr="preencoded.png"/>
            <p:cNvPicPr>
              <a:picLocks noChangeAspect="1"/>
            </p:cNvPicPr>
            <p:nvPr/>
          </p:nvPicPr>
          <p:blipFill>
            <a:blip r:embed="rId7"/>
            <a:stretch>
              <a:fillRect/>
            </a:stretch>
          </p:blipFill>
          <p:spPr>
            <a:xfrm>
              <a:off x="3826032" y="3515136"/>
              <a:ext cx="193487" cy="193487"/>
            </a:xfrm>
            <a:prstGeom prst="rect">
              <a:avLst/>
            </a:prstGeom>
          </p:spPr>
        </p:pic>
        <p:sp>
          <p:nvSpPr>
            <p:cNvPr id="31" name="Text 23"/>
            <p:cNvSpPr/>
            <p:nvPr/>
          </p:nvSpPr>
          <p:spPr>
            <a:xfrm>
              <a:off x="4242816" y="3273552"/>
              <a:ext cx="1828800" cy="676656"/>
            </a:xfrm>
            <a:prstGeom prst="rect">
              <a:avLst/>
            </a:prstGeom>
            <a:noFill/>
            <a:ln/>
          </p:spPr>
          <p:txBody>
            <a:bodyPr wrap="square" lIns="0" tIns="0" rIns="0" bIns="0" rtlCol="0" anchor="ctr"/>
            <a:lstStyle/>
            <a:p>
              <a:pPr marL="0" indent="0">
                <a:lnSpc>
                  <a:spcPct val="92000"/>
                </a:lnSpc>
                <a:buNone/>
              </a:pPr>
              <a:r>
                <a:rPr lang="en-US" sz="1200" b="1" dirty="0">
                  <a:solidFill>
                    <a:srgbClr val="FFFFFF"/>
                  </a:solidFill>
                  <a:latin typeface="Calibri" pitchFamily="34" charset="0"/>
                  <a:ea typeface="Calibri" pitchFamily="34" charset="-122"/>
                  <a:cs typeface="Calibri" pitchFamily="34" charset="-120"/>
                </a:rPr>
                <a:t>Unify + rerank</a:t>
              </a:r>
              <a:endParaRPr lang="en-US" sz="1200" dirty="0"/>
            </a:p>
            <a:p>
              <a:pPr marL="0" indent="0">
                <a:lnSpc>
                  <a:spcPct val="92000"/>
                </a:lnSpc>
                <a:buNone/>
              </a:pPr>
              <a:r>
                <a:rPr lang="en-US" sz="950" dirty="0">
                  <a:solidFill>
                    <a:srgbClr val="C8D2E2"/>
                  </a:solidFill>
                  <a:latin typeface="Calibri" pitchFamily="34" charset="0"/>
                  <a:ea typeface="Calibri" pitchFamily="34" charset="-122"/>
                  <a:cs typeface="Calibri" pitchFamily="34" charset="-120"/>
                </a:rPr>
                <a:t>Cross-encoder · Cohere Rerank</a:t>
              </a:r>
              <a:endParaRPr lang="en-US" sz="1200" dirty="0"/>
            </a:p>
          </p:txBody>
        </p:sp>
      </p:grpSp>
      <p:sp>
        <p:nvSpPr>
          <p:cNvPr id="32" name="Text 24"/>
          <p:cNvSpPr/>
          <p:nvPr/>
        </p:nvSpPr>
        <p:spPr>
          <a:xfrm>
            <a:off x="3566160" y="4114800"/>
            <a:ext cx="2606040" cy="502920"/>
          </a:xfrm>
          <a:prstGeom prst="rect">
            <a:avLst/>
          </a:prstGeom>
          <a:noFill/>
          <a:ln/>
        </p:spPr>
        <p:txBody>
          <a:bodyPr wrap="square" lIns="0" tIns="0" rIns="0" bIns="0" rtlCol="0" anchor="ctr"/>
          <a:lstStyle/>
          <a:p>
            <a:pPr marL="0" indent="0" algn="ctr">
              <a:lnSpc>
                <a:spcPct val="95000"/>
              </a:lnSpc>
              <a:buNone/>
            </a:pPr>
            <a:r>
              <a:rPr lang="en-US" sz="950" i="1" dirty="0">
                <a:solidFill>
                  <a:srgbClr val="5B6B82"/>
                </a:solidFill>
                <a:latin typeface="Calibri" pitchFamily="34" charset="0"/>
                <a:ea typeface="Calibri" pitchFamily="34" charset="-122"/>
                <a:cs typeface="Calibri" pitchFamily="34" charset="-120"/>
              </a:rPr>
              <a:t>Two complementary routes, merged and reranked by relevance.</a:t>
            </a:r>
            <a:endParaRPr lang="en-US" sz="950" dirty="0"/>
          </a:p>
        </p:txBody>
      </p:sp>
      <p:sp>
        <p:nvSpPr>
          <p:cNvPr id="33" name="Text 25"/>
          <p:cNvSpPr/>
          <p:nvPr/>
        </p:nvSpPr>
        <p:spPr>
          <a:xfrm>
            <a:off x="6492240" y="1371600"/>
            <a:ext cx="2148840" cy="256032"/>
          </a:xfrm>
          <a:prstGeom prst="rect">
            <a:avLst/>
          </a:prstGeom>
          <a:noFill/>
          <a:ln/>
        </p:spPr>
        <p:txBody>
          <a:bodyPr wrap="square" lIns="0" tIns="0" rIns="0" bIns="0" rtlCol="0" anchor="ctr"/>
          <a:lstStyle/>
          <a:p>
            <a:pPr marL="0" indent="0" algn="ctr">
              <a:buNone/>
            </a:pPr>
            <a:r>
              <a:rPr lang="en-US" sz="1150" b="1" kern="0" spc="100" dirty="0">
                <a:solidFill>
                  <a:srgbClr val="3E5C8A"/>
                </a:solidFill>
                <a:latin typeface="Calibri" pitchFamily="34" charset="0"/>
                <a:ea typeface="Calibri" pitchFamily="34" charset="-122"/>
                <a:cs typeface="Calibri" pitchFamily="34" charset="-120"/>
              </a:rPr>
              <a:t>GENERATION</a:t>
            </a:r>
            <a:endParaRPr lang="en-US" sz="1150" dirty="0"/>
          </a:p>
        </p:txBody>
      </p:sp>
      <p:sp>
        <p:nvSpPr>
          <p:cNvPr id="34" name="Shape 26"/>
          <p:cNvSpPr/>
          <p:nvPr/>
        </p:nvSpPr>
        <p:spPr>
          <a:xfrm>
            <a:off x="6492240" y="1700784"/>
            <a:ext cx="2148840" cy="2249424"/>
          </a:xfrm>
          <a:prstGeom prst="roundRect">
            <a:avLst>
              <a:gd name="adj" fmla="val 4255"/>
            </a:avLst>
          </a:prstGeom>
          <a:solidFill>
            <a:srgbClr val="F6ECD8"/>
          </a:solidFill>
          <a:ln w="15875">
            <a:solidFill>
              <a:srgbClr val="C9882E"/>
            </a:solidFill>
            <a:prstDash val="solid"/>
          </a:ln>
          <a:effectLst>
            <a:outerShdw blurRad="88900" dist="38100" dir="5400000" algn="bl" rotWithShape="0">
              <a:srgbClr val="000000">
                <a:alpha val="10000"/>
              </a:srgbClr>
            </a:outerShdw>
          </a:effectLst>
        </p:spPr>
        <p:txBody>
          <a:bodyPr/>
          <a:lstStyle/>
          <a:p>
            <a:endParaRPr lang="en-GB"/>
          </a:p>
        </p:txBody>
      </p:sp>
      <p:sp>
        <p:nvSpPr>
          <p:cNvPr id="35" name="Shape 27"/>
          <p:cNvSpPr/>
          <p:nvPr/>
        </p:nvSpPr>
        <p:spPr>
          <a:xfrm>
            <a:off x="7301484" y="1883664"/>
            <a:ext cx="530352" cy="530352"/>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36" name="Image 6" descr="preencoded.png"/>
          <p:cNvPicPr>
            <a:picLocks noChangeAspect="1"/>
          </p:cNvPicPr>
          <p:nvPr/>
        </p:nvPicPr>
        <p:blipFill>
          <a:blip r:embed="rId8"/>
          <a:stretch>
            <a:fillRect/>
          </a:stretch>
        </p:blipFill>
        <p:spPr>
          <a:xfrm>
            <a:off x="7444679" y="2026859"/>
            <a:ext cx="243962" cy="243962"/>
          </a:xfrm>
          <a:prstGeom prst="rect">
            <a:avLst/>
          </a:prstGeom>
        </p:spPr>
      </p:pic>
      <p:sp>
        <p:nvSpPr>
          <p:cNvPr id="37" name="Text 28"/>
          <p:cNvSpPr/>
          <p:nvPr/>
        </p:nvSpPr>
        <p:spPr>
          <a:xfrm>
            <a:off x="6492240" y="2432304"/>
            <a:ext cx="2148840" cy="274320"/>
          </a:xfrm>
          <a:prstGeom prst="rect">
            <a:avLst/>
          </a:prstGeom>
          <a:noFill/>
          <a:ln/>
        </p:spPr>
        <p:txBody>
          <a:bodyPr wrap="square" lIns="0" tIns="0" rIns="0" bIns="0" rtlCol="0" anchor="ctr"/>
          <a:lstStyle/>
          <a:p>
            <a:pPr marL="0" indent="0" algn="ctr">
              <a:buNone/>
            </a:pPr>
            <a:r>
              <a:rPr lang="en-US" sz="1250" b="1" dirty="0">
                <a:solidFill>
                  <a:srgbClr val="A66E22"/>
                </a:solidFill>
                <a:latin typeface="Calibri" pitchFamily="34" charset="0"/>
                <a:ea typeface="Calibri" pitchFamily="34" charset="-122"/>
                <a:cs typeface="Calibri" pitchFamily="34" charset="-120"/>
              </a:rPr>
              <a:t>gpt-4o-mini</a:t>
            </a:r>
            <a:endParaRPr lang="en-US" sz="1250" dirty="0"/>
          </a:p>
        </p:txBody>
      </p:sp>
      <p:sp>
        <p:nvSpPr>
          <p:cNvPr id="38" name="Text 29"/>
          <p:cNvSpPr/>
          <p:nvPr/>
        </p:nvSpPr>
        <p:spPr>
          <a:xfrm>
            <a:off x="6601968" y="2743200"/>
            <a:ext cx="1947672" cy="384048"/>
          </a:xfrm>
          <a:prstGeom prst="rect">
            <a:avLst/>
          </a:prstGeom>
          <a:noFill/>
          <a:ln/>
        </p:spPr>
        <p:txBody>
          <a:bodyPr wrap="square" lIns="0" tIns="0" rIns="0" bIns="0" rtlCol="0" anchor="ctr"/>
          <a:lstStyle/>
          <a:p>
            <a:pPr marL="0" indent="0">
              <a:lnSpc>
                <a:spcPct val="92000"/>
              </a:lnSpc>
              <a:buNone/>
            </a:pPr>
            <a:r>
              <a:rPr lang="en-US" sz="1050" b="1" dirty="0">
                <a:solidFill>
                  <a:srgbClr val="C9882E"/>
                </a:solidFill>
                <a:latin typeface="Calibri" pitchFamily="34" charset="0"/>
                <a:ea typeface="Calibri" pitchFamily="34" charset="-122"/>
                <a:cs typeface="Calibri" pitchFamily="34" charset="-120"/>
              </a:rPr>
              <a:t>•  </a:t>
            </a:r>
            <a:r>
              <a:rPr lang="en-US" sz="1050" dirty="0">
                <a:solidFill>
                  <a:srgbClr val="1E2B45"/>
                </a:solidFill>
                <a:latin typeface="Calibri" pitchFamily="34" charset="0"/>
                <a:ea typeface="Calibri" pitchFamily="34" charset="-122"/>
                <a:cs typeface="Calibri" pitchFamily="34" charset="-120"/>
              </a:rPr>
              <a:t>Simple language (Romanian)</a:t>
            </a:r>
            <a:endParaRPr lang="en-US" sz="1050" dirty="0"/>
          </a:p>
        </p:txBody>
      </p:sp>
      <p:sp>
        <p:nvSpPr>
          <p:cNvPr id="39" name="Text 30"/>
          <p:cNvSpPr/>
          <p:nvPr/>
        </p:nvSpPr>
        <p:spPr>
          <a:xfrm>
            <a:off x="6601968" y="3127248"/>
            <a:ext cx="1947672" cy="384048"/>
          </a:xfrm>
          <a:prstGeom prst="rect">
            <a:avLst/>
          </a:prstGeom>
          <a:noFill/>
          <a:ln/>
        </p:spPr>
        <p:txBody>
          <a:bodyPr wrap="square" lIns="0" tIns="0" rIns="0" bIns="0" rtlCol="0" anchor="ctr"/>
          <a:lstStyle/>
          <a:p>
            <a:pPr marL="0" indent="0">
              <a:lnSpc>
                <a:spcPct val="92000"/>
              </a:lnSpc>
              <a:buNone/>
            </a:pPr>
            <a:r>
              <a:rPr lang="en-US" sz="1050" b="1" dirty="0">
                <a:solidFill>
                  <a:srgbClr val="C9882E"/>
                </a:solidFill>
                <a:latin typeface="Calibri" pitchFamily="34" charset="0"/>
                <a:ea typeface="Calibri" pitchFamily="34" charset="-122"/>
                <a:cs typeface="Calibri" pitchFamily="34" charset="-120"/>
              </a:rPr>
              <a:t>•  </a:t>
            </a:r>
            <a:r>
              <a:rPr lang="en-US" sz="1050" dirty="0">
                <a:solidFill>
                  <a:srgbClr val="1E2B45"/>
                </a:solidFill>
                <a:latin typeface="Calibri" pitchFamily="34" charset="0"/>
                <a:ea typeface="Calibri" pitchFamily="34" charset="-122"/>
                <a:cs typeface="Calibri" pitchFamily="34" charset="-120"/>
              </a:rPr>
              <a:t>Strictly from the retrieved context</a:t>
            </a:r>
            <a:endParaRPr lang="en-US" sz="1050" dirty="0"/>
          </a:p>
        </p:txBody>
      </p:sp>
      <p:sp>
        <p:nvSpPr>
          <p:cNvPr id="40" name="Text 31"/>
          <p:cNvSpPr/>
          <p:nvPr/>
        </p:nvSpPr>
        <p:spPr>
          <a:xfrm>
            <a:off x="6601968" y="3511296"/>
            <a:ext cx="1947672" cy="384048"/>
          </a:xfrm>
          <a:prstGeom prst="rect">
            <a:avLst/>
          </a:prstGeom>
          <a:noFill/>
          <a:ln/>
        </p:spPr>
        <p:txBody>
          <a:bodyPr wrap="square" lIns="0" tIns="0" rIns="0" bIns="0" rtlCol="0" anchor="ctr"/>
          <a:lstStyle/>
          <a:p>
            <a:pPr marL="0" indent="0">
              <a:lnSpc>
                <a:spcPct val="92000"/>
              </a:lnSpc>
              <a:buNone/>
            </a:pPr>
            <a:r>
              <a:rPr lang="en-US" sz="1050" b="1" dirty="0">
                <a:solidFill>
                  <a:srgbClr val="C9882E"/>
                </a:solidFill>
                <a:latin typeface="Calibri" pitchFamily="34" charset="0"/>
                <a:ea typeface="Calibri" pitchFamily="34" charset="-122"/>
                <a:cs typeface="Calibri" pitchFamily="34" charset="-120"/>
              </a:rPr>
              <a:t>•  </a:t>
            </a:r>
            <a:r>
              <a:rPr lang="en-US" sz="1050" dirty="0">
                <a:solidFill>
                  <a:srgbClr val="1E2B45"/>
                </a:solidFill>
                <a:latin typeface="Calibri" pitchFamily="34" charset="0"/>
                <a:ea typeface="Calibri" pitchFamily="34" charset="-122"/>
                <a:cs typeface="Calibri" pitchFamily="34" charset="-120"/>
              </a:rPr>
              <a:t>Citation [n] after each statement</a:t>
            </a:r>
            <a:endParaRPr lang="en-US" sz="1050" dirty="0"/>
          </a:p>
        </p:txBody>
      </p:sp>
      <p:sp>
        <p:nvSpPr>
          <p:cNvPr id="41" name="Shape 32"/>
          <p:cNvSpPr/>
          <p:nvPr/>
        </p:nvSpPr>
        <p:spPr>
          <a:xfrm flipV="1">
            <a:off x="3271377" y="2039112"/>
            <a:ext cx="258207" cy="1618488"/>
          </a:xfrm>
          <a:prstGeom prst="line">
            <a:avLst/>
          </a:prstGeom>
          <a:noFill/>
          <a:ln w="22225">
            <a:solidFill>
              <a:srgbClr val="C9882E"/>
            </a:solidFill>
            <a:prstDash val="solid"/>
            <a:tailEnd type="triangle"/>
          </a:ln>
        </p:spPr>
        <p:txBody>
          <a:bodyPr/>
          <a:lstStyle/>
          <a:p>
            <a:endParaRPr lang="en-GB"/>
          </a:p>
        </p:txBody>
      </p:sp>
      <p:sp>
        <p:nvSpPr>
          <p:cNvPr id="42" name="Shape 33"/>
          <p:cNvSpPr/>
          <p:nvPr/>
        </p:nvSpPr>
        <p:spPr>
          <a:xfrm flipV="1">
            <a:off x="6208342" y="2731443"/>
            <a:ext cx="234911" cy="914400"/>
          </a:xfrm>
          <a:prstGeom prst="line">
            <a:avLst/>
          </a:prstGeom>
          <a:noFill/>
          <a:ln w="22225">
            <a:solidFill>
              <a:srgbClr val="C9882E"/>
            </a:solidFill>
            <a:prstDash val="solid"/>
            <a:tailEnd type="triangle"/>
          </a:ln>
        </p:spPr>
        <p:txBody>
          <a:bodyPr/>
          <a:lstStyle/>
          <a:p>
            <a:endParaRPr lang="en-GB"/>
          </a:p>
        </p:txBody>
      </p:sp>
      <p:sp>
        <p:nvSpPr>
          <p:cNvPr id="44" name="Text 35"/>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5</a:t>
            </a:r>
            <a:endParaRPr lang="en-US" sz="1000" dirty="0"/>
          </a:p>
        </p:txBody>
      </p:sp>
      <p:sp>
        <p:nvSpPr>
          <p:cNvPr id="45" name="Shape 32">
            <a:extLst>
              <a:ext uri="{FF2B5EF4-FFF2-40B4-BE49-F238E27FC236}">
                <a16:creationId xmlns:a16="http://schemas.microsoft.com/office/drawing/2014/main" id="{35DF1A89-B7F6-D179-8BA8-CDE596968A8D}"/>
              </a:ext>
            </a:extLst>
          </p:cNvPr>
          <p:cNvSpPr/>
          <p:nvPr/>
        </p:nvSpPr>
        <p:spPr>
          <a:xfrm>
            <a:off x="1887148" y="2377440"/>
            <a:ext cx="0" cy="109727"/>
          </a:xfrm>
          <a:prstGeom prst="line">
            <a:avLst/>
          </a:prstGeom>
          <a:noFill/>
          <a:ln w="22225">
            <a:solidFill>
              <a:srgbClr val="C9882E"/>
            </a:solidFill>
            <a:prstDash val="solid"/>
            <a:tailEnd type="triangle"/>
          </a:ln>
        </p:spPr>
        <p:txBody>
          <a:bodyPr/>
          <a:lstStyle/>
          <a:p>
            <a:endParaRPr lang="en-GB"/>
          </a:p>
        </p:txBody>
      </p:sp>
      <p:sp>
        <p:nvSpPr>
          <p:cNvPr id="46" name="Shape 32">
            <a:extLst>
              <a:ext uri="{FF2B5EF4-FFF2-40B4-BE49-F238E27FC236}">
                <a16:creationId xmlns:a16="http://schemas.microsoft.com/office/drawing/2014/main" id="{2B57308E-4151-0B3F-2F9D-626551939DB2}"/>
              </a:ext>
            </a:extLst>
          </p:cNvPr>
          <p:cNvSpPr/>
          <p:nvPr/>
        </p:nvSpPr>
        <p:spPr>
          <a:xfrm>
            <a:off x="1887148" y="3163825"/>
            <a:ext cx="0" cy="109727"/>
          </a:xfrm>
          <a:prstGeom prst="line">
            <a:avLst/>
          </a:prstGeom>
          <a:noFill/>
          <a:ln w="22225">
            <a:solidFill>
              <a:srgbClr val="C9882E"/>
            </a:solidFill>
            <a:prstDash val="solid"/>
            <a:tailEnd type="triangle"/>
          </a:ln>
        </p:spPr>
        <p:txBody>
          <a:bodyPr/>
          <a:lstStyle/>
          <a:p>
            <a:endParaRPr lang="en-GB"/>
          </a:p>
        </p:txBody>
      </p:sp>
      <p:sp>
        <p:nvSpPr>
          <p:cNvPr id="47" name="Shape 32">
            <a:extLst>
              <a:ext uri="{FF2B5EF4-FFF2-40B4-BE49-F238E27FC236}">
                <a16:creationId xmlns:a16="http://schemas.microsoft.com/office/drawing/2014/main" id="{3F1A4A34-EA03-A6B3-9B30-266EA8EA6AC1}"/>
              </a:ext>
            </a:extLst>
          </p:cNvPr>
          <p:cNvSpPr/>
          <p:nvPr/>
        </p:nvSpPr>
        <p:spPr>
          <a:xfrm>
            <a:off x="4179069" y="2377440"/>
            <a:ext cx="14759" cy="893498"/>
          </a:xfrm>
          <a:prstGeom prst="line">
            <a:avLst/>
          </a:prstGeom>
          <a:noFill/>
          <a:ln w="22225">
            <a:solidFill>
              <a:srgbClr val="C9882E"/>
            </a:solidFill>
            <a:prstDash val="solid"/>
            <a:tailEnd type="triangle"/>
          </a:ln>
        </p:spPr>
        <p:txBody>
          <a:bodyPr/>
          <a:lstStyle/>
          <a:p>
            <a:endParaRPr lang="en-GB"/>
          </a:p>
        </p:txBody>
      </p:sp>
      <p:sp>
        <p:nvSpPr>
          <p:cNvPr id="48" name="Shape 32">
            <a:extLst>
              <a:ext uri="{FF2B5EF4-FFF2-40B4-BE49-F238E27FC236}">
                <a16:creationId xmlns:a16="http://schemas.microsoft.com/office/drawing/2014/main" id="{F7647909-1ADE-1F25-1BB7-3D740E3585AD}"/>
              </a:ext>
            </a:extLst>
          </p:cNvPr>
          <p:cNvSpPr/>
          <p:nvPr/>
        </p:nvSpPr>
        <p:spPr>
          <a:xfrm flipH="1">
            <a:off x="5558856" y="3166437"/>
            <a:ext cx="0" cy="104501"/>
          </a:xfrm>
          <a:prstGeom prst="line">
            <a:avLst/>
          </a:prstGeom>
          <a:noFill/>
          <a:ln w="22225">
            <a:solidFill>
              <a:srgbClr val="C9882E"/>
            </a:solidFill>
            <a:prstDash val="solid"/>
            <a:tailEnd type="triangle"/>
          </a:ln>
        </p:spPr>
        <p:txBody>
          <a:bodyPr/>
          <a:lstStyle/>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MODULE 1 · EVALUATION</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Level 1 — routing · Level 2 — retrieval</a:t>
            </a:r>
            <a:endParaRPr lang="en-US" sz="29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Evaluation set: 220 questions (110 covered, 110 uncovered), evenly distributed across lessons.</a:t>
            </a:r>
            <a:endParaRPr lang="en-US" sz="1250" dirty="0"/>
          </a:p>
        </p:txBody>
      </p:sp>
      <p:sp>
        <p:nvSpPr>
          <p:cNvPr id="6" name="Text 4"/>
          <p:cNvSpPr/>
          <p:nvPr/>
        </p:nvSpPr>
        <p:spPr>
          <a:xfrm>
            <a:off x="502920" y="1792224"/>
            <a:ext cx="3931920" cy="274320"/>
          </a:xfrm>
          <a:prstGeom prst="rect">
            <a:avLst/>
          </a:prstGeom>
          <a:noFill/>
          <a:ln/>
        </p:spPr>
        <p:txBody>
          <a:bodyPr wrap="square" lIns="0" tIns="0" rIns="0" bIns="0" rtlCol="0" anchor="ctr"/>
          <a:lstStyle/>
          <a:p>
            <a:pPr marL="0" indent="0">
              <a:buNone/>
            </a:pPr>
            <a:r>
              <a:rPr lang="en-US" sz="1250" b="1" kern="0" spc="50" dirty="0">
                <a:solidFill>
                  <a:srgbClr val="3E5C8A"/>
                </a:solidFill>
                <a:latin typeface="Calibri" pitchFamily="34" charset="0"/>
                <a:ea typeface="Calibri" pitchFamily="34" charset="-122"/>
                <a:cs typeface="Calibri" pitchFamily="34" charset="-120"/>
              </a:rPr>
              <a:t>ROUTING — accuracy &amp; F₁ score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3931920" cy="1645920"/>
        </p:xfrm>
        <a:graphic>
          <a:graphicData uri="http://schemas.openxmlformats.org/drawingml/2006/table">
            <a:tbl>
              <a:tblPr/>
              <a:tblGrid>
                <a:gridCol w="21945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B45"/>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B45"/>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F₁</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B45"/>
                    </a:solidFill>
                  </a:tcPr>
                </a:tc>
                <a:extLst>
                  <a:ext uri="{0D108BD9-81ED-4DB2-BD59-A6C34878D82A}">
                    <a16:rowId xmlns:a16="http://schemas.microsoft.com/office/drawing/2014/main" val="10000"/>
                  </a:ext>
                </a:extLst>
              </a:tr>
              <a:tr h="420624">
                <a:tc>
                  <a:txBody>
                    <a:bodyPr/>
                    <a:lstStyle/>
                    <a:p>
                      <a:pPr marL="0" indent="0" algn="ctr">
                        <a:buNone/>
                      </a:pPr>
                      <a:r>
                        <a:rPr lang="en-US" sz="1150" dirty="0">
                          <a:solidFill>
                            <a:srgbClr val="1E2B45"/>
                          </a:solidFill>
                          <a:latin typeface="Calibri" pitchFamily="34" charset="0"/>
                          <a:ea typeface="Calibri" pitchFamily="34" charset="-122"/>
                          <a:cs typeface="Calibri" pitchFamily="34" charset="-120"/>
                        </a:rPr>
                        <a:t>Stage A — domain routing</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marL="0" indent="0" algn="ctr">
                        <a:buNone/>
                      </a:pPr>
                      <a:r>
                        <a:rPr lang="en-US" sz="1150" dirty="0">
                          <a:solidFill>
                            <a:srgbClr val="1E2B45"/>
                          </a:solidFill>
                          <a:latin typeface="Calibri" pitchFamily="34" charset="0"/>
                          <a:ea typeface="Calibri" pitchFamily="34" charset="-122"/>
                          <a:cs typeface="Calibri" pitchFamily="34" charset="-120"/>
                        </a:rPr>
                        <a:t>98.2%</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marL="0" indent="0" algn="ctr">
                        <a:buNone/>
                      </a:pPr>
                      <a:r>
                        <a:rPr lang="en-US" sz="1150" dirty="0">
                          <a:solidFill>
                            <a:srgbClr val="1E2B45"/>
                          </a:solidFill>
                          <a:latin typeface="Calibri" pitchFamily="34" charset="0"/>
                          <a:ea typeface="Calibri" pitchFamily="34" charset="-122"/>
                          <a:cs typeface="Calibri" pitchFamily="34" charset="-120"/>
                        </a:rPr>
                        <a:t>98.9%</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1"/>
                  </a:ext>
                </a:extLst>
              </a:tr>
              <a:tr h="420624">
                <a:tc>
                  <a:txBody>
                    <a:bodyPr/>
                    <a:lstStyle/>
                    <a:p>
                      <a:pPr marL="0" indent="0" algn="ctr">
                        <a:buNone/>
                      </a:pPr>
                      <a:r>
                        <a:rPr lang="en-US" sz="1150" dirty="0">
                          <a:solidFill>
                            <a:srgbClr val="1E2B45"/>
                          </a:solidFill>
                          <a:latin typeface="Calibri" pitchFamily="34" charset="0"/>
                          <a:ea typeface="Calibri" pitchFamily="34" charset="-122"/>
                          <a:cs typeface="Calibri" pitchFamily="34" charset="-120"/>
                        </a:rPr>
                        <a:t>Stage B — coverage check</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marL="0" indent="0" algn="ctr">
                        <a:buNone/>
                      </a:pPr>
                      <a:r>
                        <a:rPr lang="en-US" sz="1150" dirty="0">
                          <a:solidFill>
                            <a:srgbClr val="1E2B45"/>
                          </a:solidFill>
                          <a:latin typeface="Calibri" pitchFamily="34" charset="0"/>
                          <a:ea typeface="Calibri" pitchFamily="34" charset="-122"/>
                          <a:cs typeface="Calibri" pitchFamily="34" charset="-120"/>
                        </a:rPr>
                        <a:t>87.2%</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marL="0" indent="0" algn="ctr">
                        <a:buNone/>
                      </a:pPr>
                      <a:r>
                        <a:rPr lang="en-US" sz="1150" dirty="0">
                          <a:solidFill>
                            <a:srgbClr val="1E2B45"/>
                          </a:solidFill>
                          <a:latin typeface="Calibri" pitchFamily="34" charset="0"/>
                          <a:ea typeface="Calibri" pitchFamily="34" charset="-122"/>
                          <a:cs typeface="Calibri" pitchFamily="34" charset="-120"/>
                        </a:rPr>
                        <a:t>92.5%</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420624">
                <a:tc>
                  <a:txBody>
                    <a:bodyPr/>
                    <a:lstStyle/>
                    <a:p>
                      <a:pPr marL="0" indent="0" algn="ctr">
                        <a:buNone/>
                      </a:pPr>
                      <a:r>
                        <a:rPr lang="en-US" sz="1150" b="1" dirty="0">
                          <a:solidFill>
                            <a:srgbClr val="1E2B45"/>
                          </a:solidFill>
                          <a:latin typeface="Calibri" pitchFamily="34" charset="0"/>
                          <a:ea typeface="Calibri" pitchFamily="34" charset="-122"/>
                          <a:cs typeface="Calibri" pitchFamily="34" charset="-120"/>
                        </a:rPr>
                        <a:t>Final routing (A + B)</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marL="0" indent="0" algn="ctr">
                        <a:buNone/>
                      </a:pPr>
                      <a:r>
                        <a:rPr lang="en-US" sz="1150" b="1" dirty="0">
                          <a:solidFill>
                            <a:srgbClr val="1E2B45"/>
                          </a:solidFill>
                          <a:latin typeface="Calibri" pitchFamily="34" charset="0"/>
                          <a:ea typeface="Calibri" pitchFamily="34" charset="-122"/>
                          <a:cs typeface="Calibri" pitchFamily="34" charset="-120"/>
                        </a:rPr>
                        <a:t>85.5%</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marL="0" indent="0" algn="ctr">
                        <a:buNone/>
                      </a:pPr>
                      <a:r>
                        <a:rPr lang="en-US" sz="1150" b="1" dirty="0">
                          <a:solidFill>
                            <a:srgbClr val="1E2B45"/>
                          </a:solidFill>
                          <a:latin typeface="Calibri" pitchFamily="34" charset="0"/>
                          <a:ea typeface="Calibri" pitchFamily="34" charset="-122"/>
                          <a:cs typeface="Calibri" pitchFamily="34" charset="-120"/>
                        </a:rPr>
                        <a:t>91.3%</a:t>
                      </a:r>
                      <a:endParaRPr lang="en-US" sz="1150" dirty="0">
                        <a:latin typeface="Calibri" charset="0"/>
                        <a:ea typeface="Calibri" charset="0"/>
                        <a:cs typeface="Calibri" charset="0"/>
                      </a:endParaRPr>
                    </a:p>
                  </a:txBody>
                  <a:tcPr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3"/>
                  </a:ext>
                </a:extLst>
              </a:tr>
            </a:tbl>
          </a:graphicData>
        </a:graphic>
      </p:graphicFrame>
      <p:sp>
        <p:nvSpPr>
          <p:cNvPr id="9" name="Text 6"/>
          <p:cNvSpPr/>
          <p:nvPr/>
        </p:nvSpPr>
        <p:spPr>
          <a:xfrm>
            <a:off x="4846320" y="1792224"/>
            <a:ext cx="2651760" cy="274320"/>
          </a:xfrm>
          <a:prstGeom prst="rect">
            <a:avLst/>
          </a:prstGeom>
          <a:noFill/>
          <a:ln/>
        </p:spPr>
        <p:txBody>
          <a:bodyPr wrap="square" lIns="0" tIns="0" rIns="0" bIns="0" rtlCol="0" anchor="ctr"/>
          <a:lstStyle/>
          <a:p>
            <a:pPr marL="0" indent="0">
              <a:buNone/>
            </a:pPr>
            <a:r>
              <a:rPr lang="en-US" sz="1250" b="1" kern="0" spc="50" dirty="0">
                <a:solidFill>
                  <a:srgbClr val="3E5C8A"/>
                </a:solidFill>
                <a:latin typeface="Calibri" pitchFamily="34" charset="0"/>
                <a:ea typeface="Calibri" pitchFamily="34" charset="-122"/>
                <a:cs typeface="Calibri" pitchFamily="34" charset="-120"/>
              </a:rPr>
              <a:t>RETRIEVAL — Hit@k</a:t>
            </a:r>
            <a:endParaRPr lang="en-US" sz="1250" dirty="0"/>
          </a:p>
        </p:txBody>
      </p:sp>
      <p:graphicFrame>
        <p:nvGraphicFramePr>
          <p:cNvPr id="10" name="Chart 0"/>
          <p:cNvGraphicFramePr/>
          <p:nvPr>
            <p:extLst>
              <p:ext uri="{D42A27DB-BD31-4B8C-83A1-F6EECF244321}">
                <p14:modId xmlns:p14="http://schemas.microsoft.com/office/powerpoint/2010/main" val="1518456608"/>
              </p:ext>
            </p:extLst>
          </p:nvPr>
        </p:nvGraphicFramePr>
        <p:xfrm>
          <a:off x="4754880" y="2103120"/>
          <a:ext cx="269748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7"/>
          <p:cNvSpPr/>
          <p:nvPr/>
        </p:nvSpPr>
        <p:spPr>
          <a:xfrm>
            <a:off x="7635240" y="2103120"/>
            <a:ext cx="1005840" cy="1078992"/>
          </a:xfrm>
          <a:prstGeom prst="roundRect">
            <a:avLst>
              <a:gd name="adj" fmla="val 9091"/>
            </a:avLst>
          </a:prstGeom>
          <a:solidFill>
            <a:srgbClr val="15233B"/>
          </a:solidFill>
          <a:ln/>
          <a:effectLst>
            <a:outerShdw blurRad="88900" dist="38100" dir="5400000" algn="bl" rotWithShape="0">
              <a:srgbClr val="000000">
                <a:alpha val="16000"/>
              </a:srgbClr>
            </a:outerShdw>
          </a:effectLst>
        </p:spPr>
        <p:txBody>
          <a:bodyPr/>
          <a:lstStyle/>
          <a:p>
            <a:endParaRPr lang="en-GB"/>
          </a:p>
        </p:txBody>
      </p:sp>
      <p:sp>
        <p:nvSpPr>
          <p:cNvPr id="12" name="Text 8"/>
          <p:cNvSpPr/>
          <p:nvPr/>
        </p:nvSpPr>
        <p:spPr>
          <a:xfrm>
            <a:off x="7635240" y="2194560"/>
            <a:ext cx="1005840" cy="237744"/>
          </a:xfrm>
          <a:prstGeom prst="rect">
            <a:avLst/>
          </a:prstGeom>
          <a:noFill/>
          <a:ln/>
        </p:spPr>
        <p:txBody>
          <a:bodyPr wrap="square" lIns="0" tIns="0" rIns="0" bIns="0" rtlCol="0" anchor="ctr"/>
          <a:lstStyle/>
          <a:p>
            <a:pPr marL="0" indent="0" algn="ctr">
              <a:buNone/>
            </a:pPr>
            <a:r>
              <a:rPr lang="en-US" sz="1100" dirty="0">
                <a:solidFill>
                  <a:srgbClr val="AEBACB"/>
                </a:solidFill>
                <a:latin typeface="Calibri" pitchFamily="34" charset="0"/>
                <a:ea typeface="Calibri" pitchFamily="34" charset="-122"/>
                <a:cs typeface="Calibri" pitchFamily="34" charset="-120"/>
              </a:rPr>
              <a:t>MRR</a:t>
            </a:r>
            <a:endParaRPr lang="en-US" sz="1100" dirty="0"/>
          </a:p>
        </p:txBody>
      </p:sp>
      <p:sp>
        <p:nvSpPr>
          <p:cNvPr id="13" name="Text 9"/>
          <p:cNvSpPr/>
          <p:nvPr/>
        </p:nvSpPr>
        <p:spPr>
          <a:xfrm>
            <a:off x="7635240" y="2395728"/>
            <a:ext cx="1005840" cy="502920"/>
          </a:xfrm>
          <a:prstGeom prst="rect">
            <a:avLst/>
          </a:prstGeom>
          <a:noFill/>
          <a:ln/>
        </p:spPr>
        <p:txBody>
          <a:bodyPr wrap="square" lIns="0" tIns="0" rIns="0" bIns="0" rtlCol="0" anchor="ctr"/>
          <a:lstStyle/>
          <a:p>
            <a:pPr marL="0" indent="0" algn="ctr">
              <a:buNone/>
            </a:pPr>
            <a:r>
              <a:rPr lang="en-US" sz="2600" b="1" dirty="0">
                <a:solidFill>
                  <a:srgbClr val="C9882E"/>
                </a:solidFill>
                <a:latin typeface="Cambria" pitchFamily="34" charset="0"/>
                <a:ea typeface="Cambria" pitchFamily="34" charset="-122"/>
                <a:cs typeface="Cambria" pitchFamily="34" charset="-120"/>
              </a:rPr>
              <a:t>0.886</a:t>
            </a:r>
            <a:endParaRPr lang="en-US" sz="2600" dirty="0"/>
          </a:p>
        </p:txBody>
      </p:sp>
      <p:sp>
        <p:nvSpPr>
          <p:cNvPr id="14" name="Text 10"/>
          <p:cNvSpPr/>
          <p:nvPr/>
        </p:nvSpPr>
        <p:spPr>
          <a:xfrm>
            <a:off x="7607808" y="3267021"/>
            <a:ext cx="1060704" cy="777240"/>
          </a:xfrm>
          <a:prstGeom prst="rect">
            <a:avLst/>
          </a:prstGeom>
          <a:noFill/>
          <a:ln/>
        </p:spPr>
        <p:txBody>
          <a:bodyPr wrap="square" lIns="0" tIns="0" rIns="0" bIns="0" rtlCol="0" anchor="t"/>
          <a:lstStyle/>
          <a:p>
            <a:pPr marL="0" indent="0" algn="ctr">
              <a:lnSpc>
                <a:spcPct val="95000"/>
              </a:lnSpc>
              <a:buNone/>
            </a:pPr>
            <a:r>
              <a:rPr lang="en-US" sz="850" dirty="0">
                <a:solidFill>
                  <a:srgbClr val="5B6B82"/>
                </a:solidFill>
                <a:latin typeface="Calibri" pitchFamily="34" charset="0"/>
                <a:ea typeface="Calibri" pitchFamily="34" charset="-122"/>
                <a:cs typeface="Calibri" pitchFamily="34" charset="-120"/>
              </a:rPr>
              <a:t>the most relevant result usually appears in first position</a:t>
            </a:r>
            <a:endParaRPr lang="en-US" sz="850" dirty="0"/>
          </a:p>
        </p:txBody>
      </p:sp>
      <p:sp>
        <p:nvSpPr>
          <p:cNvPr id="15" name="Text 11"/>
          <p:cNvSpPr/>
          <p:nvPr/>
        </p:nvSpPr>
        <p:spPr>
          <a:xfrm>
            <a:off x="502920" y="4169664"/>
            <a:ext cx="3886200" cy="548640"/>
          </a:xfrm>
          <a:prstGeom prst="rect">
            <a:avLst/>
          </a:prstGeom>
          <a:noFill/>
          <a:ln/>
        </p:spPr>
        <p:txBody>
          <a:bodyPr wrap="square" lIns="0" tIns="0" rIns="0" bIns="0" rtlCol="0" anchor="t"/>
          <a:lstStyle/>
          <a:p>
            <a:pPr marL="0" indent="0">
              <a:lnSpc>
                <a:spcPct val="97000"/>
              </a:lnSpc>
              <a:buNone/>
            </a:pPr>
            <a:r>
              <a:rPr lang="en-US" sz="1050" i="1" dirty="0">
                <a:solidFill>
                  <a:srgbClr val="5B6B82"/>
                </a:solidFill>
                <a:latin typeface="Calibri" pitchFamily="34" charset="0"/>
                <a:ea typeface="Calibri" pitchFamily="34" charset="-122"/>
                <a:cs typeface="Calibri" pitchFamily="34" charset="-120"/>
              </a:rPr>
              <a:t>The most relevant document is retrieved within the top 3 results in over 91% of cases — out of ~270 documents, only the top 5 are kept.</a:t>
            </a:r>
            <a:endParaRPr lang="en-US" sz="1050" dirty="0"/>
          </a:p>
        </p:txBody>
      </p:sp>
      <p:sp>
        <p:nvSpPr>
          <p:cNvPr id="16" name="Text 12"/>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MODULE 1 · EVALUATION</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Level 3 — generation: RAG vs. baseline model</a:t>
            </a:r>
            <a:endParaRPr lang="en-US" sz="2900" dirty="0"/>
          </a:p>
        </p:txBody>
      </p:sp>
      <p:sp>
        <p:nvSpPr>
          <p:cNvPr id="5" name="Text 3"/>
          <p:cNvSpPr/>
          <p:nvPr/>
        </p:nvSpPr>
        <p:spPr>
          <a:xfrm>
            <a:off x="502920" y="1335024"/>
            <a:ext cx="8138160" cy="310896"/>
          </a:xfrm>
          <a:prstGeom prst="rect">
            <a:avLst/>
          </a:prstGeom>
          <a:noFill/>
          <a:ln/>
        </p:spPr>
        <p:txBody>
          <a:bodyPr wrap="square" lIns="0" tIns="0" rIns="0" bIns="0" rtlCol="0" anchor="ctr"/>
          <a:lstStyle/>
          <a:p>
            <a:pPr marL="0" indent="0">
              <a:lnSpc>
                <a:spcPct val="97000"/>
              </a:lnSpc>
              <a:buNone/>
            </a:pPr>
            <a:r>
              <a:rPr lang="en-US" sz="1200" dirty="0">
                <a:solidFill>
                  <a:srgbClr val="5B6B82"/>
                </a:solidFill>
                <a:latin typeface="Calibri" pitchFamily="34" charset="0"/>
                <a:ea typeface="Calibri" pitchFamily="34" charset="-122"/>
                <a:cs typeface="Calibri" pitchFamily="34" charset="-120"/>
              </a:rPr>
              <a:t>LLM-as-a-Judge — an independent evaluator (Claude Sonnet 4.6) assigns scores from 1–5. Baseline = the same gpt-4o-mini, without retrieval, answers only from parametric knowledge.</a:t>
            </a:r>
            <a:endParaRPr lang="en-US" sz="1200" dirty="0"/>
          </a:p>
        </p:txBody>
      </p:sp>
      <p:graphicFrame>
        <p:nvGraphicFramePr>
          <p:cNvPr id="6" name="Chart 0"/>
          <p:cNvGraphicFramePr/>
          <p:nvPr/>
        </p:nvGraphicFramePr>
        <p:xfrm>
          <a:off x="411480" y="1828800"/>
          <a:ext cx="571500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355080" y="1828800"/>
            <a:ext cx="2286000" cy="256032"/>
          </a:xfrm>
          <a:prstGeom prst="rect">
            <a:avLst/>
          </a:prstGeom>
          <a:noFill/>
          <a:ln/>
        </p:spPr>
        <p:txBody>
          <a:bodyPr wrap="square" lIns="0" tIns="0" rIns="0" bIns="0" rtlCol="0" anchor="ctr"/>
          <a:lstStyle/>
          <a:p>
            <a:pPr marL="0" indent="0">
              <a:buNone/>
            </a:pPr>
            <a:r>
              <a:rPr lang="en-US" sz="1150" b="1" kern="0" spc="50" dirty="0">
                <a:solidFill>
                  <a:srgbClr val="3E5C8A"/>
                </a:solidFill>
                <a:latin typeface="Calibri" pitchFamily="34" charset="0"/>
                <a:ea typeface="Calibri" pitchFamily="34" charset="-122"/>
                <a:cs typeface="Calibri" pitchFamily="34" charset="-120"/>
              </a:rPr>
              <a:t>WHERE RETRIEVAL MATTERS</a:t>
            </a:r>
            <a:endParaRPr lang="en-US" sz="1150" dirty="0"/>
          </a:p>
        </p:txBody>
      </p:sp>
      <p:sp>
        <p:nvSpPr>
          <p:cNvPr id="8" name="Shape 5"/>
          <p:cNvSpPr/>
          <p:nvPr/>
        </p:nvSpPr>
        <p:spPr>
          <a:xfrm>
            <a:off x="6355080" y="2157984"/>
            <a:ext cx="2286000" cy="749808"/>
          </a:xfrm>
          <a:prstGeom prst="roundRect">
            <a:avLst>
              <a:gd name="adj" fmla="val 9756"/>
            </a:avLst>
          </a:prstGeom>
          <a:solidFill>
            <a:srgbClr val="F4F6FA"/>
          </a:solidFill>
          <a:ln w="12700">
            <a:solidFill>
              <a:srgbClr val="D8DEE9"/>
            </a:solidFill>
            <a:prstDash val="solid"/>
          </a:ln>
        </p:spPr>
        <p:txBody>
          <a:bodyPr/>
          <a:lstStyle/>
          <a:p>
            <a:endParaRPr lang="en-GB"/>
          </a:p>
        </p:txBody>
      </p:sp>
      <p:sp>
        <p:nvSpPr>
          <p:cNvPr id="9" name="Text 6"/>
          <p:cNvSpPr/>
          <p:nvPr/>
        </p:nvSpPr>
        <p:spPr>
          <a:xfrm>
            <a:off x="6446520" y="2157984"/>
            <a:ext cx="914400" cy="749808"/>
          </a:xfrm>
          <a:prstGeom prst="rect">
            <a:avLst/>
          </a:prstGeom>
          <a:noFill/>
          <a:ln/>
        </p:spPr>
        <p:txBody>
          <a:bodyPr wrap="square" lIns="0" tIns="0" rIns="0" bIns="0" rtlCol="0" anchor="ctr"/>
          <a:lstStyle/>
          <a:p>
            <a:pPr marL="0" indent="0" algn="ctr">
              <a:buNone/>
            </a:pPr>
            <a:r>
              <a:rPr lang="en-US" sz="2300" b="1" dirty="0">
                <a:solidFill>
                  <a:srgbClr val="2E7D5B"/>
                </a:solidFill>
                <a:latin typeface="Cambria" pitchFamily="34" charset="0"/>
                <a:ea typeface="Cambria" pitchFamily="34" charset="-122"/>
                <a:cs typeface="Cambria" pitchFamily="34" charset="-120"/>
              </a:rPr>
              <a:t>+1.40</a:t>
            </a:r>
            <a:endParaRPr lang="en-US" sz="2300" dirty="0"/>
          </a:p>
        </p:txBody>
      </p:sp>
      <p:sp>
        <p:nvSpPr>
          <p:cNvPr id="10" name="Text 7"/>
          <p:cNvSpPr/>
          <p:nvPr/>
        </p:nvSpPr>
        <p:spPr>
          <a:xfrm>
            <a:off x="7543800" y="2157984"/>
            <a:ext cx="1280160" cy="749808"/>
          </a:xfrm>
          <a:prstGeom prst="rect">
            <a:avLst/>
          </a:prstGeom>
          <a:noFill/>
          <a:ln/>
        </p:spPr>
        <p:txBody>
          <a:bodyPr wrap="square" lIns="0" tIns="0" rIns="0" bIns="0" rtlCol="0" anchor="ctr"/>
          <a:lstStyle/>
          <a:p>
            <a:pPr marL="0" indent="0">
              <a:lnSpc>
                <a:spcPct val="90000"/>
              </a:lnSpc>
              <a:buNone/>
            </a:pPr>
            <a:r>
              <a:rPr lang="en-US" sz="1100" b="1" dirty="0">
                <a:solidFill>
                  <a:srgbClr val="1E2B45"/>
                </a:solidFill>
                <a:latin typeface="Calibri" pitchFamily="34" charset="0"/>
                <a:ea typeface="Calibri" pitchFamily="34" charset="-122"/>
                <a:cs typeface="Calibri" pitchFamily="34" charset="-120"/>
              </a:rPr>
              <a:t>Faithfulness</a:t>
            </a:r>
            <a:endParaRPr lang="en-US" sz="1100" dirty="0"/>
          </a:p>
          <a:p>
            <a:pPr marL="0" indent="0">
              <a:lnSpc>
                <a:spcPct val="90000"/>
              </a:lnSpc>
              <a:buNone/>
            </a:pPr>
            <a:r>
              <a:rPr lang="en-US" sz="1100" b="1" dirty="0">
                <a:solidFill>
                  <a:srgbClr val="1E2B45"/>
                </a:solidFill>
                <a:latin typeface="Calibri" pitchFamily="34" charset="0"/>
                <a:ea typeface="Calibri" pitchFamily="34" charset="-122"/>
                <a:cs typeface="Calibri" pitchFamily="34" charset="-120"/>
              </a:rPr>
              <a:t>to sources</a:t>
            </a:r>
            <a:endParaRPr lang="en-US" sz="1100" dirty="0"/>
          </a:p>
        </p:txBody>
      </p:sp>
      <p:sp>
        <p:nvSpPr>
          <p:cNvPr id="11" name="Shape 8"/>
          <p:cNvSpPr/>
          <p:nvPr/>
        </p:nvSpPr>
        <p:spPr>
          <a:xfrm>
            <a:off x="6355080" y="2999232"/>
            <a:ext cx="2286000" cy="749808"/>
          </a:xfrm>
          <a:prstGeom prst="roundRect">
            <a:avLst>
              <a:gd name="adj" fmla="val 9756"/>
            </a:avLst>
          </a:prstGeom>
          <a:solidFill>
            <a:srgbClr val="F4F6FA"/>
          </a:solidFill>
          <a:ln w="12700">
            <a:solidFill>
              <a:srgbClr val="D8DEE9"/>
            </a:solidFill>
            <a:prstDash val="solid"/>
          </a:ln>
        </p:spPr>
        <p:txBody>
          <a:bodyPr/>
          <a:lstStyle/>
          <a:p>
            <a:endParaRPr lang="en-GB"/>
          </a:p>
        </p:txBody>
      </p:sp>
      <p:sp>
        <p:nvSpPr>
          <p:cNvPr id="12" name="Text 9"/>
          <p:cNvSpPr/>
          <p:nvPr/>
        </p:nvSpPr>
        <p:spPr>
          <a:xfrm>
            <a:off x="6446520" y="2999232"/>
            <a:ext cx="914400" cy="749808"/>
          </a:xfrm>
          <a:prstGeom prst="rect">
            <a:avLst/>
          </a:prstGeom>
          <a:noFill/>
          <a:ln/>
        </p:spPr>
        <p:txBody>
          <a:bodyPr wrap="square" lIns="0" tIns="0" rIns="0" bIns="0" rtlCol="0" anchor="ctr"/>
          <a:lstStyle/>
          <a:p>
            <a:pPr marL="0" indent="0" algn="ctr">
              <a:buNone/>
            </a:pPr>
            <a:r>
              <a:rPr lang="en-US" sz="2300" b="1" dirty="0">
                <a:solidFill>
                  <a:srgbClr val="2E7D5B"/>
                </a:solidFill>
                <a:latin typeface="Cambria" pitchFamily="34" charset="0"/>
                <a:ea typeface="Cambria" pitchFamily="34" charset="-122"/>
                <a:cs typeface="Cambria" pitchFamily="34" charset="-120"/>
              </a:rPr>
              <a:t>+1.31</a:t>
            </a:r>
            <a:endParaRPr lang="en-US" sz="2300" dirty="0"/>
          </a:p>
        </p:txBody>
      </p:sp>
      <p:sp>
        <p:nvSpPr>
          <p:cNvPr id="13" name="Text 10"/>
          <p:cNvSpPr/>
          <p:nvPr/>
        </p:nvSpPr>
        <p:spPr>
          <a:xfrm>
            <a:off x="7550331" y="2986169"/>
            <a:ext cx="1280160" cy="749808"/>
          </a:xfrm>
          <a:prstGeom prst="rect">
            <a:avLst/>
          </a:prstGeom>
          <a:noFill/>
          <a:ln/>
        </p:spPr>
        <p:txBody>
          <a:bodyPr wrap="square" lIns="0" tIns="0" rIns="0" bIns="0" rtlCol="0" anchor="ctr"/>
          <a:lstStyle/>
          <a:p>
            <a:pPr marL="0" indent="0">
              <a:lnSpc>
                <a:spcPct val="90000"/>
              </a:lnSpc>
              <a:buNone/>
            </a:pPr>
            <a:r>
              <a:rPr lang="en-US" sz="1100" b="1" dirty="0">
                <a:solidFill>
                  <a:srgbClr val="1E2B45"/>
                </a:solidFill>
                <a:latin typeface="Calibri" pitchFamily="34" charset="0"/>
                <a:ea typeface="Calibri" pitchFamily="34" charset="-122"/>
                <a:cs typeface="Calibri" pitchFamily="34" charset="-120"/>
              </a:rPr>
              <a:t>Factual</a:t>
            </a:r>
            <a:endParaRPr lang="en-US" sz="1100" dirty="0"/>
          </a:p>
          <a:p>
            <a:pPr marL="0" indent="0">
              <a:lnSpc>
                <a:spcPct val="90000"/>
              </a:lnSpc>
              <a:buNone/>
            </a:pPr>
            <a:r>
              <a:rPr lang="en-US" sz="1100" b="1" dirty="0">
                <a:solidFill>
                  <a:srgbClr val="1E2B45"/>
                </a:solidFill>
                <a:latin typeface="Calibri" pitchFamily="34" charset="0"/>
                <a:ea typeface="Calibri" pitchFamily="34" charset="-122"/>
                <a:cs typeface="Calibri" pitchFamily="34" charset="-120"/>
              </a:rPr>
              <a:t>accuracy</a:t>
            </a:r>
            <a:endParaRPr lang="en-US" sz="1100" dirty="0"/>
          </a:p>
        </p:txBody>
      </p:sp>
      <p:sp>
        <p:nvSpPr>
          <p:cNvPr id="14" name="Shape 11"/>
          <p:cNvSpPr/>
          <p:nvPr/>
        </p:nvSpPr>
        <p:spPr>
          <a:xfrm>
            <a:off x="6355080" y="3840480"/>
            <a:ext cx="2286000" cy="749808"/>
          </a:xfrm>
          <a:prstGeom prst="roundRect">
            <a:avLst>
              <a:gd name="adj" fmla="val 9756"/>
            </a:avLst>
          </a:prstGeom>
          <a:solidFill>
            <a:srgbClr val="15233B"/>
          </a:solidFill>
          <a:ln/>
          <a:effectLst>
            <a:outerShdw blurRad="88900" dist="38100" dir="5400000" algn="bl" rotWithShape="0">
              <a:srgbClr val="000000">
                <a:alpha val="14000"/>
              </a:srgbClr>
            </a:outerShdw>
          </a:effectLst>
        </p:spPr>
        <p:txBody>
          <a:bodyPr/>
          <a:lstStyle/>
          <a:p>
            <a:endParaRPr lang="en-GB"/>
          </a:p>
        </p:txBody>
      </p:sp>
      <p:sp>
        <p:nvSpPr>
          <p:cNvPr id="15" name="Text 12"/>
          <p:cNvSpPr/>
          <p:nvPr/>
        </p:nvSpPr>
        <p:spPr>
          <a:xfrm>
            <a:off x="6355080" y="3913632"/>
            <a:ext cx="2286000" cy="365760"/>
          </a:xfrm>
          <a:prstGeom prst="rect">
            <a:avLst/>
          </a:prstGeom>
          <a:noFill/>
          <a:ln/>
        </p:spPr>
        <p:txBody>
          <a:bodyPr wrap="square" lIns="0" tIns="0" rIns="0" bIns="0" rtlCol="0" anchor="ctr"/>
          <a:lstStyle/>
          <a:p>
            <a:pPr marL="0" indent="0" algn="ctr">
              <a:buNone/>
            </a:pPr>
            <a:r>
              <a:rPr lang="en-US" sz="1900" b="1" dirty="0">
                <a:solidFill>
                  <a:srgbClr val="C9882E"/>
                </a:solidFill>
                <a:latin typeface="Cambria" pitchFamily="34" charset="0"/>
                <a:ea typeface="Cambria" pitchFamily="34" charset="-122"/>
                <a:cs typeface="Cambria" pitchFamily="34" charset="-120"/>
              </a:rPr>
              <a:t>3.68 → 4.45</a:t>
            </a:r>
            <a:endParaRPr lang="en-US" sz="1900" dirty="0"/>
          </a:p>
        </p:txBody>
      </p:sp>
      <p:sp>
        <p:nvSpPr>
          <p:cNvPr id="16" name="Text 13"/>
          <p:cNvSpPr/>
          <p:nvPr/>
        </p:nvSpPr>
        <p:spPr>
          <a:xfrm>
            <a:off x="6355080" y="4279392"/>
            <a:ext cx="2286000" cy="256032"/>
          </a:xfrm>
          <a:prstGeom prst="rect">
            <a:avLst/>
          </a:prstGeom>
          <a:noFill/>
          <a:ln/>
        </p:spPr>
        <p:txBody>
          <a:bodyPr wrap="square" lIns="0" tIns="0" rIns="0" bIns="0" rtlCol="0" anchor="ctr"/>
          <a:lstStyle/>
          <a:p>
            <a:pPr marL="0" indent="0" algn="ctr">
              <a:buNone/>
            </a:pPr>
            <a:r>
              <a:rPr lang="en-US" sz="1050" dirty="0">
                <a:solidFill>
                  <a:srgbClr val="C8D2E2"/>
                </a:solidFill>
                <a:latin typeface="Calibri" pitchFamily="34" charset="0"/>
                <a:ea typeface="Calibri" pitchFamily="34" charset="-122"/>
                <a:cs typeface="Calibri" pitchFamily="34" charset="-120"/>
              </a:rPr>
              <a:t>overall average  ( +0.77 )</a:t>
            </a:r>
            <a:endParaRPr lang="en-US" sz="1050" dirty="0"/>
          </a:p>
        </p:txBody>
      </p:sp>
      <p:sp>
        <p:nvSpPr>
          <p:cNvPr id="17" name="Text 14"/>
          <p:cNvSpPr/>
          <p:nvPr/>
        </p:nvSpPr>
        <p:spPr>
          <a:xfrm>
            <a:off x="873810" y="4663440"/>
            <a:ext cx="7542684" cy="365760"/>
          </a:xfrm>
          <a:prstGeom prst="rect">
            <a:avLst/>
          </a:prstGeom>
          <a:noFill/>
          <a:ln/>
        </p:spPr>
        <p:txBody>
          <a:bodyPr wrap="square" lIns="0" tIns="0" rIns="0" bIns="0" rtlCol="0" anchor="ctr"/>
          <a:lstStyle/>
          <a:p>
            <a:pPr marL="0" indent="0" algn="ctr">
              <a:lnSpc>
                <a:spcPct val="95000"/>
              </a:lnSpc>
              <a:buNone/>
            </a:pPr>
            <a:r>
              <a:rPr lang="en-US" sz="1100" i="1" dirty="0">
                <a:solidFill>
                  <a:srgbClr val="5B6B82"/>
                </a:solidFill>
                <a:latin typeface="Calibri" pitchFamily="34" charset="0"/>
                <a:ea typeface="Calibri" pitchFamily="34" charset="-122"/>
                <a:cs typeface="Calibri" pitchFamily="34" charset="-120"/>
              </a:rPr>
              <a:t>The gain comes from faithfulness and accuracy — exactly the dimensions related to factual grounding. Without retrieval, the baseline accuracy would deliver incorrect information to students.</a:t>
            </a:r>
            <a:endParaRPr lang="en-US" sz="1100" dirty="0"/>
          </a:p>
        </p:txBody>
      </p:sp>
      <p:sp>
        <p:nvSpPr>
          <p:cNvPr id="18" name="Text 15"/>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C9882E"/>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C9882E"/>
                </a:solidFill>
                <a:latin typeface="Calibri" pitchFamily="34" charset="0"/>
                <a:ea typeface="Calibri" pitchFamily="34" charset="-122"/>
                <a:cs typeface="Calibri" pitchFamily="34" charset="-120"/>
              </a:rPr>
              <a:t>MODULE 1 · EXAMPLES</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One success and one controlled failure</a:t>
            </a:r>
            <a:endParaRPr lang="en-US" sz="2900" dirty="0"/>
          </a:p>
        </p:txBody>
      </p:sp>
      <p:sp>
        <p:nvSpPr>
          <p:cNvPr id="5" name="Shape 3"/>
          <p:cNvSpPr/>
          <p:nvPr/>
        </p:nvSpPr>
        <p:spPr>
          <a:xfrm>
            <a:off x="502920" y="1362456"/>
            <a:ext cx="4114800" cy="3630168"/>
          </a:xfrm>
          <a:prstGeom prst="roundRect">
            <a:avLst>
              <a:gd name="adj" fmla="val 2817"/>
            </a:avLst>
          </a:prstGeom>
          <a:solidFill>
            <a:srgbClr val="FFFFFF"/>
          </a:solidFill>
          <a:ln w="15875">
            <a:solidFill>
              <a:srgbClr val="BBD9C7"/>
            </a:solidFill>
            <a:prstDash val="solid"/>
          </a:ln>
          <a:effectLst>
            <a:outerShdw blurRad="88900" dist="38100" dir="5400000" algn="bl" rotWithShape="0">
              <a:srgbClr val="000000">
                <a:alpha val="10000"/>
              </a:srgbClr>
            </a:outerShdw>
          </a:effectLst>
        </p:spPr>
        <p:txBody>
          <a:bodyPr/>
          <a:lstStyle/>
          <a:p>
            <a:endParaRPr lang="en-GB"/>
          </a:p>
        </p:txBody>
      </p:sp>
      <p:grpSp>
        <p:nvGrpSpPr>
          <p:cNvPr id="22" name="Group 21">
            <a:extLst>
              <a:ext uri="{FF2B5EF4-FFF2-40B4-BE49-F238E27FC236}">
                <a16:creationId xmlns:a16="http://schemas.microsoft.com/office/drawing/2014/main" id="{51886768-857D-413A-AB11-2C9DBF05A755}"/>
              </a:ext>
            </a:extLst>
          </p:cNvPr>
          <p:cNvGrpSpPr/>
          <p:nvPr/>
        </p:nvGrpSpPr>
        <p:grpSpPr>
          <a:xfrm>
            <a:off x="676656" y="1490474"/>
            <a:ext cx="3767328" cy="329184"/>
            <a:chOff x="676656" y="1609344"/>
            <a:chExt cx="3767328" cy="329184"/>
          </a:xfrm>
        </p:grpSpPr>
        <p:pic>
          <p:nvPicPr>
            <p:cNvPr id="6" name="Image 0" descr="preencoded.png"/>
            <p:cNvPicPr>
              <a:picLocks noChangeAspect="1"/>
            </p:cNvPicPr>
            <p:nvPr/>
          </p:nvPicPr>
          <p:blipFill>
            <a:blip r:embed="rId3"/>
            <a:stretch>
              <a:fillRect/>
            </a:stretch>
          </p:blipFill>
          <p:spPr>
            <a:xfrm>
              <a:off x="676656" y="1627632"/>
              <a:ext cx="292608" cy="292608"/>
            </a:xfrm>
            <a:prstGeom prst="rect">
              <a:avLst/>
            </a:prstGeom>
          </p:spPr>
        </p:pic>
        <p:sp>
          <p:nvSpPr>
            <p:cNvPr id="7" name="Text 4"/>
            <p:cNvSpPr/>
            <p:nvPr/>
          </p:nvSpPr>
          <p:spPr>
            <a:xfrm>
              <a:off x="1060704" y="1609344"/>
              <a:ext cx="3383280" cy="329184"/>
            </a:xfrm>
            <a:prstGeom prst="rect">
              <a:avLst/>
            </a:prstGeom>
            <a:noFill/>
            <a:ln/>
          </p:spPr>
          <p:txBody>
            <a:bodyPr wrap="square" lIns="0" tIns="0" rIns="0" bIns="0" rtlCol="0" anchor="ctr"/>
            <a:lstStyle/>
            <a:p>
              <a:pPr marL="0" indent="0">
                <a:buNone/>
              </a:pPr>
              <a:r>
                <a:rPr lang="en-US" sz="1350" b="1" dirty="0">
                  <a:solidFill>
                    <a:srgbClr val="2E7D5B"/>
                  </a:solidFill>
                  <a:latin typeface="Calibri" pitchFamily="34" charset="0"/>
                  <a:ea typeface="Calibri" pitchFamily="34" charset="-122"/>
                  <a:cs typeface="Calibri" pitchFamily="34" charset="-120"/>
                </a:rPr>
                <a:t>Success — thematic question</a:t>
              </a:r>
              <a:endParaRPr lang="en-US" sz="1350" dirty="0"/>
            </a:p>
          </p:txBody>
        </p:sp>
      </p:grpSp>
      <p:sp>
        <p:nvSpPr>
          <p:cNvPr id="8" name="Text 5"/>
          <p:cNvSpPr/>
          <p:nvPr/>
        </p:nvSpPr>
        <p:spPr>
          <a:xfrm>
            <a:off x="676656" y="1837294"/>
            <a:ext cx="3767328" cy="420624"/>
          </a:xfrm>
          <a:prstGeom prst="rect">
            <a:avLst/>
          </a:prstGeom>
          <a:noFill/>
          <a:ln/>
        </p:spPr>
        <p:txBody>
          <a:bodyPr wrap="square" lIns="0" tIns="0" rIns="0" bIns="0" rtlCol="0" anchor="ctr"/>
          <a:lstStyle/>
          <a:p>
            <a:pPr>
              <a:lnSpc>
                <a:spcPct val="95000"/>
              </a:lnSpc>
            </a:pPr>
            <a:r>
              <a:rPr lang="en-US" sz="1200" b="1" dirty="0">
                <a:solidFill>
                  <a:srgbClr val="2E7D5B"/>
                </a:solidFill>
                <a:latin typeface="Calibri" pitchFamily="34" charset="0"/>
                <a:ea typeface="Calibri" pitchFamily="34" charset="-122"/>
                <a:cs typeface="Calibri" pitchFamily="34" charset="-120"/>
              </a:rPr>
              <a:t>Q:  </a:t>
            </a:r>
            <a:r>
              <a:rPr lang="fr-FR" sz="1200" i="1" dirty="0">
                <a:solidFill>
                  <a:srgbClr val="1E2B45"/>
                </a:solidFill>
                <a:latin typeface="Calibri" pitchFamily="34" charset="0"/>
                <a:ea typeface="Calibri" pitchFamily="34" charset="-122"/>
                <a:cs typeface="Calibri" pitchFamily="34" charset="-120"/>
              </a:rPr>
              <a:t>Cum a </a:t>
            </a:r>
            <a:r>
              <a:rPr lang="fr-FR" sz="1200" i="1" dirty="0" err="1">
                <a:solidFill>
                  <a:srgbClr val="1E2B45"/>
                </a:solidFill>
                <a:latin typeface="Calibri" pitchFamily="34" charset="0"/>
                <a:ea typeface="Calibri" pitchFamily="34" charset="-122"/>
                <a:cs typeface="Calibri" pitchFamily="34" charset="-120"/>
              </a:rPr>
              <a:t>izbucnit</a:t>
            </a:r>
            <a:r>
              <a:rPr lang="fr-FR" sz="1200" i="1" dirty="0">
                <a:solidFill>
                  <a:srgbClr val="1E2B45"/>
                </a:solidFill>
                <a:latin typeface="Calibri" pitchFamily="34" charset="0"/>
                <a:ea typeface="Calibri" pitchFamily="34" charset="-122"/>
                <a:cs typeface="Calibri" pitchFamily="34" charset="-120"/>
              </a:rPr>
              <a:t> </a:t>
            </a:r>
            <a:r>
              <a:rPr lang="fr-FR" sz="1200" i="1" dirty="0" err="1">
                <a:solidFill>
                  <a:srgbClr val="1E2B45"/>
                </a:solidFill>
                <a:latin typeface="Calibri" pitchFamily="34" charset="0"/>
                <a:ea typeface="Calibri" pitchFamily="34" charset="-122"/>
                <a:cs typeface="Calibri" pitchFamily="34" charset="-120"/>
              </a:rPr>
              <a:t>Primul</a:t>
            </a:r>
            <a:r>
              <a:rPr lang="fr-FR" sz="1200" i="1" dirty="0">
                <a:solidFill>
                  <a:srgbClr val="1E2B45"/>
                </a:solidFill>
                <a:latin typeface="Calibri" pitchFamily="34" charset="0"/>
                <a:ea typeface="Calibri" pitchFamily="34" charset="-122"/>
                <a:cs typeface="Calibri" pitchFamily="34" charset="-120"/>
              </a:rPr>
              <a:t> </a:t>
            </a:r>
            <a:r>
              <a:rPr lang="fr-FR" sz="1200" i="1" dirty="0" err="1">
                <a:solidFill>
                  <a:srgbClr val="1E2B45"/>
                </a:solidFill>
                <a:latin typeface="Calibri" pitchFamily="34" charset="0"/>
                <a:ea typeface="Calibri" pitchFamily="34" charset="-122"/>
                <a:cs typeface="Calibri" pitchFamily="34" charset="-120"/>
              </a:rPr>
              <a:t>Război</a:t>
            </a:r>
            <a:r>
              <a:rPr lang="fr-FR" sz="1200" i="1" dirty="0">
                <a:solidFill>
                  <a:srgbClr val="1E2B45"/>
                </a:solidFill>
                <a:latin typeface="Calibri" pitchFamily="34" charset="0"/>
                <a:ea typeface="Calibri" pitchFamily="34" charset="-122"/>
                <a:cs typeface="Calibri" pitchFamily="34" charset="-120"/>
              </a:rPr>
              <a:t> Mondial?</a:t>
            </a:r>
            <a:endParaRPr lang="en-US" sz="1200" i="1" dirty="0">
              <a:solidFill>
                <a:srgbClr val="1E2B45"/>
              </a:solidFill>
              <a:latin typeface="Calibri" pitchFamily="34" charset="0"/>
              <a:ea typeface="Calibri" pitchFamily="34" charset="-122"/>
              <a:cs typeface="Calibri" pitchFamily="34" charset="-120"/>
            </a:endParaRPr>
          </a:p>
        </p:txBody>
      </p:sp>
      <p:sp>
        <p:nvSpPr>
          <p:cNvPr id="9" name="Shape 6"/>
          <p:cNvSpPr/>
          <p:nvPr/>
        </p:nvSpPr>
        <p:spPr>
          <a:xfrm>
            <a:off x="676656" y="2257918"/>
            <a:ext cx="3767328" cy="0"/>
          </a:xfrm>
          <a:prstGeom prst="line">
            <a:avLst/>
          </a:prstGeom>
          <a:noFill/>
          <a:ln w="12700">
            <a:solidFill>
              <a:srgbClr val="D8DEE9"/>
            </a:solidFill>
            <a:prstDash val="solid"/>
          </a:ln>
        </p:spPr>
        <p:txBody>
          <a:bodyPr/>
          <a:lstStyle/>
          <a:p>
            <a:endParaRPr lang="en-GB"/>
          </a:p>
        </p:txBody>
      </p:sp>
      <p:sp>
        <p:nvSpPr>
          <p:cNvPr id="10" name="Text 7"/>
          <p:cNvSpPr/>
          <p:nvPr/>
        </p:nvSpPr>
        <p:spPr>
          <a:xfrm>
            <a:off x="676656" y="2377226"/>
            <a:ext cx="3653681" cy="1248805"/>
          </a:xfrm>
          <a:prstGeom prst="rect">
            <a:avLst/>
          </a:prstGeom>
          <a:noFill/>
          <a:ln/>
        </p:spPr>
        <p:txBody>
          <a:bodyPr wrap="square" lIns="0" tIns="0" rIns="0" bIns="0" rtlCol="0" anchor="t"/>
          <a:lstStyle/>
          <a:p>
            <a:r>
              <a:rPr lang="en-US" sz="1150" b="1" dirty="0">
                <a:solidFill>
                  <a:srgbClr val="2E7D5B"/>
                </a:solidFill>
                <a:latin typeface="Calibri" pitchFamily="34" charset="0"/>
                <a:ea typeface="Calibri" pitchFamily="34" charset="-122"/>
                <a:cs typeface="Calibri" pitchFamily="34" charset="-120"/>
              </a:rPr>
              <a:t>A: P</a:t>
            </a:r>
            <a:r>
              <a:rPr lang="en-GB" sz="1150" dirty="0" err="1">
                <a:solidFill>
                  <a:srgbClr val="1E2B45"/>
                </a:solidFill>
                <a:latin typeface="Calibri" pitchFamily="34" charset="0"/>
                <a:ea typeface="Calibri" pitchFamily="34" charset="-122"/>
                <a:cs typeface="Calibri" pitchFamily="34" charset="-120"/>
              </a:rPr>
              <a:t>rimul</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Război</a:t>
            </a:r>
            <a:r>
              <a:rPr lang="en-GB" sz="1150" dirty="0">
                <a:solidFill>
                  <a:srgbClr val="1E2B45"/>
                </a:solidFill>
                <a:latin typeface="Calibri" pitchFamily="34" charset="0"/>
                <a:ea typeface="Calibri" pitchFamily="34" charset="-122"/>
                <a:cs typeface="Calibri" pitchFamily="34" charset="-120"/>
              </a:rPr>
              <a:t> Mondial a </a:t>
            </a:r>
            <a:r>
              <a:rPr lang="en-GB" sz="1150" dirty="0" err="1">
                <a:solidFill>
                  <a:srgbClr val="1E2B45"/>
                </a:solidFill>
                <a:latin typeface="Calibri" pitchFamily="34" charset="0"/>
                <a:ea typeface="Calibri" pitchFamily="34" charset="-122"/>
                <a:cs typeface="Calibri" pitchFamily="34" charset="-120"/>
              </a:rPr>
              <a:t>început</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după</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asasinatul</a:t>
            </a:r>
            <a:r>
              <a:rPr lang="en-GB" sz="1150" dirty="0">
                <a:solidFill>
                  <a:srgbClr val="1E2B45"/>
                </a:solidFill>
                <a:latin typeface="Calibri" pitchFamily="34" charset="0"/>
                <a:ea typeface="Calibri" pitchFamily="34" charset="-122"/>
                <a:cs typeface="Calibri" pitchFamily="34" charset="-120"/>
              </a:rPr>
              <a:t> de la Sarajevo, </a:t>
            </a:r>
            <a:r>
              <a:rPr lang="pt-BR" sz="1150" dirty="0">
                <a:solidFill>
                  <a:srgbClr val="1E2B45"/>
                </a:solidFill>
                <a:latin typeface="Calibri" pitchFamily="34" charset="0"/>
                <a:ea typeface="Calibri" pitchFamily="34" charset="-122"/>
                <a:cs typeface="Calibri" pitchFamily="34" charset="-120"/>
              </a:rPr>
              <a:t>care a oferit Austro-Ungariei pretextul pentru a declara război Serbiei. Atacul a </a:t>
            </a:r>
            <a:r>
              <a:rPr lang="en-GB" sz="1150" dirty="0" err="1">
                <a:solidFill>
                  <a:srgbClr val="1E2B45"/>
                </a:solidFill>
                <a:latin typeface="Calibri" pitchFamily="34" charset="0"/>
                <a:ea typeface="Calibri" pitchFamily="34" charset="-122"/>
                <a:cs typeface="Calibri" pitchFamily="34" charset="-120"/>
              </a:rPr>
              <a:t>reprezentat</a:t>
            </a:r>
            <a:r>
              <a:rPr lang="en-GB" sz="1150" dirty="0">
                <a:solidFill>
                  <a:srgbClr val="1E2B45"/>
                </a:solidFill>
                <a:latin typeface="Calibri" pitchFamily="34" charset="0"/>
                <a:ea typeface="Calibri" pitchFamily="34" charset="-122"/>
                <a:cs typeface="Calibri" pitchFamily="34" charset="-120"/>
              </a:rPr>
              <a:t> o </a:t>
            </a:r>
            <a:r>
              <a:rPr lang="en-GB" sz="1150" dirty="0" err="1">
                <a:solidFill>
                  <a:srgbClr val="1E2B45"/>
                </a:solidFill>
                <a:latin typeface="Calibri" pitchFamily="34" charset="0"/>
                <a:ea typeface="Calibri" pitchFamily="34" charset="-122"/>
                <a:cs typeface="Calibri" pitchFamily="34" charset="-120"/>
              </a:rPr>
              <a:t>încercare</a:t>
            </a:r>
            <a:r>
              <a:rPr lang="en-GB" sz="1150" dirty="0">
                <a:solidFill>
                  <a:srgbClr val="1E2B45"/>
                </a:solidFill>
                <a:latin typeface="Calibri" pitchFamily="34" charset="0"/>
                <a:ea typeface="Calibri" pitchFamily="34" charset="-122"/>
                <a:cs typeface="Calibri" pitchFamily="34" charset="-120"/>
              </a:rPr>
              <a:t> de a </a:t>
            </a:r>
            <a:r>
              <a:rPr lang="en-GB" sz="1150" dirty="0" err="1">
                <a:solidFill>
                  <a:srgbClr val="1E2B45"/>
                </a:solidFill>
                <a:latin typeface="Calibri" pitchFamily="34" charset="0"/>
                <a:ea typeface="Calibri" pitchFamily="34" charset="-122"/>
                <a:cs typeface="Calibri" pitchFamily="34" charset="-120"/>
              </a:rPr>
              <a:t>elimina</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influența</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rusă</a:t>
            </a:r>
            <a:r>
              <a:rPr lang="en-GB" sz="1150" dirty="0">
                <a:solidFill>
                  <a:srgbClr val="1E2B45"/>
                </a:solidFill>
                <a:latin typeface="Calibri" pitchFamily="34" charset="0"/>
                <a:ea typeface="Calibri" pitchFamily="34" charset="-122"/>
                <a:cs typeface="Calibri" pitchFamily="34" charset="-120"/>
              </a:rPr>
              <a:t> din </a:t>
            </a:r>
            <a:r>
              <a:rPr lang="en-GB" sz="1150" dirty="0" err="1">
                <a:solidFill>
                  <a:srgbClr val="1E2B45"/>
                </a:solidFill>
                <a:latin typeface="Calibri" pitchFamily="34" charset="0"/>
                <a:ea typeface="Calibri" pitchFamily="34" charset="-122"/>
                <a:cs typeface="Calibri" pitchFamily="34" charset="-120"/>
              </a:rPr>
              <a:t>regiune</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și</a:t>
            </a:r>
            <a:r>
              <a:rPr lang="en-GB" sz="1150" dirty="0">
                <a:solidFill>
                  <a:srgbClr val="1E2B45"/>
                </a:solidFill>
                <a:latin typeface="Calibri" pitchFamily="34" charset="0"/>
                <a:ea typeface="Calibri" pitchFamily="34" charset="-122"/>
                <a:cs typeface="Calibri" pitchFamily="34" charset="-120"/>
              </a:rPr>
              <a:t> de a </a:t>
            </a:r>
            <a:r>
              <a:rPr lang="en-GB" sz="1150" dirty="0" err="1">
                <a:solidFill>
                  <a:srgbClr val="1E2B45"/>
                </a:solidFill>
                <a:latin typeface="Calibri" pitchFamily="34" charset="0"/>
                <a:ea typeface="Calibri" pitchFamily="34" charset="-122"/>
                <a:cs typeface="Calibri" pitchFamily="34" charset="-120"/>
              </a:rPr>
              <a:t>potoli</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revoltele</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slavilor</a:t>
            </a:r>
            <a:r>
              <a:rPr lang="en-GB" sz="1150" dirty="0">
                <a:solidFill>
                  <a:srgbClr val="1E2B45"/>
                </a:solidFill>
                <a:latin typeface="Calibri" pitchFamily="34" charset="0"/>
                <a:ea typeface="Calibri" pitchFamily="34" charset="-122"/>
                <a:cs typeface="Calibri" pitchFamily="34" charset="-120"/>
              </a:rPr>
              <a:t> din </a:t>
            </a:r>
            <a:r>
              <a:rPr lang="en-GB" sz="1150" dirty="0" err="1">
                <a:solidFill>
                  <a:srgbClr val="1E2B45"/>
                </a:solidFill>
                <a:latin typeface="Calibri" pitchFamily="34" charset="0"/>
                <a:ea typeface="Calibri" pitchFamily="34" charset="-122"/>
                <a:cs typeface="Calibri" pitchFamily="34" charset="-120"/>
              </a:rPr>
              <a:t>imperiu</a:t>
            </a:r>
            <a:r>
              <a:rPr lang="en-GB" sz="1150" dirty="0">
                <a:solidFill>
                  <a:srgbClr val="1E2B45"/>
                </a:solidFill>
                <a:latin typeface="Calibri" pitchFamily="34" charset="0"/>
                <a:ea typeface="Calibri" pitchFamily="34" charset="-122"/>
                <a:cs typeface="Calibri" pitchFamily="34" charset="-120"/>
              </a:rPr>
              <a:t> </a:t>
            </a:r>
            <a:r>
              <a:rPr lang="en-GB" sz="1150" dirty="0">
                <a:solidFill>
                  <a:schemeClr val="accent4">
                    <a:lumMod val="50000"/>
                  </a:schemeClr>
                </a:solidFill>
                <a:latin typeface="Calibri" pitchFamily="34" charset="0"/>
                <a:ea typeface="Calibri" pitchFamily="34" charset="-122"/>
                <a:cs typeface="Calibri" pitchFamily="34" charset="-120"/>
              </a:rPr>
              <a:t>[1]</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Declarația</a:t>
            </a:r>
            <a:r>
              <a:rPr lang="en-GB" sz="1150" dirty="0">
                <a:solidFill>
                  <a:srgbClr val="1E2B45"/>
                </a:solidFill>
                <a:latin typeface="Calibri" pitchFamily="34" charset="0"/>
                <a:ea typeface="Calibri" pitchFamily="34" charset="-122"/>
                <a:cs typeface="Calibri" pitchFamily="34" charset="-120"/>
              </a:rPr>
              <a:t> de </a:t>
            </a:r>
            <a:r>
              <a:rPr lang="en-GB" sz="1150" dirty="0" err="1">
                <a:solidFill>
                  <a:srgbClr val="1E2B45"/>
                </a:solidFill>
                <a:latin typeface="Calibri" pitchFamily="34" charset="0"/>
                <a:ea typeface="Calibri" pitchFamily="34" charset="-122"/>
                <a:cs typeface="Calibri" pitchFamily="34" charset="-120"/>
              </a:rPr>
              <a:t>război</a:t>
            </a:r>
            <a:r>
              <a:rPr lang="en-GB" sz="1150" dirty="0">
                <a:solidFill>
                  <a:srgbClr val="1E2B45"/>
                </a:solidFill>
                <a:latin typeface="Calibri" pitchFamily="34" charset="0"/>
                <a:ea typeface="Calibri" pitchFamily="34" charset="-122"/>
                <a:cs typeface="Calibri" pitchFamily="34" charset="-120"/>
              </a:rPr>
              <a:t> a </a:t>
            </a:r>
            <a:r>
              <a:rPr lang="en-GB" sz="1150" dirty="0" err="1">
                <a:solidFill>
                  <a:srgbClr val="1E2B45"/>
                </a:solidFill>
                <a:latin typeface="Calibri" pitchFamily="34" charset="0"/>
                <a:ea typeface="Calibri" pitchFamily="34" charset="-122"/>
                <a:cs typeface="Calibri" pitchFamily="34" charset="-120"/>
              </a:rPr>
              <a:t>avut</a:t>
            </a:r>
            <a:r>
              <a:rPr lang="en-GB" sz="1150" dirty="0">
                <a:solidFill>
                  <a:srgbClr val="1E2B45"/>
                </a:solidFill>
                <a:latin typeface="Calibri" pitchFamily="34" charset="0"/>
                <a:ea typeface="Calibri" pitchFamily="34" charset="-122"/>
                <a:cs typeface="Calibri" pitchFamily="34" charset="-120"/>
              </a:rPr>
              <a:t> loc pe 28 </a:t>
            </a:r>
            <a:r>
              <a:rPr lang="en-GB" sz="1150" dirty="0" err="1">
                <a:solidFill>
                  <a:srgbClr val="1E2B45"/>
                </a:solidFill>
                <a:latin typeface="Calibri" pitchFamily="34" charset="0"/>
                <a:ea typeface="Calibri" pitchFamily="34" charset="-122"/>
                <a:cs typeface="Calibri" pitchFamily="34" charset="-120"/>
              </a:rPr>
              <a:t>iulie</a:t>
            </a:r>
            <a:r>
              <a:rPr lang="en-GB" sz="1150" dirty="0">
                <a:solidFill>
                  <a:srgbClr val="1E2B45"/>
                </a:solidFill>
                <a:latin typeface="Calibri" pitchFamily="34" charset="0"/>
                <a:ea typeface="Calibri" pitchFamily="34" charset="-122"/>
                <a:cs typeface="Calibri" pitchFamily="34" charset="-120"/>
              </a:rPr>
              <a:t> 1914, </a:t>
            </a:r>
            <a:r>
              <a:rPr lang="en-GB" sz="1150" dirty="0" err="1">
                <a:solidFill>
                  <a:srgbClr val="1E2B45"/>
                </a:solidFill>
                <a:latin typeface="Calibri" pitchFamily="34" charset="0"/>
                <a:ea typeface="Calibri" pitchFamily="34" charset="-122"/>
                <a:cs typeface="Calibri" pitchFamily="34" charset="-120"/>
              </a:rPr>
              <a:t>iar</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conflictul</a:t>
            </a:r>
            <a:r>
              <a:rPr lang="en-GB" sz="1150" dirty="0">
                <a:solidFill>
                  <a:srgbClr val="1E2B45"/>
                </a:solidFill>
                <a:latin typeface="Calibri" pitchFamily="34" charset="0"/>
                <a:ea typeface="Calibri" pitchFamily="34" charset="-122"/>
                <a:cs typeface="Calibri" pitchFamily="34" charset="-120"/>
              </a:rPr>
              <a:t> </a:t>
            </a:r>
            <a:r>
              <a:rPr lang="pt-BR" sz="1150" dirty="0">
                <a:solidFill>
                  <a:srgbClr val="1E2B45"/>
                </a:solidFill>
                <a:latin typeface="Calibri" pitchFamily="34" charset="0"/>
                <a:ea typeface="Calibri" pitchFamily="34" charset="-122"/>
                <a:cs typeface="Calibri" pitchFamily="34" charset="-120"/>
              </a:rPr>
              <a:t>s-a extins rapid datorită sistemelor de alianță existente </a:t>
            </a:r>
            <a:r>
              <a:rPr lang="pt-BR" sz="1150" dirty="0">
                <a:solidFill>
                  <a:schemeClr val="accent4">
                    <a:lumMod val="50000"/>
                  </a:schemeClr>
                </a:solidFill>
                <a:latin typeface="Calibri" pitchFamily="34" charset="0"/>
                <a:ea typeface="Calibri" pitchFamily="34" charset="-122"/>
                <a:cs typeface="Calibri" pitchFamily="34" charset="-120"/>
              </a:rPr>
              <a:t>[2]</a:t>
            </a:r>
            <a:r>
              <a:rPr lang="pt-BR" sz="1150" dirty="0">
                <a:solidFill>
                  <a:srgbClr val="1E2B45"/>
                </a:solidFill>
                <a:latin typeface="Calibri" pitchFamily="34" charset="0"/>
                <a:ea typeface="Calibri" pitchFamily="34" charset="-122"/>
                <a:cs typeface="Calibri" pitchFamily="34" charset="-120"/>
              </a:rPr>
              <a:t>.</a:t>
            </a:r>
            <a:endParaRPr lang="en-US" sz="1150" dirty="0">
              <a:solidFill>
                <a:srgbClr val="1E2B45"/>
              </a:solidFill>
              <a:latin typeface="Calibri" pitchFamily="34" charset="0"/>
              <a:ea typeface="Calibri" pitchFamily="34" charset="-122"/>
              <a:cs typeface="Calibri" pitchFamily="34" charset="-120"/>
            </a:endParaRPr>
          </a:p>
        </p:txBody>
      </p:sp>
      <p:sp>
        <p:nvSpPr>
          <p:cNvPr id="11" name="Text 8"/>
          <p:cNvSpPr/>
          <p:nvPr/>
        </p:nvSpPr>
        <p:spPr>
          <a:xfrm>
            <a:off x="676656" y="4562856"/>
            <a:ext cx="3767328" cy="310896"/>
          </a:xfrm>
          <a:prstGeom prst="rect">
            <a:avLst/>
          </a:prstGeom>
          <a:noFill/>
          <a:ln/>
        </p:spPr>
        <p:txBody>
          <a:bodyPr wrap="square" lIns="0" tIns="0" rIns="0" bIns="0" rtlCol="0" anchor="ctr"/>
          <a:lstStyle/>
          <a:p>
            <a:pPr marL="0" indent="0">
              <a:buNone/>
            </a:pPr>
            <a:r>
              <a:rPr lang="en-US" sz="1000" i="1" dirty="0">
                <a:solidFill>
                  <a:srgbClr val="5B6B82"/>
                </a:solidFill>
                <a:latin typeface="Calibri" pitchFamily="34" charset="0"/>
                <a:ea typeface="Calibri" pitchFamily="34" charset="-122"/>
                <a:cs typeface="Calibri" pitchFamily="34" charset="-120"/>
              </a:rPr>
              <a:t>The [n] citations point to the source chapter so every statement can be traced and checked.</a:t>
            </a:r>
            <a:endParaRPr lang="en-US" sz="1000" dirty="0"/>
          </a:p>
        </p:txBody>
      </p:sp>
      <p:sp>
        <p:nvSpPr>
          <p:cNvPr id="12" name="Shape 9"/>
          <p:cNvSpPr/>
          <p:nvPr/>
        </p:nvSpPr>
        <p:spPr>
          <a:xfrm>
            <a:off x="4937760" y="1366916"/>
            <a:ext cx="3145536" cy="3630168"/>
          </a:xfrm>
          <a:prstGeom prst="roundRect">
            <a:avLst>
              <a:gd name="adj" fmla="val 2817"/>
            </a:avLst>
          </a:prstGeom>
          <a:solidFill>
            <a:srgbClr val="FFFFFF"/>
          </a:solidFill>
          <a:ln w="15875">
            <a:solidFill>
              <a:srgbClr val="E4C9A8"/>
            </a:solidFill>
            <a:prstDash val="solid"/>
          </a:ln>
          <a:effectLst>
            <a:outerShdw blurRad="88900" dist="38100" dir="5400000" algn="bl" rotWithShape="0">
              <a:srgbClr val="000000">
                <a:alpha val="10000"/>
              </a:srgbClr>
            </a:outerShdw>
          </a:effectLst>
        </p:spPr>
        <p:txBody>
          <a:bodyPr/>
          <a:lstStyle/>
          <a:p>
            <a:endParaRPr lang="en-GB"/>
          </a:p>
        </p:txBody>
      </p:sp>
      <p:pic>
        <p:nvPicPr>
          <p:cNvPr id="13" name="Image 1" descr="preencoded.png"/>
          <p:cNvPicPr>
            <a:picLocks noChangeAspect="1"/>
          </p:cNvPicPr>
          <p:nvPr/>
        </p:nvPicPr>
        <p:blipFill>
          <a:blip r:embed="rId4"/>
          <a:stretch>
            <a:fillRect/>
          </a:stretch>
        </p:blipFill>
        <p:spPr>
          <a:xfrm>
            <a:off x="5111496" y="1627632"/>
            <a:ext cx="292608" cy="292608"/>
          </a:xfrm>
          <a:prstGeom prst="rect">
            <a:avLst/>
          </a:prstGeom>
        </p:spPr>
      </p:pic>
      <p:sp>
        <p:nvSpPr>
          <p:cNvPr id="14" name="Text 10"/>
          <p:cNvSpPr/>
          <p:nvPr/>
        </p:nvSpPr>
        <p:spPr>
          <a:xfrm>
            <a:off x="5577840" y="1426465"/>
            <a:ext cx="2283387" cy="696250"/>
          </a:xfrm>
          <a:prstGeom prst="rect">
            <a:avLst/>
          </a:prstGeom>
          <a:noFill/>
          <a:ln/>
        </p:spPr>
        <p:txBody>
          <a:bodyPr wrap="square" lIns="0" tIns="0" rIns="0" bIns="0" rtlCol="0" anchor="ctr"/>
          <a:lstStyle/>
          <a:p>
            <a:pPr marL="0" indent="0">
              <a:buNone/>
            </a:pPr>
            <a:r>
              <a:rPr lang="en-US" sz="1350" b="1" dirty="0">
                <a:solidFill>
                  <a:srgbClr val="A66E22"/>
                </a:solidFill>
                <a:latin typeface="Calibri" pitchFamily="34" charset="0"/>
                <a:ea typeface="Calibri" pitchFamily="34" charset="-122"/>
                <a:cs typeface="Calibri" pitchFamily="34" charset="-120"/>
              </a:rPr>
              <a:t>Controlled failure — pinpoint question</a:t>
            </a:r>
            <a:endParaRPr lang="en-US" sz="1350" dirty="0"/>
          </a:p>
        </p:txBody>
      </p:sp>
      <p:sp>
        <p:nvSpPr>
          <p:cNvPr id="15" name="Text 11"/>
          <p:cNvSpPr/>
          <p:nvPr/>
        </p:nvSpPr>
        <p:spPr>
          <a:xfrm>
            <a:off x="5111495" y="2266406"/>
            <a:ext cx="2667435" cy="566928"/>
          </a:xfrm>
          <a:prstGeom prst="rect">
            <a:avLst/>
          </a:prstGeom>
          <a:noFill/>
          <a:ln/>
        </p:spPr>
        <p:txBody>
          <a:bodyPr wrap="square" lIns="0" tIns="0" rIns="0" bIns="0" rtlCol="0" anchor="t"/>
          <a:lstStyle/>
          <a:p>
            <a:pPr>
              <a:lnSpc>
                <a:spcPct val="98000"/>
              </a:lnSpc>
            </a:pPr>
            <a:r>
              <a:rPr lang="en-US" sz="1200" b="1" dirty="0">
                <a:solidFill>
                  <a:srgbClr val="A66E22"/>
                </a:solidFill>
                <a:latin typeface="Calibri" pitchFamily="34" charset="0"/>
                <a:ea typeface="Calibri" pitchFamily="34" charset="-122"/>
                <a:cs typeface="Calibri" pitchFamily="34" charset="-120"/>
              </a:rPr>
              <a:t>Q:  </a:t>
            </a:r>
            <a:r>
              <a:rPr lang="en-GB" sz="1200" i="1" dirty="0" err="1">
                <a:solidFill>
                  <a:srgbClr val="1E2B45"/>
                </a:solidFill>
                <a:latin typeface="Calibri" pitchFamily="34" charset="0"/>
                <a:ea typeface="Calibri" pitchFamily="34" charset="-122"/>
                <a:cs typeface="Calibri" pitchFamily="34" charset="-120"/>
              </a:rPr>
              <a:t>Câți</a:t>
            </a:r>
            <a:r>
              <a:rPr lang="en-GB" sz="1200" i="1" dirty="0">
                <a:solidFill>
                  <a:srgbClr val="1E2B45"/>
                </a:solidFill>
                <a:latin typeface="Calibri" pitchFamily="34" charset="0"/>
                <a:ea typeface="Calibri" pitchFamily="34" charset="-122"/>
                <a:cs typeface="Calibri" pitchFamily="34" charset="-120"/>
              </a:rPr>
              <a:t> </a:t>
            </a:r>
            <a:r>
              <a:rPr lang="en-GB" sz="1200" i="1" dirty="0" err="1">
                <a:solidFill>
                  <a:srgbClr val="1E2B45"/>
                </a:solidFill>
                <a:latin typeface="Calibri" pitchFamily="34" charset="0"/>
                <a:ea typeface="Calibri" pitchFamily="34" charset="-122"/>
                <a:cs typeface="Calibri" pitchFamily="34" charset="-120"/>
              </a:rPr>
              <a:t>soldați</a:t>
            </a:r>
            <a:r>
              <a:rPr lang="en-GB" sz="1200" i="1" dirty="0">
                <a:solidFill>
                  <a:srgbClr val="1E2B45"/>
                </a:solidFill>
                <a:latin typeface="Calibri" pitchFamily="34" charset="0"/>
                <a:ea typeface="Calibri" pitchFamily="34" charset="-122"/>
                <a:cs typeface="Calibri" pitchFamily="34" charset="-120"/>
              </a:rPr>
              <a:t> </a:t>
            </a:r>
            <a:r>
              <a:rPr lang="en-GB" sz="1200" i="1" dirty="0" err="1">
                <a:solidFill>
                  <a:srgbClr val="1E2B45"/>
                </a:solidFill>
                <a:latin typeface="Calibri" pitchFamily="34" charset="0"/>
                <a:ea typeface="Calibri" pitchFamily="34" charset="-122"/>
                <a:cs typeface="Calibri" pitchFamily="34" charset="-120"/>
              </a:rPr>
              <a:t>români</a:t>
            </a:r>
            <a:r>
              <a:rPr lang="en-GB" sz="1200" i="1" dirty="0">
                <a:solidFill>
                  <a:srgbClr val="1E2B45"/>
                </a:solidFill>
                <a:latin typeface="Calibri" pitchFamily="34" charset="0"/>
                <a:ea typeface="Calibri" pitchFamily="34" charset="-122"/>
                <a:cs typeface="Calibri" pitchFamily="34" charset="-120"/>
              </a:rPr>
              <a:t> au </a:t>
            </a:r>
            <a:r>
              <a:rPr lang="en-GB" sz="1200" i="1" dirty="0" err="1">
                <a:solidFill>
                  <a:srgbClr val="1E2B45"/>
                </a:solidFill>
                <a:latin typeface="Calibri" pitchFamily="34" charset="0"/>
                <a:ea typeface="Calibri" pitchFamily="34" charset="-122"/>
                <a:cs typeface="Calibri" pitchFamily="34" charset="-120"/>
              </a:rPr>
              <a:t>murit</a:t>
            </a:r>
            <a:r>
              <a:rPr lang="en-GB" sz="1200" i="1" dirty="0">
                <a:solidFill>
                  <a:srgbClr val="1E2B45"/>
                </a:solidFill>
                <a:latin typeface="Calibri" pitchFamily="34" charset="0"/>
                <a:ea typeface="Calibri" pitchFamily="34" charset="-122"/>
                <a:cs typeface="Calibri" pitchFamily="34" charset="-120"/>
              </a:rPr>
              <a:t> </a:t>
            </a:r>
            <a:r>
              <a:rPr lang="en-GB" sz="1200" i="1" dirty="0" err="1">
                <a:solidFill>
                  <a:srgbClr val="1E2B45"/>
                </a:solidFill>
                <a:latin typeface="Calibri" pitchFamily="34" charset="0"/>
                <a:ea typeface="Calibri" pitchFamily="34" charset="-122"/>
                <a:cs typeface="Calibri" pitchFamily="34" charset="-120"/>
              </a:rPr>
              <a:t>în</a:t>
            </a:r>
            <a:r>
              <a:rPr lang="en-GB" sz="1200" i="1" dirty="0">
                <a:solidFill>
                  <a:srgbClr val="1E2B45"/>
                </a:solidFill>
                <a:latin typeface="Calibri" pitchFamily="34" charset="0"/>
                <a:ea typeface="Calibri" pitchFamily="34" charset="-122"/>
                <a:cs typeface="Calibri" pitchFamily="34" charset="-120"/>
              </a:rPr>
              <a:t> </a:t>
            </a:r>
            <a:r>
              <a:rPr lang="en-GB" sz="1200" i="1" dirty="0" err="1">
                <a:solidFill>
                  <a:srgbClr val="1E2B45"/>
                </a:solidFill>
                <a:latin typeface="Calibri" pitchFamily="34" charset="0"/>
                <a:ea typeface="Calibri" pitchFamily="34" charset="-122"/>
                <a:cs typeface="Calibri" pitchFamily="34" charset="-120"/>
              </a:rPr>
              <a:t>Primul</a:t>
            </a:r>
            <a:r>
              <a:rPr lang="en-GB" sz="1200" i="1" dirty="0">
                <a:solidFill>
                  <a:srgbClr val="1E2B45"/>
                </a:solidFill>
                <a:latin typeface="Calibri" pitchFamily="34" charset="0"/>
                <a:ea typeface="Calibri" pitchFamily="34" charset="-122"/>
                <a:cs typeface="Calibri" pitchFamily="34" charset="-120"/>
              </a:rPr>
              <a:t> </a:t>
            </a:r>
            <a:r>
              <a:rPr lang="en-GB" sz="1200" i="1" dirty="0" err="1">
                <a:solidFill>
                  <a:srgbClr val="1E2B45"/>
                </a:solidFill>
                <a:latin typeface="Calibri" pitchFamily="34" charset="0"/>
                <a:ea typeface="Calibri" pitchFamily="34" charset="-122"/>
                <a:cs typeface="Calibri" pitchFamily="34" charset="-120"/>
              </a:rPr>
              <a:t>Război</a:t>
            </a:r>
            <a:r>
              <a:rPr lang="en-GB" sz="1200" i="1" dirty="0">
                <a:solidFill>
                  <a:srgbClr val="1E2B45"/>
                </a:solidFill>
                <a:latin typeface="Calibri" pitchFamily="34" charset="0"/>
                <a:ea typeface="Calibri" pitchFamily="34" charset="-122"/>
                <a:cs typeface="Calibri" pitchFamily="34" charset="-120"/>
              </a:rPr>
              <a:t> Mondial?</a:t>
            </a:r>
            <a:endParaRPr lang="en-US" sz="1200" i="1" dirty="0">
              <a:solidFill>
                <a:srgbClr val="1E2B45"/>
              </a:solidFill>
              <a:latin typeface="Calibri" pitchFamily="34" charset="0"/>
              <a:ea typeface="Calibri" pitchFamily="34" charset="-122"/>
              <a:cs typeface="Calibri" pitchFamily="34" charset="-120"/>
            </a:endParaRPr>
          </a:p>
        </p:txBody>
      </p:sp>
      <p:sp>
        <p:nvSpPr>
          <p:cNvPr id="16" name="Shape 12"/>
          <p:cNvSpPr/>
          <p:nvPr/>
        </p:nvSpPr>
        <p:spPr>
          <a:xfrm flipV="1">
            <a:off x="5111495" y="2832028"/>
            <a:ext cx="2817659" cy="1306"/>
          </a:xfrm>
          <a:prstGeom prst="line">
            <a:avLst/>
          </a:prstGeom>
          <a:noFill/>
          <a:ln w="12700">
            <a:solidFill>
              <a:srgbClr val="D8DEE9"/>
            </a:solidFill>
            <a:prstDash val="solid"/>
          </a:ln>
        </p:spPr>
        <p:txBody>
          <a:bodyPr/>
          <a:lstStyle/>
          <a:p>
            <a:endParaRPr lang="en-GB"/>
          </a:p>
        </p:txBody>
      </p:sp>
      <p:sp>
        <p:nvSpPr>
          <p:cNvPr id="17" name="Text 13"/>
          <p:cNvSpPr/>
          <p:nvPr/>
        </p:nvSpPr>
        <p:spPr>
          <a:xfrm>
            <a:off x="5111496" y="2972453"/>
            <a:ext cx="2504150" cy="1143000"/>
          </a:xfrm>
          <a:prstGeom prst="rect">
            <a:avLst/>
          </a:prstGeom>
          <a:noFill/>
          <a:ln/>
        </p:spPr>
        <p:txBody>
          <a:bodyPr wrap="square" lIns="0" tIns="0" rIns="0" bIns="0" rtlCol="0" anchor="t"/>
          <a:lstStyle/>
          <a:p>
            <a:r>
              <a:rPr lang="en-US" sz="1150" b="1" dirty="0">
                <a:solidFill>
                  <a:srgbClr val="A66E22"/>
                </a:solidFill>
                <a:latin typeface="Calibri" pitchFamily="34" charset="0"/>
                <a:ea typeface="Calibri" pitchFamily="34" charset="-122"/>
                <a:cs typeface="Calibri" pitchFamily="34" charset="-120"/>
              </a:rPr>
              <a:t>A:  </a:t>
            </a:r>
            <a:r>
              <a:rPr lang="en-GB" sz="1150" dirty="0">
                <a:solidFill>
                  <a:srgbClr val="1E2B45"/>
                </a:solidFill>
                <a:latin typeface="Calibri" pitchFamily="34" charset="0"/>
                <a:ea typeface="Calibri" pitchFamily="34" charset="-122"/>
                <a:cs typeface="Calibri" pitchFamily="34" charset="-120"/>
              </a:rPr>
              <a:t>„</a:t>
            </a:r>
            <a:r>
              <a:rPr lang="en-GB" sz="1150" dirty="0" err="1">
                <a:solidFill>
                  <a:srgbClr val="1E2B45"/>
                </a:solidFill>
                <a:latin typeface="Calibri" pitchFamily="34" charset="0"/>
                <a:ea typeface="Calibri" pitchFamily="34" charset="-122"/>
                <a:cs typeface="Calibri" pitchFamily="34" charset="-120"/>
              </a:rPr>
              <a:t>În</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contextul</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Primului</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Război</a:t>
            </a:r>
            <a:r>
              <a:rPr lang="en-GB" sz="1150" dirty="0">
                <a:solidFill>
                  <a:srgbClr val="1E2B45"/>
                </a:solidFill>
                <a:latin typeface="Calibri" pitchFamily="34" charset="0"/>
                <a:ea typeface="Calibri" pitchFamily="34" charset="-122"/>
                <a:cs typeface="Calibri" pitchFamily="34" charset="-120"/>
              </a:rPr>
              <a:t> Mondial, nu sunt </a:t>
            </a:r>
            <a:r>
              <a:rPr lang="en-GB" sz="1150" dirty="0" err="1">
                <a:solidFill>
                  <a:srgbClr val="1E2B45"/>
                </a:solidFill>
                <a:latin typeface="Calibri" pitchFamily="34" charset="0"/>
                <a:ea typeface="Calibri" pitchFamily="34" charset="-122"/>
                <a:cs typeface="Calibri" pitchFamily="34" charset="-120"/>
              </a:rPr>
              <a:t>menționate</a:t>
            </a:r>
            <a:r>
              <a:rPr lang="en-GB" sz="1150" dirty="0">
                <a:solidFill>
                  <a:srgbClr val="1E2B45"/>
                </a:solidFill>
                <a:latin typeface="Calibri" pitchFamily="34" charset="0"/>
                <a:ea typeface="Calibri" pitchFamily="34" charset="-122"/>
                <a:cs typeface="Calibri" pitchFamily="34" charset="-120"/>
              </a:rPr>
              <a:t> date </a:t>
            </a:r>
            <a:r>
              <a:rPr lang="en-GB" sz="1150" dirty="0" err="1">
                <a:solidFill>
                  <a:srgbClr val="1E2B45"/>
                </a:solidFill>
                <a:latin typeface="Calibri" pitchFamily="34" charset="0"/>
                <a:ea typeface="Calibri" pitchFamily="34" charset="-122"/>
                <a:cs typeface="Calibri" pitchFamily="34" charset="-120"/>
              </a:rPr>
              <a:t>specifice</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despre</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numărul</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soldaților</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români</a:t>
            </a:r>
            <a:r>
              <a:rPr lang="en-GB" sz="1150" dirty="0">
                <a:solidFill>
                  <a:srgbClr val="1E2B45"/>
                </a:solidFill>
                <a:latin typeface="Calibri" pitchFamily="34" charset="0"/>
                <a:ea typeface="Calibri" pitchFamily="34" charset="-122"/>
                <a:cs typeface="Calibri" pitchFamily="34" charset="-120"/>
              </a:rPr>
              <a:t> care au </a:t>
            </a:r>
            <a:r>
              <a:rPr lang="en-GB" sz="1150" dirty="0" err="1">
                <a:solidFill>
                  <a:srgbClr val="1E2B45"/>
                </a:solidFill>
                <a:latin typeface="Calibri" pitchFamily="34" charset="0"/>
                <a:ea typeface="Calibri" pitchFamily="34" charset="-122"/>
                <a:cs typeface="Calibri" pitchFamily="34" charset="-120"/>
              </a:rPr>
              <a:t>murit</a:t>
            </a:r>
            <a:r>
              <a:rPr lang="en-GB" sz="1150" dirty="0">
                <a:solidFill>
                  <a:srgbClr val="1E2B45"/>
                </a:solidFill>
                <a:latin typeface="Calibri" pitchFamily="34" charset="0"/>
                <a:ea typeface="Calibri" pitchFamily="34" charset="-122"/>
                <a:cs typeface="Calibri" pitchFamily="34" charset="-120"/>
              </a:rPr>
              <a:t>. Prin </a:t>
            </a:r>
            <a:r>
              <a:rPr lang="en-GB" sz="1150" dirty="0" err="1">
                <a:solidFill>
                  <a:srgbClr val="1E2B45"/>
                </a:solidFill>
                <a:latin typeface="Calibri" pitchFamily="34" charset="0"/>
                <a:ea typeface="Calibri" pitchFamily="34" charset="-122"/>
                <a:cs typeface="Calibri" pitchFamily="34" charset="-120"/>
              </a:rPr>
              <a:t>urmare</a:t>
            </a:r>
            <a:r>
              <a:rPr lang="en-GB" sz="1150" dirty="0">
                <a:solidFill>
                  <a:srgbClr val="1E2B45"/>
                </a:solidFill>
                <a:latin typeface="Calibri" pitchFamily="34" charset="0"/>
                <a:ea typeface="Calibri" pitchFamily="34" charset="-122"/>
                <a:cs typeface="Calibri" pitchFamily="34" charset="-120"/>
              </a:rPr>
              <a:t>, nu pot </a:t>
            </a:r>
            <a:r>
              <a:rPr lang="en-GB" sz="1150" dirty="0" err="1">
                <a:solidFill>
                  <a:srgbClr val="1E2B45"/>
                </a:solidFill>
                <a:latin typeface="Calibri" pitchFamily="34" charset="0"/>
                <a:ea typeface="Calibri" pitchFamily="34" charset="-122"/>
                <a:cs typeface="Calibri" pitchFamily="34" charset="-120"/>
              </a:rPr>
              <a:t>oferi</a:t>
            </a:r>
            <a:r>
              <a:rPr lang="en-GB" sz="1150" dirty="0">
                <a:solidFill>
                  <a:srgbClr val="1E2B45"/>
                </a:solidFill>
                <a:latin typeface="Calibri" pitchFamily="34" charset="0"/>
                <a:ea typeface="Calibri" pitchFamily="34" charset="-122"/>
                <a:cs typeface="Calibri" pitchFamily="34" charset="-120"/>
              </a:rPr>
              <a:t> o </a:t>
            </a:r>
            <a:r>
              <a:rPr lang="en-GB" sz="1150" dirty="0" err="1">
                <a:solidFill>
                  <a:srgbClr val="1E2B45"/>
                </a:solidFill>
                <a:latin typeface="Calibri" pitchFamily="34" charset="0"/>
                <a:ea typeface="Calibri" pitchFamily="34" charset="-122"/>
                <a:cs typeface="Calibri" pitchFamily="34" charset="-120"/>
              </a:rPr>
              <a:t>cifră</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exactă</a:t>
            </a:r>
            <a:r>
              <a:rPr lang="en-GB" sz="1150" dirty="0">
                <a:solidFill>
                  <a:srgbClr val="1E2B45"/>
                </a:solidFill>
                <a:latin typeface="Calibri" pitchFamily="34" charset="0"/>
                <a:ea typeface="Calibri" pitchFamily="34" charset="-122"/>
                <a:cs typeface="Calibri" pitchFamily="34" charset="-120"/>
              </a:rPr>
              <a:t>.”</a:t>
            </a:r>
            <a:endParaRPr lang="en-US" sz="1150" dirty="0">
              <a:solidFill>
                <a:srgbClr val="1E2B45"/>
              </a:solidFill>
              <a:latin typeface="Calibri" pitchFamily="34" charset="0"/>
              <a:ea typeface="Calibri" pitchFamily="34" charset="-122"/>
              <a:cs typeface="Calibri" pitchFamily="34" charset="-120"/>
            </a:endParaRPr>
          </a:p>
        </p:txBody>
      </p:sp>
      <p:sp>
        <p:nvSpPr>
          <p:cNvPr id="18" name="Text 14"/>
          <p:cNvSpPr/>
          <p:nvPr/>
        </p:nvSpPr>
        <p:spPr>
          <a:xfrm>
            <a:off x="5111495" y="4396305"/>
            <a:ext cx="2889504" cy="608076"/>
          </a:xfrm>
          <a:prstGeom prst="rect">
            <a:avLst/>
          </a:prstGeom>
          <a:noFill/>
          <a:ln/>
        </p:spPr>
        <p:txBody>
          <a:bodyPr wrap="square" lIns="0" tIns="0" rIns="0" bIns="0" rtlCol="0" anchor="ctr"/>
          <a:lstStyle/>
          <a:p>
            <a:pPr marL="0" indent="0">
              <a:lnSpc>
                <a:spcPct val="97000"/>
              </a:lnSpc>
              <a:buNone/>
            </a:pPr>
            <a:r>
              <a:rPr lang="en-US" sz="1000" i="1" dirty="0">
                <a:solidFill>
                  <a:srgbClr val="5B6B82"/>
                </a:solidFill>
                <a:latin typeface="Calibri" pitchFamily="34" charset="0"/>
                <a:ea typeface="Calibri" pitchFamily="34" charset="-122"/>
                <a:cs typeface="Calibri" pitchFamily="34" charset="-120"/>
              </a:rPr>
              <a:t>Desired behavior: refusing to fabricate. The limitation lies in retrieval granularity for isolated figures.</a:t>
            </a:r>
            <a:endParaRPr lang="en-US" sz="1000" dirty="0"/>
          </a:p>
        </p:txBody>
      </p:sp>
      <p:sp>
        <p:nvSpPr>
          <p:cNvPr id="19" name="Text 15"/>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8</a:t>
            </a:r>
            <a:endParaRPr lang="en-US" sz="1000" dirty="0"/>
          </a:p>
        </p:txBody>
      </p:sp>
      <p:sp>
        <p:nvSpPr>
          <p:cNvPr id="20" name="Shape 6">
            <a:extLst>
              <a:ext uri="{FF2B5EF4-FFF2-40B4-BE49-F238E27FC236}">
                <a16:creationId xmlns:a16="http://schemas.microsoft.com/office/drawing/2014/main" id="{20DD071A-973E-DA22-BF89-A3E96AC74527}"/>
              </a:ext>
            </a:extLst>
          </p:cNvPr>
          <p:cNvSpPr/>
          <p:nvPr/>
        </p:nvSpPr>
        <p:spPr>
          <a:xfrm>
            <a:off x="676656" y="3745340"/>
            <a:ext cx="3767328" cy="0"/>
          </a:xfrm>
          <a:prstGeom prst="line">
            <a:avLst/>
          </a:prstGeom>
          <a:noFill/>
          <a:ln w="12700">
            <a:solidFill>
              <a:srgbClr val="D8DEE9"/>
            </a:solidFill>
            <a:prstDash val="solid"/>
          </a:ln>
        </p:spPr>
        <p:txBody>
          <a:bodyPr/>
          <a:lstStyle/>
          <a:p>
            <a:endParaRPr lang="en-GB"/>
          </a:p>
        </p:txBody>
      </p:sp>
      <p:sp>
        <p:nvSpPr>
          <p:cNvPr id="21" name="Text 5">
            <a:extLst>
              <a:ext uri="{FF2B5EF4-FFF2-40B4-BE49-F238E27FC236}">
                <a16:creationId xmlns:a16="http://schemas.microsoft.com/office/drawing/2014/main" id="{D9976D02-E0F8-A888-A582-D543E39BACCB}"/>
              </a:ext>
            </a:extLst>
          </p:cNvPr>
          <p:cNvSpPr/>
          <p:nvPr/>
        </p:nvSpPr>
        <p:spPr>
          <a:xfrm>
            <a:off x="676656" y="3745340"/>
            <a:ext cx="3767328" cy="831231"/>
          </a:xfrm>
          <a:prstGeom prst="rect">
            <a:avLst/>
          </a:prstGeom>
          <a:noFill/>
          <a:ln/>
        </p:spPr>
        <p:txBody>
          <a:bodyPr wrap="square" lIns="0" tIns="0" rIns="0" bIns="0" rtlCol="0" anchor="ctr"/>
          <a:lstStyle/>
          <a:p>
            <a:r>
              <a:rPr lang="en-US" sz="1200" b="1" dirty="0">
                <a:solidFill>
                  <a:srgbClr val="2E7D5B"/>
                </a:solidFill>
                <a:latin typeface="Calibri" pitchFamily="34" charset="0"/>
                <a:ea typeface="Calibri" pitchFamily="34" charset="-122"/>
                <a:cs typeface="Calibri" pitchFamily="34" charset="-120"/>
              </a:rPr>
              <a:t>Sources</a:t>
            </a:r>
            <a:r>
              <a:rPr lang="en-US" sz="1150" dirty="0">
                <a:solidFill>
                  <a:srgbClr val="1E2B45"/>
                </a:solidFill>
                <a:latin typeface="Calibri" pitchFamily="34" charset="0"/>
                <a:ea typeface="Calibri" pitchFamily="34" charset="-122"/>
                <a:cs typeface="Calibri" pitchFamily="34" charset="-120"/>
              </a:rPr>
              <a:t>: </a:t>
            </a:r>
            <a:r>
              <a:rPr lang="it-IT" sz="1150" dirty="0">
                <a:solidFill>
                  <a:schemeClr val="accent4">
                    <a:lumMod val="50000"/>
                  </a:schemeClr>
                </a:solidFill>
                <a:latin typeface="Calibri" pitchFamily="34" charset="0"/>
                <a:ea typeface="Calibri" pitchFamily="34" charset="-122"/>
                <a:cs typeface="Calibri" pitchFamily="34" charset="-120"/>
              </a:rPr>
              <a:t>[1]</a:t>
            </a:r>
            <a:r>
              <a:rPr lang="it-IT" sz="1150" dirty="0">
                <a:solidFill>
                  <a:srgbClr val="1E2B45"/>
                </a:solidFill>
                <a:latin typeface="Calibri" pitchFamily="34" charset="0"/>
                <a:ea typeface="Calibri" pitchFamily="34" charset="-122"/>
                <a:cs typeface="Calibri" pitchFamily="34" charset="-120"/>
              </a:rPr>
              <a:t> Capitolul „Europa Alianțelor Politico-Militare”, lecția „Primul Război Mondial”.</a:t>
            </a:r>
          </a:p>
          <a:p>
            <a:r>
              <a:rPr lang="en-GB" sz="1150" dirty="0">
                <a:solidFill>
                  <a:schemeClr val="accent4">
                    <a:lumMod val="50000"/>
                  </a:schemeClr>
                </a:solidFill>
                <a:latin typeface="Calibri" pitchFamily="34" charset="0"/>
                <a:ea typeface="Calibri" pitchFamily="34" charset="-122"/>
                <a:cs typeface="Calibri" pitchFamily="34" charset="-120"/>
              </a:rPr>
              <a:t>[2] </a:t>
            </a:r>
            <a:r>
              <a:rPr lang="en-GB" sz="1150" dirty="0" err="1">
                <a:solidFill>
                  <a:srgbClr val="1E2B45"/>
                </a:solidFill>
                <a:latin typeface="Calibri" pitchFamily="34" charset="0"/>
                <a:ea typeface="Calibri" pitchFamily="34" charset="-122"/>
                <a:cs typeface="Calibri" pitchFamily="34" charset="-120"/>
              </a:rPr>
              <a:t>Capitolul</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Desfășurarea</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Războiului</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lecția</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Primul</a:t>
            </a:r>
            <a:r>
              <a:rPr lang="en-GB" sz="1150" dirty="0">
                <a:solidFill>
                  <a:srgbClr val="1E2B45"/>
                </a:solidFill>
                <a:latin typeface="Calibri" pitchFamily="34" charset="0"/>
                <a:ea typeface="Calibri" pitchFamily="34" charset="-122"/>
                <a:cs typeface="Calibri" pitchFamily="34" charset="-120"/>
              </a:rPr>
              <a:t> </a:t>
            </a:r>
            <a:r>
              <a:rPr lang="en-GB" sz="1150" dirty="0" err="1">
                <a:solidFill>
                  <a:srgbClr val="1E2B45"/>
                </a:solidFill>
                <a:latin typeface="Calibri" pitchFamily="34" charset="0"/>
                <a:ea typeface="Calibri" pitchFamily="34" charset="-122"/>
                <a:cs typeface="Calibri" pitchFamily="34" charset="-120"/>
              </a:rPr>
              <a:t>Război</a:t>
            </a:r>
            <a:r>
              <a:rPr lang="en-GB" sz="1150" dirty="0">
                <a:solidFill>
                  <a:srgbClr val="1E2B45"/>
                </a:solidFill>
                <a:latin typeface="Calibri" pitchFamily="34" charset="0"/>
                <a:ea typeface="Calibri" pitchFamily="34" charset="-122"/>
                <a:cs typeface="Calibri" pitchFamily="34" charset="-120"/>
              </a:rPr>
              <a:t> Mondial”.</a:t>
            </a:r>
            <a:r>
              <a:rPr lang="en-US" sz="1150" dirty="0">
                <a:solidFill>
                  <a:srgbClr val="1E2B45"/>
                </a:solidFill>
                <a:latin typeface="Calibri" pitchFamily="34" charset="0"/>
                <a:ea typeface="Calibri" pitchFamily="34" charset="-122"/>
                <a:cs typeface="Calibri" pitchFamily="34" charset="-12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2C6E72"/>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2C6E72"/>
                </a:solidFill>
                <a:latin typeface="Calibri" pitchFamily="34" charset="0"/>
                <a:ea typeface="Calibri" pitchFamily="34" charset="-122"/>
                <a:cs typeface="Calibri" pitchFamily="34" charset="-120"/>
              </a:rPr>
              <a:t>MODULE 2 · CONTRADICTIONS</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Factual consistency across sources</a:t>
            </a:r>
            <a:endParaRPr lang="en-US" sz="2900" dirty="0"/>
          </a:p>
        </p:txBody>
      </p:sp>
      <p:sp>
        <p:nvSpPr>
          <p:cNvPr id="5" name="Shape 3"/>
          <p:cNvSpPr/>
          <p:nvPr/>
        </p:nvSpPr>
        <p:spPr>
          <a:xfrm>
            <a:off x="502920" y="1463040"/>
            <a:ext cx="3246120" cy="3246120"/>
          </a:xfrm>
          <a:prstGeom prst="roundRect">
            <a:avLst>
              <a:gd name="adj" fmla="val 2817"/>
            </a:avLst>
          </a:prstGeom>
          <a:solidFill>
            <a:srgbClr val="E4F0F0"/>
          </a:solidFill>
          <a:ln/>
        </p:spPr>
        <p:txBody>
          <a:bodyPr/>
          <a:lstStyle/>
          <a:p>
            <a:endParaRPr lang="en-GB"/>
          </a:p>
        </p:txBody>
      </p:sp>
      <p:sp>
        <p:nvSpPr>
          <p:cNvPr id="6" name="Shape 4"/>
          <p:cNvSpPr/>
          <p:nvPr/>
        </p:nvSpPr>
        <p:spPr>
          <a:xfrm>
            <a:off x="713232" y="1664208"/>
            <a:ext cx="512064" cy="512064"/>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851489" y="1802465"/>
            <a:ext cx="235549" cy="235549"/>
          </a:xfrm>
          <a:prstGeom prst="rect">
            <a:avLst/>
          </a:prstGeom>
        </p:spPr>
      </p:pic>
      <p:sp>
        <p:nvSpPr>
          <p:cNvPr id="8" name="Text 5"/>
          <p:cNvSpPr/>
          <p:nvPr/>
        </p:nvSpPr>
        <p:spPr>
          <a:xfrm>
            <a:off x="1335024" y="1700784"/>
            <a:ext cx="2286000" cy="420624"/>
          </a:xfrm>
          <a:prstGeom prst="rect">
            <a:avLst/>
          </a:prstGeom>
          <a:noFill/>
          <a:ln/>
        </p:spPr>
        <p:txBody>
          <a:bodyPr wrap="square" lIns="0" tIns="0" rIns="0" bIns="0" rtlCol="0" anchor="ctr"/>
          <a:lstStyle/>
          <a:p>
            <a:r>
              <a:rPr lang="en-GB" sz="1600" b="1" dirty="0">
                <a:solidFill>
                  <a:srgbClr val="2C6E72"/>
                </a:solidFill>
                <a:latin typeface="Cambria" pitchFamily="34" charset="0"/>
                <a:ea typeface="Cambria" pitchFamily="34" charset="-122"/>
              </a:rPr>
              <a:t>Importance</a:t>
            </a:r>
            <a:endParaRPr lang="en-US" sz="1600" b="1" dirty="0">
              <a:solidFill>
                <a:srgbClr val="2C6E72"/>
              </a:solidFill>
              <a:latin typeface="Cambria" pitchFamily="34" charset="0"/>
              <a:ea typeface="Cambria" pitchFamily="34" charset="-122"/>
            </a:endParaRPr>
          </a:p>
        </p:txBody>
      </p:sp>
      <p:sp>
        <p:nvSpPr>
          <p:cNvPr id="9" name="Shape 6"/>
          <p:cNvSpPr/>
          <p:nvPr/>
        </p:nvSpPr>
        <p:spPr>
          <a:xfrm>
            <a:off x="749808" y="2377440"/>
            <a:ext cx="109728" cy="109728"/>
          </a:xfrm>
          <a:prstGeom prst="ellipse">
            <a:avLst/>
          </a:prstGeom>
          <a:solidFill>
            <a:srgbClr val="2C6E72"/>
          </a:solidFill>
          <a:ln/>
        </p:spPr>
        <p:txBody>
          <a:bodyPr/>
          <a:lstStyle/>
          <a:p>
            <a:endParaRPr lang="en-GB"/>
          </a:p>
        </p:txBody>
      </p:sp>
      <p:sp>
        <p:nvSpPr>
          <p:cNvPr id="10" name="Text 7"/>
          <p:cNvSpPr/>
          <p:nvPr/>
        </p:nvSpPr>
        <p:spPr>
          <a:xfrm>
            <a:off x="969264" y="2286000"/>
            <a:ext cx="2688336" cy="640080"/>
          </a:xfrm>
          <a:prstGeom prst="rect">
            <a:avLst/>
          </a:prstGeom>
          <a:noFill/>
          <a:ln/>
        </p:spPr>
        <p:txBody>
          <a:bodyPr wrap="square" lIns="0" tIns="0" rIns="0" bIns="0" rtlCol="0" anchor="t"/>
          <a:lstStyle/>
          <a:p>
            <a:pPr marL="0" indent="0">
              <a:lnSpc>
                <a:spcPct val="98000"/>
              </a:lnSpc>
              <a:buNone/>
            </a:pPr>
            <a:r>
              <a:rPr lang="en-US" sz="1150" dirty="0">
                <a:solidFill>
                  <a:srgbClr val="1E2B45"/>
                </a:solidFill>
                <a:latin typeface="Calibri" pitchFamily="34" charset="0"/>
                <a:ea typeface="Calibri" pitchFamily="34" charset="-122"/>
                <a:cs typeface="Calibri" pitchFamily="34" charset="-120"/>
              </a:rPr>
              <a:t>History is interpretive: the same events are related differently.</a:t>
            </a:r>
            <a:endParaRPr lang="en-US" sz="1150" dirty="0"/>
          </a:p>
        </p:txBody>
      </p:sp>
      <p:sp>
        <p:nvSpPr>
          <p:cNvPr id="11" name="Shape 8"/>
          <p:cNvSpPr/>
          <p:nvPr/>
        </p:nvSpPr>
        <p:spPr>
          <a:xfrm>
            <a:off x="749808" y="2944368"/>
            <a:ext cx="109728" cy="109728"/>
          </a:xfrm>
          <a:prstGeom prst="ellipse">
            <a:avLst/>
          </a:prstGeom>
          <a:solidFill>
            <a:srgbClr val="2C6E72"/>
          </a:solidFill>
          <a:ln/>
        </p:spPr>
        <p:txBody>
          <a:bodyPr/>
          <a:lstStyle/>
          <a:p>
            <a:endParaRPr lang="en-GB"/>
          </a:p>
        </p:txBody>
      </p:sp>
      <p:sp>
        <p:nvSpPr>
          <p:cNvPr id="12" name="Text 9"/>
          <p:cNvSpPr/>
          <p:nvPr/>
        </p:nvSpPr>
        <p:spPr>
          <a:xfrm>
            <a:off x="969264" y="2852928"/>
            <a:ext cx="2688336" cy="640080"/>
          </a:xfrm>
          <a:prstGeom prst="rect">
            <a:avLst/>
          </a:prstGeom>
          <a:noFill/>
          <a:ln/>
        </p:spPr>
        <p:txBody>
          <a:bodyPr wrap="square" lIns="0" tIns="0" rIns="0" bIns="0" rtlCol="0" anchor="t"/>
          <a:lstStyle/>
          <a:p>
            <a:pPr marL="0" indent="0">
              <a:lnSpc>
                <a:spcPct val="98000"/>
              </a:lnSpc>
              <a:buNone/>
            </a:pPr>
            <a:r>
              <a:rPr lang="en-US" sz="1150" dirty="0">
                <a:solidFill>
                  <a:srgbClr val="1E2B45"/>
                </a:solidFill>
                <a:latin typeface="Calibri" pitchFamily="34" charset="0"/>
                <a:ea typeface="Calibri" pitchFamily="34" charset="-122"/>
                <a:cs typeface="Calibri" pitchFamily="34" charset="-120"/>
              </a:rPr>
              <a:t>Contradictory sources develop students' critical thinking.</a:t>
            </a:r>
            <a:endParaRPr lang="en-US" sz="1150" dirty="0"/>
          </a:p>
        </p:txBody>
      </p:sp>
      <p:sp>
        <p:nvSpPr>
          <p:cNvPr id="13" name="Shape 10"/>
          <p:cNvSpPr/>
          <p:nvPr/>
        </p:nvSpPr>
        <p:spPr>
          <a:xfrm>
            <a:off x="749808" y="3566160"/>
            <a:ext cx="109728" cy="109728"/>
          </a:xfrm>
          <a:prstGeom prst="ellipse">
            <a:avLst/>
          </a:prstGeom>
          <a:solidFill>
            <a:srgbClr val="2C6E72"/>
          </a:solidFill>
          <a:ln/>
        </p:spPr>
        <p:txBody>
          <a:bodyPr/>
          <a:lstStyle/>
          <a:p>
            <a:endParaRPr lang="en-GB"/>
          </a:p>
        </p:txBody>
      </p:sp>
      <p:sp>
        <p:nvSpPr>
          <p:cNvPr id="14" name="Text 11"/>
          <p:cNvSpPr/>
          <p:nvPr/>
        </p:nvSpPr>
        <p:spPr>
          <a:xfrm>
            <a:off x="969264" y="3474720"/>
            <a:ext cx="2688336" cy="640080"/>
          </a:xfrm>
          <a:prstGeom prst="rect">
            <a:avLst/>
          </a:prstGeom>
          <a:noFill/>
          <a:ln/>
        </p:spPr>
        <p:txBody>
          <a:bodyPr wrap="square" lIns="0" tIns="0" rIns="0" bIns="0" rtlCol="0" anchor="t"/>
          <a:lstStyle/>
          <a:p>
            <a:pPr marL="0" indent="0">
              <a:lnSpc>
                <a:spcPct val="98000"/>
              </a:lnSpc>
              <a:buNone/>
            </a:pPr>
            <a:r>
              <a:rPr lang="en-US" sz="1150" dirty="0">
                <a:solidFill>
                  <a:srgbClr val="1E2B45"/>
                </a:solidFill>
                <a:latin typeface="Calibri" pitchFamily="34" charset="0"/>
                <a:ea typeface="Calibri" pitchFamily="34" charset="-122"/>
                <a:cs typeface="Calibri" pitchFamily="34" charset="-120"/>
              </a:rPr>
              <a:t>Sources of comparable authority, with no external arbiter.</a:t>
            </a:r>
            <a:endParaRPr lang="en-US" sz="1150" dirty="0"/>
          </a:p>
        </p:txBody>
      </p:sp>
      <p:sp>
        <p:nvSpPr>
          <p:cNvPr id="15" name="Text 12"/>
          <p:cNvSpPr/>
          <p:nvPr/>
        </p:nvSpPr>
        <p:spPr>
          <a:xfrm>
            <a:off x="713232" y="4169664"/>
            <a:ext cx="2907792" cy="502920"/>
          </a:xfrm>
          <a:prstGeom prst="rect">
            <a:avLst/>
          </a:prstGeom>
          <a:noFill/>
          <a:ln/>
        </p:spPr>
        <p:txBody>
          <a:bodyPr wrap="square" lIns="0" tIns="0" rIns="0" bIns="0" rtlCol="0" anchor="t"/>
          <a:lstStyle/>
          <a:p>
            <a:pPr marL="0" indent="0">
              <a:lnSpc>
                <a:spcPct val="97000"/>
              </a:lnSpc>
              <a:buNone/>
            </a:pPr>
            <a:r>
              <a:rPr lang="en-US" sz="1050" i="1" dirty="0">
                <a:solidFill>
                  <a:srgbClr val="2C6E72"/>
                </a:solidFill>
                <a:latin typeface="Calibri" pitchFamily="34" charset="0"/>
                <a:ea typeface="Calibri" pitchFamily="34" charset="-122"/>
                <a:cs typeface="Calibri" pitchFamily="34" charset="-120"/>
              </a:rPr>
              <a:t>It becomes a question of logical compatibility: can two statements be true at the same time?</a:t>
            </a:r>
            <a:endParaRPr lang="en-US" sz="1050" dirty="0"/>
          </a:p>
        </p:txBody>
      </p:sp>
      <p:sp>
        <p:nvSpPr>
          <p:cNvPr id="16" name="Text 13"/>
          <p:cNvSpPr/>
          <p:nvPr/>
        </p:nvSpPr>
        <p:spPr>
          <a:xfrm>
            <a:off x="4069080" y="1481328"/>
            <a:ext cx="4572000" cy="256032"/>
          </a:xfrm>
          <a:prstGeom prst="rect">
            <a:avLst/>
          </a:prstGeom>
          <a:noFill/>
          <a:ln/>
        </p:spPr>
        <p:txBody>
          <a:bodyPr wrap="square" lIns="0" tIns="0" rIns="0" bIns="0" rtlCol="0" anchor="ctr"/>
          <a:lstStyle/>
          <a:p>
            <a:pPr marL="0" indent="0">
              <a:buNone/>
            </a:pPr>
            <a:r>
              <a:rPr lang="en-US" sz="1150" b="1" kern="0" spc="50" dirty="0">
                <a:solidFill>
                  <a:srgbClr val="2C6E72"/>
                </a:solidFill>
                <a:latin typeface="Calibri" pitchFamily="34" charset="0"/>
                <a:ea typeface="Calibri" pitchFamily="34" charset="-122"/>
                <a:cs typeface="Calibri" pitchFamily="34" charset="-120"/>
              </a:rPr>
              <a:t>THE SOLUTION — ALIGNMENT VIA CANONICAL QUESTIONS</a:t>
            </a:r>
            <a:endParaRPr lang="en-US" sz="1150" dirty="0"/>
          </a:p>
        </p:txBody>
      </p:sp>
      <p:sp>
        <p:nvSpPr>
          <p:cNvPr id="17" name="Text 14"/>
          <p:cNvSpPr/>
          <p:nvPr/>
        </p:nvSpPr>
        <p:spPr>
          <a:xfrm>
            <a:off x="4069080" y="1737360"/>
            <a:ext cx="4572000" cy="457200"/>
          </a:xfrm>
          <a:prstGeom prst="rect">
            <a:avLst/>
          </a:prstGeom>
          <a:noFill/>
          <a:ln/>
        </p:spPr>
        <p:txBody>
          <a:bodyPr wrap="square" lIns="0" tIns="0" rIns="0" bIns="0" rtlCol="0" anchor="ctr"/>
          <a:lstStyle/>
          <a:p>
            <a:pPr marL="0" indent="0">
              <a:lnSpc>
                <a:spcPct val="97000"/>
              </a:lnSpc>
              <a:buNone/>
            </a:pPr>
            <a:r>
              <a:rPr lang="en-US" sz="1150" dirty="0">
                <a:solidFill>
                  <a:srgbClr val="5B6B82"/>
                </a:solidFill>
                <a:latin typeface="Calibri" pitchFamily="34" charset="0"/>
                <a:ea typeface="Calibri" pitchFamily="34" charset="-122"/>
                <a:cs typeface="Calibri" pitchFamily="34" charset="-120"/>
              </a:rPr>
              <a:t>The same questions are applied to each source → answers become comparable by construction.</a:t>
            </a:r>
            <a:endParaRPr lang="en-US" sz="1150" dirty="0"/>
          </a:p>
        </p:txBody>
      </p:sp>
      <p:sp>
        <p:nvSpPr>
          <p:cNvPr id="18" name="Shape 15"/>
          <p:cNvSpPr/>
          <p:nvPr/>
        </p:nvSpPr>
        <p:spPr>
          <a:xfrm>
            <a:off x="4069080" y="2286000"/>
            <a:ext cx="4572000" cy="566928"/>
          </a:xfrm>
          <a:prstGeom prst="roundRect">
            <a:avLst>
              <a:gd name="adj" fmla="val 12903"/>
            </a:avLst>
          </a:prstGeom>
          <a:solidFill>
            <a:srgbClr val="15233B"/>
          </a:solidFill>
          <a:ln/>
          <a:effectLst>
            <a:outerShdw blurRad="88900" dist="38100" dir="5400000" algn="bl" rotWithShape="0">
              <a:srgbClr val="000000">
                <a:alpha val="14000"/>
              </a:srgbClr>
            </a:outerShdw>
          </a:effectLst>
        </p:spPr>
        <p:txBody>
          <a:bodyPr/>
          <a:lstStyle/>
          <a:p>
            <a:endParaRPr lang="en-GB"/>
          </a:p>
        </p:txBody>
      </p:sp>
      <p:pic>
        <p:nvPicPr>
          <p:cNvPr id="19" name="Image 1" descr="preencoded.png"/>
          <p:cNvPicPr>
            <a:picLocks noChangeAspect="1"/>
          </p:cNvPicPr>
          <p:nvPr/>
        </p:nvPicPr>
        <p:blipFill>
          <a:blip r:embed="rId4"/>
          <a:stretch>
            <a:fillRect/>
          </a:stretch>
        </p:blipFill>
        <p:spPr>
          <a:xfrm>
            <a:off x="4224528" y="2432304"/>
            <a:ext cx="274320" cy="274320"/>
          </a:xfrm>
          <a:prstGeom prst="rect">
            <a:avLst/>
          </a:prstGeom>
        </p:spPr>
      </p:pic>
      <p:sp>
        <p:nvSpPr>
          <p:cNvPr id="20" name="Text 16"/>
          <p:cNvSpPr/>
          <p:nvPr/>
        </p:nvSpPr>
        <p:spPr>
          <a:xfrm>
            <a:off x="4590288" y="2286000"/>
            <a:ext cx="3931920" cy="566928"/>
          </a:xfrm>
          <a:prstGeom prst="rect">
            <a:avLst/>
          </a:prstGeom>
          <a:noFill/>
          <a:ln/>
        </p:spPr>
        <p:txBody>
          <a:bodyPr wrap="square" lIns="0" tIns="0" rIns="0" bIns="0" rtlCol="0" anchor="ctr"/>
          <a:lstStyle/>
          <a:p>
            <a:r>
              <a:rPr lang="en-US" sz="1150" b="1" dirty="0">
                <a:solidFill>
                  <a:srgbClr val="FFFFFF"/>
                </a:solidFill>
                <a:latin typeface="Calibri" pitchFamily="34" charset="0"/>
                <a:ea typeface="Calibri" pitchFamily="34" charset="-122"/>
                <a:cs typeface="Calibri" pitchFamily="34" charset="-120"/>
              </a:rPr>
              <a:t>Canonical question:  “</a:t>
            </a:r>
            <a:r>
              <a:rPr lang="en-GB" sz="1150" b="1" dirty="0" err="1">
                <a:solidFill>
                  <a:srgbClr val="FFFFFF"/>
                </a:solidFill>
                <a:latin typeface="Calibri" pitchFamily="34" charset="0"/>
                <a:ea typeface="Calibri" pitchFamily="34" charset="-122"/>
                <a:cs typeface="Calibri" pitchFamily="34" charset="-120"/>
              </a:rPr>
              <a:t>Când</a:t>
            </a:r>
            <a:r>
              <a:rPr lang="en-GB" sz="1150" b="1" dirty="0">
                <a:solidFill>
                  <a:srgbClr val="FFFFFF"/>
                </a:solidFill>
                <a:latin typeface="Calibri" pitchFamily="34" charset="0"/>
                <a:ea typeface="Calibri" pitchFamily="34" charset="-122"/>
                <a:cs typeface="Calibri" pitchFamily="34" charset="-120"/>
              </a:rPr>
              <a:t> a </a:t>
            </a:r>
            <a:r>
              <a:rPr lang="en-GB" sz="1150" b="1" dirty="0" err="1">
                <a:solidFill>
                  <a:srgbClr val="FFFFFF"/>
                </a:solidFill>
                <a:latin typeface="Calibri" pitchFamily="34" charset="0"/>
                <a:ea typeface="Calibri" pitchFamily="34" charset="-122"/>
                <a:cs typeface="Calibri" pitchFamily="34" charset="-120"/>
              </a:rPr>
              <a:t>intrat</a:t>
            </a:r>
            <a:r>
              <a:rPr lang="en-GB" sz="1150" b="1" dirty="0">
                <a:solidFill>
                  <a:srgbClr val="FFFFFF"/>
                </a:solidFill>
                <a:latin typeface="Calibri" pitchFamily="34" charset="0"/>
                <a:ea typeface="Calibri" pitchFamily="34" charset="-122"/>
                <a:cs typeface="Calibri" pitchFamily="34" charset="-120"/>
              </a:rPr>
              <a:t> </a:t>
            </a:r>
            <a:r>
              <a:rPr lang="en-GB" sz="1150" b="1" dirty="0" err="1">
                <a:solidFill>
                  <a:srgbClr val="FFFFFF"/>
                </a:solidFill>
                <a:latin typeface="Calibri" pitchFamily="34" charset="0"/>
                <a:ea typeface="Calibri" pitchFamily="34" charset="-122"/>
                <a:cs typeface="Calibri" pitchFamily="34" charset="-120"/>
              </a:rPr>
              <a:t>România</a:t>
            </a:r>
            <a:r>
              <a:rPr lang="en-GB" sz="1150" b="1" dirty="0">
                <a:solidFill>
                  <a:srgbClr val="FFFFFF"/>
                </a:solidFill>
                <a:latin typeface="Calibri" pitchFamily="34" charset="0"/>
                <a:ea typeface="Calibri" pitchFamily="34" charset="-122"/>
                <a:cs typeface="Calibri" pitchFamily="34" charset="-120"/>
              </a:rPr>
              <a:t> </a:t>
            </a:r>
            <a:r>
              <a:rPr lang="en-GB" sz="1150" b="1" dirty="0" err="1">
                <a:solidFill>
                  <a:srgbClr val="FFFFFF"/>
                </a:solidFill>
                <a:latin typeface="Calibri" pitchFamily="34" charset="0"/>
                <a:ea typeface="Calibri" pitchFamily="34" charset="-122"/>
                <a:cs typeface="Calibri" pitchFamily="34" charset="-120"/>
              </a:rPr>
              <a:t>în</a:t>
            </a:r>
            <a:r>
              <a:rPr lang="en-GB" sz="1150" b="1" dirty="0">
                <a:solidFill>
                  <a:srgbClr val="FFFFFF"/>
                </a:solidFill>
                <a:latin typeface="Calibri" pitchFamily="34" charset="0"/>
                <a:ea typeface="Calibri" pitchFamily="34" charset="-122"/>
                <a:cs typeface="Calibri" pitchFamily="34" charset="-120"/>
              </a:rPr>
              <a:t> </a:t>
            </a:r>
            <a:r>
              <a:rPr lang="en-GB" sz="1150" b="1" dirty="0" err="1">
                <a:solidFill>
                  <a:srgbClr val="FFFFFF"/>
                </a:solidFill>
                <a:latin typeface="Calibri" pitchFamily="34" charset="0"/>
                <a:ea typeface="Calibri" pitchFamily="34" charset="-122"/>
                <a:cs typeface="Calibri" pitchFamily="34" charset="-120"/>
              </a:rPr>
              <a:t>Primul</a:t>
            </a:r>
            <a:r>
              <a:rPr lang="en-GB" sz="1150" b="1" dirty="0">
                <a:solidFill>
                  <a:srgbClr val="FFFFFF"/>
                </a:solidFill>
                <a:latin typeface="Calibri" pitchFamily="34" charset="0"/>
                <a:ea typeface="Calibri" pitchFamily="34" charset="-122"/>
                <a:cs typeface="Calibri" pitchFamily="34" charset="-120"/>
              </a:rPr>
              <a:t> </a:t>
            </a:r>
            <a:r>
              <a:rPr lang="en-GB" sz="1150" b="1" dirty="0" err="1">
                <a:solidFill>
                  <a:srgbClr val="FFFFFF"/>
                </a:solidFill>
                <a:latin typeface="Calibri" pitchFamily="34" charset="0"/>
                <a:ea typeface="Calibri" pitchFamily="34" charset="-122"/>
                <a:cs typeface="Calibri" pitchFamily="34" charset="-120"/>
              </a:rPr>
              <a:t>Război</a:t>
            </a:r>
            <a:r>
              <a:rPr lang="en-GB" sz="1150" b="1" dirty="0">
                <a:solidFill>
                  <a:srgbClr val="FFFFFF"/>
                </a:solidFill>
                <a:latin typeface="Calibri" pitchFamily="34" charset="0"/>
                <a:ea typeface="Calibri" pitchFamily="34" charset="-122"/>
                <a:cs typeface="Calibri" pitchFamily="34" charset="-120"/>
              </a:rPr>
              <a:t> Mondial?</a:t>
            </a: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21" name="Shape 17"/>
          <p:cNvSpPr/>
          <p:nvPr/>
        </p:nvSpPr>
        <p:spPr>
          <a:xfrm>
            <a:off x="4069080" y="3127248"/>
            <a:ext cx="2926080" cy="640080"/>
          </a:xfrm>
          <a:prstGeom prst="roundRect">
            <a:avLst>
              <a:gd name="adj" fmla="val 11429"/>
            </a:avLst>
          </a:prstGeom>
          <a:solidFill>
            <a:srgbClr val="F4F6FA"/>
          </a:solidFill>
          <a:ln w="12700">
            <a:solidFill>
              <a:srgbClr val="D8DEE9"/>
            </a:solidFill>
            <a:prstDash val="solid"/>
          </a:ln>
        </p:spPr>
        <p:txBody>
          <a:bodyPr/>
          <a:lstStyle/>
          <a:p>
            <a:endParaRPr lang="en-GB"/>
          </a:p>
        </p:txBody>
      </p:sp>
      <p:sp>
        <p:nvSpPr>
          <p:cNvPr id="22" name="Text 18"/>
          <p:cNvSpPr/>
          <p:nvPr/>
        </p:nvSpPr>
        <p:spPr>
          <a:xfrm>
            <a:off x="4224528" y="3127248"/>
            <a:ext cx="2651760" cy="640080"/>
          </a:xfrm>
          <a:prstGeom prst="rect">
            <a:avLst/>
          </a:prstGeom>
          <a:noFill/>
          <a:ln/>
        </p:spPr>
        <p:txBody>
          <a:bodyPr wrap="square" lIns="0" tIns="0" rIns="0" bIns="0" rtlCol="0" anchor="ctr"/>
          <a:lstStyle/>
          <a:p>
            <a:pPr marL="0" indent="0">
              <a:lnSpc>
                <a:spcPct val="92000"/>
              </a:lnSpc>
              <a:buNone/>
            </a:pPr>
            <a:r>
              <a:rPr lang="en-US" sz="950" dirty="0">
                <a:solidFill>
                  <a:srgbClr val="5B6B82"/>
                </a:solidFill>
                <a:latin typeface="Calibri" pitchFamily="34" charset="0"/>
                <a:ea typeface="Calibri" pitchFamily="34" charset="-122"/>
                <a:cs typeface="Calibri" pitchFamily="34" charset="-120"/>
              </a:rPr>
              <a:t>Source A (textbook)</a:t>
            </a:r>
            <a:endParaRPr lang="en-US" sz="950" dirty="0"/>
          </a:p>
          <a:p>
            <a:pPr marL="0" indent="0">
              <a:lnSpc>
                <a:spcPct val="92000"/>
              </a:lnSpc>
              <a:buNone/>
            </a:pPr>
            <a:r>
              <a:rPr lang="en-US" sz="1300" b="1" dirty="0">
                <a:solidFill>
                  <a:srgbClr val="1E2B45"/>
                </a:solidFill>
                <a:latin typeface="Calibri" pitchFamily="34" charset="0"/>
                <a:ea typeface="Calibri" pitchFamily="34" charset="-122"/>
                <a:cs typeface="Calibri" pitchFamily="34" charset="-120"/>
              </a:rPr>
              <a:t>28 August 1916</a:t>
            </a:r>
            <a:endParaRPr lang="en-US" sz="950" dirty="0"/>
          </a:p>
        </p:txBody>
      </p:sp>
      <p:sp>
        <p:nvSpPr>
          <p:cNvPr id="23" name="Shape 19"/>
          <p:cNvSpPr/>
          <p:nvPr/>
        </p:nvSpPr>
        <p:spPr>
          <a:xfrm>
            <a:off x="4069080" y="3913632"/>
            <a:ext cx="2926080" cy="640080"/>
          </a:xfrm>
          <a:prstGeom prst="roundRect">
            <a:avLst>
              <a:gd name="adj" fmla="val 11429"/>
            </a:avLst>
          </a:prstGeom>
          <a:solidFill>
            <a:srgbClr val="F4F6FA"/>
          </a:solidFill>
          <a:ln w="12700">
            <a:solidFill>
              <a:srgbClr val="D8DEE9"/>
            </a:solidFill>
            <a:prstDash val="solid"/>
          </a:ln>
        </p:spPr>
        <p:txBody>
          <a:bodyPr/>
          <a:lstStyle/>
          <a:p>
            <a:endParaRPr lang="en-GB"/>
          </a:p>
        </p:txBody>
      </p:sp>
      <p:sp>
        <p:nvSpPr>
          <p:cNvPr id="24" name="Text 20"/>
          <p:cNvSpPr/>
          <p:nvPr/>
        </p:nvSpPr>
        <p:spPr>
          <a:xfrm>
            <a:off x="4224528" y="3913632"/>
            <a:ext cx="2651760" cy="640080"/>
          </a:xfrm>
          <a:prstGeom prst="rect">
            <a:avLst/>
          </a:prstGeom>
          <a:noFill/>
          <a:ln/>
        </p:spPr>
        <p:txBody>
          <a:bodyPr wrap="square" lIns="0" tIns="0" rIns="0" bIns="0" rtlCol="0" anchor="ctr"/>
          <a:lstStyle/>
          <a:p>
            <a:pPr marL="0" indent="0">
              <a:lnSpc>
                <a:spcPct val="92000"/>
              </a:lnSpc>
              <a:buNone/>
            </a:pPr>
            <a:r>
              <a:rPr lang="en-US" sz="950" dirty="0">
                <a:solidFill>
                  <a:srgbClr val="5B6B82"/>
                </a:solidFill>
                <a:latin typeface="Calibri" pitchFamily="34" charset="0"/>
                <a:ea typeface="Calibri" pitchFamily="34" charset="-122"/>
                <a:cs typeface="Calibri" pitchFamily="34" charset="-120"/>
              </a:rPr>
              <a:t>Source B (synthetic)</a:t>
            </a:r>
            <a:endParaRPr lang="en-US" sz="950" dirty="0"/>
          </a:p>
          <a:p>
            <a:pPr marL="0" indent="0">
              <a:lnSpc>
                <a:spcPct val="92000"/>
              </a:lnSpc>
              <a:buNone/>
            </a:pPr>
            <a:r>
              <a:rPr lang="en-US" sz="1300" b="1" dirty="0">
                <a:solidFill>
                  <a:srgbClr val="B23A3A"/>
                </a:solidFill>
                <a:latin typeface="Calibri" pitchFamily="34" charset="0"/>
                <a:ea typeface="Calibri" pitchFamily="34" charset="-122"/>
                <a:cs typeface="Calibri" pitchFamily="34" charset="-120"/>
              </a:rPr>
              <a:t>14 August 1916</a:t>
            </a:r>
            <a:endParaRPr lang="en-US" sz="950" dirty="0"/>
          </a:p>
        </p:txBody>
      </p:sp>
      <p:sp>
        <p:nvSpPr>
          <p:cNvPr id="25" name="Shape 21"/>
          <p:cNvSpPr/>
          <p:nvPr/>
        </p:nvSpPr>
        <p:spPr>
          <a:xfrm>
            <a:off x="6995160" y="3447288"/>
            <a:ext cx="320040" cy="0"/>
          </a:xfrm>
          <a:prstGeom prst="line">
            <a:avLst/>
          </a:prstGeom>
          <a:noFill/>
          <a:ln w="22225">
            <a:solidFill>
              <a:srgbClr val="2C6E72"/>
            </a:solidFill>
            <a:prstDash val="solid"/>
            <a:tailEnd type="triangle"/>
          </a:ln>
        </p:spPr>
        <p:txBody>
          <a:bodyPr/>
          <a:lstStyle/>
          <a:p>
            <a:endParaRPr lang="en-GB"/>
          </a:p>
        </p:txBody>
      </p:sp>
      <p:sp>
        <p:nvSpPr>
          <p:cNvPr id="26" name="Shape 22"/>
          <p:cNvSpPr/>
          <p:nvPr/>
        </p:nvSpPr>
        <p:spPr>
          <a:xfrm>
            <a:off x="6995160" y="4233672"/>
            <a:ext cx="320040" cy="0"/>
          </a:xfrm>
          <a:prstGeom prst="line">
            <a:avLst/>
          </a:prstGeom>
          <a:noFill/>
          <a:ln w="22225">
            <a:solidFill>
              <a:srgbClr val="2C6E72"/>
            </a:solidFill>
            <a:prstDash val="solid"/>
            <a:tailEnd type="triangle"/>
          </a:ln>
        </p:spPr>
        <p:txBody>
          <a:bodyPr/>
          <a:lstStyle/>
          <a:p>
            <a:endParaRPr lang="en-GB"/>
          </a:p>
        </p:txBody>
      </p:sp>
      <p:grpSp>
        <p:nvGrpSpPr>
          <p:cNvPr id="32" name="Group 31">
            <a:extLst>
              <a:ext uri="{FF2B5EF4-FFF2-40B4-BE49-F238E27FC236}">
                <a16:creationId xmlns:a16="http://schemas.microsoft.com/office/drawing/2014/main" id="{3320904E-9EDC-35C1-7A86-90B53239F24C}"/>
              </a:ext>
            </a:extLst>
          </p:cNvPr>
          <p:cNvGrpSpPr/>
          <p:nvPr/>
        </p:nvGrpSpPr>
        <p:grpSpPr>
          <a:xfrm>
            <a:off x="7315200" y="3347720"/>
            <a:ext cx="1280160" cy="969264"/>
            <a:chOff x="7360920" y="3310128"/>
            <a:chExt cx="1280160" cy="969264"/>
          </a:xfrm>
        </p:grpSpPr>
        <p:sp>
          <p:nvSpPr>
            <p:cNvPr id="27" name="Shape 23"/>
            <p:cNvSpPr>
              <a:spLocks/>
            </p:cNvSpPr>
            <p:nvPr/>
          </p:nvSpPr>
          <p:spPr>
            <a:xfrm>
              <a:off x="7360920" y="3310128"/>
              <a:ext cx="1280160" cy="969264"/>
            </a:xfrm>
            <a:prstGeom prst="roundRect">
              <a:avLst>
                <a:gd name="adj" fmla="val 9434"/>
              </a:avLst>
            </a:prstGeom>
            <a:solidFill>
              <a:srgbClr val="FCEBEA"/>
            </a:solidFill>
            <a:ln w="15875">
              <a:solidFill>
                <a:srgbClr val="B23A3A"/>
              </a:solidFill>
              <a:prstDash val="solid"/>
            </a:ln>
          </p:spPr>
          <p:txBody>
            <a:bodyPr/>
            <a:lstStyle/>
            <a:p>
              <a:endParaRPr lang="en-GB"/>
            </a:p>
          </p:txBody>
        </p:sp>
        <p:pic>
          <p:nvPicPr>
            <p:cNvPr id="28" name="Image 2" descr="preencoded.png"/>
            <p:cNvPicPr>
              <a:picLocks noChangeAspect="1"/>
            </p:cNvPicPr>
            <p:nvPr/>
          </p:nvPicPr>
          <p:blipFill>
            <a:blip r:embed="rId5"/>
            <a:stretch>
              <a:fillRect/>
            </a:stretch>
          </p:blipFill>
          <p:spPr>
            <a:xfrm>
              <a:off x="7836408" y="3419856"/>
              <a:ext cx="329184" cy="329184"/>
            </a:xfrm>
            <a:prstGeom prst="rect">
              <a:avLst/>
            </a:prstGeom>
          </p:spPr>
        </p:pic>
        <p:sp>
          <p:nvSpPr>
            <p:cNvPr id="29" name="Text 24"/>
            <p:cNvSpPr>
              <a:spLocks/>
            </p:cNvSpPr>
            <p:nvPr/>
          </p:nvSpPr>
          <p:spPr>
            <a:xfrm>
              <a:off x="7360920" y="3767328"/>
              <a:ext cx="1280160" cy="475488"/>
            </a:xfrm>
            <a:prstGeom prst="rect">
              <a:avLst/>
            </a:prstGeom>
            <a:noFill/>
            <a:ln/>
          </p:spPr>
          <p:txBody>
            <a:bodyPr wrap="square" lIns="0" tIns="0" rIns="0" bIns="0" rtlCol="0" anchor="ctr"/>
            <a:lstStyle/>
            <a:p>
              <a:pPr marL="0" indent="0" algn="ctr">
                <a:lnSpc>
                  <a:spcPct val="92000"/>
                </a:lnSpc>
                <a:buNone/>
              </a:pPr>
              <a:r>
                <a:rPr lang="en-US" sz="1050" b="1" dirty="0">
                  <a:solidFill>
                    <a:srgbClr val="B23A3A"/>
                  </a:solidFill>
                  <a:latin typeface="Calibri" pitchFamily="34" charset="0"/>
                  <a:ea typeface="Calibri" pitchFamily="34" charset="-122"/>
                  <a:cs typeface="Calibri" pitchFamily="34" charset="-120"/>
                </a:rPr>
                <a:t>Comparable →</a:t>
              </a:r>
              <a:endParaRPr lang="en-US" sz="1050" dirty="0"/>
            </a:p>
            <a:p>
              <a:pPr marL="0" indent="0" algn="ctr">
                <a:lnSpc>
                  <a:spcPct val="92000"/>
                </a:lnSpc>
                <a:buNone/>
              </a:pPr>
              <a:r>
                <a:rPr lang="en-US" sz="1050" b="1" dirty="0">
                  <a:solidFill>
                    <a:srgbClr val="B23A3A"/>
                  </a:solidFill>
                  <a:latin typeface="Calibri" pitchFamily="34" charset="0"/>
                  <a:ea typeface="Calibri" pitchFamily="34" charset="-122"/>
                  <a:cs typeface="Calibri" pitchFamily="34" charset="-120"/>
                </a:rPr>
                <a:t>contradiction</a:t>
              </a:r>
              <a:endParaRPr lang="en-US" sz="1050" dirty="0"/>
            </a:p>
          </p:txBody>
        </p:sp>
      </p:grpSp>
      <p:sp>
        <p:nvSpPr>
          <p:cNvPr id="30" name="Text 25"/>
          <p:cNvSpPr/>
          <p:nvPr/>
        </p:nvSpPr>
        <p:spPr>
          <a:xfrm>
            <a:off x="4069080" y="4626864"/>
            <a:ext cx="4572000" cy="411480"/>
          </a:xfrm>
          <a:prstGeom prst="rect">
            <a:avLst/>
          </a:prstGeom>
          <a:noFill/>
          <a:ln/>
        </p:spPr>
        <p:txBody>
          <a:bodyPr wrap="square" lIns="0" tIns="0" rIns="0" bIns="0" rtlCol="0" anchor="ctr"/>
          <a:lstStyle/>
          <a:p>
            <a:pPr marL="0" indent="0">
              <a:lnSpc>
                <a:spcPct val="95000"/>
              </a:lnSpc>
              <a:buNone/>
            </a:pPr>
            <a:r>
              <a:rPr lang="en-US" sz="1000" i="1" dirty="0">
                <a:solidFill>
                  <a:srgbClr val="5B6B82"/>
                </a:solidFill>
                <a:latin typeface="Calibri" pitchFamily="34" charset="0"/>
                <a:ea typeface="Calibri" pitchFamily="34" charset="-122"/>
                <a:cs typeface="Calibri" pitchFamily="34" charset="-120"/>
              </a:rPr>
              <a:t>Automatic similarity-based clustering would produce false positives; question alignment resolves comparability by design.</a:t>
            </a:r>
            <a:endParaRPr lang="en-US" sz="1000" dirty="0"/>
          </a:p>
        </p:txBody>
      </p:sp>
      <p:sp>
        <p:nvSpPr>
          <p:cNvPr id="31" name="Text 26"/>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2C6E72"/>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2C6E72"/>
                </a:solidFill>
                <a:latin typeface="Calibri" pitchFamily="34" charset="0"/>
                <a:ea typeface="Calibri" pitchFamily="34" charset="-122"/>
                <a:cs typeface="Calibri" pitchFamily="34" charset="-120"/>
              </a:rPr>
              <a:t>MODULE 2 · MECHANISMS</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Four complementary signals, aggregated</a:t>
            </a:r>
            <a:endParaRPr lang="en-US" sz="29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For each pair of comparable statements, several mechanisms produce scores, which are then combined.</a:t>
            </a:r>
            <a:endParaRPr lang="en-US" sz="1250" dirty="0"/>
          </a:p>
        </p:txBody>
      </p:sp>
      <p:sp>
        <p:nvSpPr>
          <p:cNvPr id="6" name="Shape 4"/>
          <p:cNvSpPr/>
          <p:nvPr/>
        </p:nvSpPr>
        <p:spPr>
          <a:xfrm>
            <a:off x="420624" y="1828800"/>
            <a:ext cx="1993392" cy="2011680"/>
          </a:xfrm>
          <a:prstGeom prst="roundRect">
            <a:avLst>
              <a:gd name="adj" fmla="val 3670"/>
            </a:avLst>
          </a:prstGeom>
          <a:solidFill>
            <a:srgbClr val="E4F0F0"/>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7" name="Shape 5"/>
          <p:cNvSpPr/>
          <p:nvPr/>
        </p:nvSpPr>
        <p:spPr>
          <a:xfrm>
            <a:off x="585216" y="2011680"/>
            <a:ext cx="512064" cy="512064"/>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723473" y="2149937"/>
            <a:ext cx="235549" cy="235549"/>
          </a:xfrm>
          <a:prstGeom prst="rect">
            <a:avLst/>
          </a:prstGeom>
        </p:spPr>
      </p:pic>
      <p:sp>
        <p:nvSpPr>
          <p:cNvPr id="9" name="Shape 6"/>
          <p:cNvSpPr/>
          <p:nvPr/>
        </p:nvSpPr>
        <p:spPr>
          <a:xfrm>
            <a:off x="1993392" y="1975104"/>
            <a:ext cx="274320" cy="274320"/>
          </a:xfrm>
          <a:prstGeom prst="ellipse">
            <a:avLst/>
          </a:prstGeom>
          <a:solidFill>
            <a:srgbClr val="C9882E"/>
          </a:solidFill>
          <a:ln/>
        </p:spPr>
        <p:txBody>
          <a:bodyPr/>
          <a:lstStyle/>
          <a:p>
            <a:endParaRPr lang="en-GB"/>
          </a:p>
        </p:txBody>
      </p:sp>
      <p:sp>
        <p:nvSpPr>
          <p:cNvPr id="10" name="Text 7"/>
          <p:cNvSpPr/>
          <p:nvPr/>
        </p:nvSpPr>
        <p:spPr>
          <a:xfrm>
            <a:off x="1993392" y="19751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8"/>
          <p:cNvSpPr/>
          <p:nvPr/>
        </p:nvSpPr>
        <p:spPr>
          <a:xfrm>
            <a:off x="566928" y="2633472"/>
            <a:ext cx="1700784" cy="457200"/>
          </a:xfrm>
          <a:prstGeom prst="rect">
            <a:avLst/>
          </a:prstGeom>
          <a:noFill/>
          <a:ln/>
        </p:spPr>
        <p:txBody>
          <a:bodyPr wrap="square" lIns="0" tIns="0" rIns="0" bIns="0" rtlCol="0" anchor="t"/>
          <a:lstStyle/>
          <a:p>
            <a:pPr marL="0" indent="0">
              <a:lnSpc>
                <a:spcPct val="92000"/>
              </a:lnSpc>
              <a:buNone/>
            </a:pPr>
            <a:r>
              <a:rPr lang="en-US" sz="1300" b="1" dirty="0">
                <a:solidFill>
                  <a:srgbClr val="1E2B45"/>
                </a:solidFill>
                <a:latin typeface="Calibri" pitchFamily="34" charset="0"/>
                <a:ea typeface="Calibri" pitchFamily="34" charset="-122"/>
                <a:cs typeface="Calibri" pitchFamily="34" charset="-120"/>
              </a:rPr>
              <a:t>Structural conflict</a:t>
            </a:r>
            <a:endParaRPr lang="en-US" sz="1300" dirty="0"/>
          </a:p>
        </p:txBody>
      </p:sp>
      <p:sp>
        <p:nvSpPr>
          <p:cNvPr id="12" name="Text 9"/>
          <p:cNvSpPr/>
          <p:nvPr/>
        </p:nvSpPr>
        <p:spPr>
          <a:xfrm>
            <a:off x="566928" y="3054096"/>
            <a:ext cx="1700784" cy="731520"/>
          </a:xfrm>
          <a:prstGeom prst="rect">
            <a:avLst/>
          </a:prstGeom>
          <a:noFill/>
          <a:ln/>
        </p:spPr>
        <p:txBody>
          <a:bodyPr wrap="square" lIns="0" tIns="0" rIns="0" bIns="0" rtlCol="0" anchor="t"/>
          <a:lstStyle/>
          <a:p>
            <a:pPr marL="0" indent="0">
              <a:lnSpc>
                <a:spcPct val="97000"/>
              </a:lnSpc>
              <a:buNone/>
            </a:pPr>
            <a:r>
              <a:rPr lang="en-US" sz="1000" dirty="0">
                <a:solidFill>
                  <a:srgbClr val="5B6B82"/>
                </a:solidFill>
                <a:latin typeface="Calibri" pitchFamily="34" charset="0"/>
                <a:ea typeface="Calibri" pitchFamily="34" charset="-122"/>
                <a:cs typeface="Calibri" pitchFamily="34" charset="-120"/>
              </a:rPr>
              <a:t>Different dates or numbers for the same aspect. A very precise signal.</a:t>
            </a:r>
            <a:endParaRPr lang="en-US" sz="1000" dirty="0"/>
          </a:p>
        </p:txBody>
      </p:sp>
      <p:sp>
        <p:nvSpPr>
          <p:cNvPr id="13" name="Shape 10"/>
          <p:cNvSpPr/>
          <p:nvPr/>
        </p:nvSpPr>
        <p:spPr>
          <a:xfrm>
            <a:off x="2523744" y="1828800"/>
            <a:ext cx="1993392" cy="2011680"/>
          </a:xfrm>
          <a:prstGeom prst="roundRect">
            <a:avLst>
              <a:gd name="adj" fmla="val 3670"/>
            </a:avLst>
          </a:prstGeom>
          <a:solidFill>
            <a:srgbClr val="EAF0F8"/>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14" name="Shape 11"/>
          <p:cNvSpPr/>
          <p:nvPr/>
        </p:nvSpPr>
        <p:spPr>
          <a:xfrm>
            <a:off x="2688336" y="2011680"/>
            <a:ext cx="512064" cy="51206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15" name="Image 1" descr="preencoded.png"/>
          <p:cNvPicPr>
            <a:picLocks noChangeAspect="1"/>
          </p:cNvPicPr>
          <p:nvPr/>
        </p:nvPicPr>
        <p:blipFill>
          <a:blip r:embed="rId4"/>
          <a:stretch>
            <a:fillRect/>
          </a:stretch>
        </p:blipFill>
        <p:spPr>
          <a:xfrm>
            <a:off x="2826593" y="2149937"/>
            <a:ext cx="235549" cy="235549"/>
          </a:xfrm>
          <a:prstGeom prst="rect">
            <a:avLst/>
          </a:prstGeom>
        </p:spPr>
      </p:pic>
      <p:sp>
        <p:nvSpPr>
          <p:cNvPr id="16" name="Shape 12"/>
          <p:cNvSpPr/>
          <p:nvPr/>
        </p:nvSpPr>
        <p:spPr>
          <a:xfrm>
            <a:off x="4096512" y="1975104"/>
            <a:ext cx="274320" cy="274320"/>
          </a:xfrm>
          <a:prstGeom prst="ellipse">
            <a:avLst/>
          </a:prstGeom>
          <a:solidFill>
            <a:srgbClr val="C9882E"/>
          </a:solidFill>
          <a:ln/>
        </p:spPr>
        <p:txBody>
          <a:bodyPr/>
          <a:lstStyle/>
          <a:p>
            <a:endParaRPr lang="en-GB"/>
          </a:p>
        </p:txBody>
      </p:sp>
      <p:sp>
        <p:nvSpPr>
          <p:cNvPr id="17" name="Text 13"/>
          <p:cNvSpPr/>
          <p:nvPr/>
        </p:nvSpPr>
        <p:spPr>
          <a:xfrm>
            <a:off x="4096512" y="19751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8" name="Text 14"/>
          <p:cNvSpPr/>
          <p:nvPr/>
        </p:nvSpPr>
        <p:spPr>
          <a:xfrm>
            <a:off x="2670048" y="2633472"/>
            <a:ext cx="1700784" cy="457200"/>
          </a:xfrm>
          <a:prstGeom prst="rect">
            <a:avLst/>
          </a:prstGeom>
          <a:noFill/>
          <a:ln/>
        </p:spPr>
        <p:txBody>
          <a:bodyPr wrap="square" lIns="0" tIns="0" rIns="0" bIns="0" rtlCol="0" anchor="t"/>
          <a:lstStyle/>
          <a:p>
            <a:pPr marL="0" indent="0">
              <a:lnSpc>
                <a:spcPct val="92000"/>
              </a:lnSpc>
              <a:buNone/>
            </a:pPr>
            <a:r>
              <a:rPr lang="en-US" sz="1300" b="1" dirty="0">
                <a:solidFill>
                  <a:srgbClr val="1E2B45"/>
                </a:solidFill>
                <a:latin typeface="Calibri" pitchFamily="34" charset="0"/>
                <a:ea typeface="Calibri" pitchFamily="34" charset="-122"/>
                <a:cs typeface="Calibri" pitchFamily="34" charset="-120"/>
              </a:rPr>
              <a:t>Inference (NLI)</a:t>
            </a:r>
            <a:endParaRPr lang="en-US" sz="1300" dirty="0"/>
          </a:p>
        </p:txBody>
      </p:sp>
      <p:sp>
        <p:nvSpPr>
          <p:cNvPr id="19" name="Text 15"/>
          <p:cNvSpPr/>
          <p:nvPr/>
        </p:nvSpPr>
        <p:spPr>
          <a:xfrm>
            <a:off x="2670048" y="3054096"/>
            <a:ext cx="1700784" cy="731520"/>
          </a:xfrm>
          <a:prstGeom prst="rect">
            <a:avLst/>
          </a:prstGeom>
          <a:noFill/>
          <a:ln/>
        </p:spPr>
        <p:txBody>
          <a:bodyPr wrap="square" lIns="0" tIns="0" rIns="0" bIns="0" rtlCol="0" anchor="t"/>
          <a:lstStyle/>
          <a:p>
            <a:pPr marL="0" indent="0">
              <a:lnSpc>
                <a:spcPct val="97000"/>
              </a:lnSpc>
              <a:buNone/>
            </a:pPr>
            <a:r>
              <a:rPr lang="en-US" sz="1000" dirty="0">
                <a:solidFill>
                  <a:srgbClr val="5B6B82"/>
                </a:solidFill>
                <a:latin typeface="Calibri" pitchFamily="34" charset="0"/>
                <a:ea typeface="Calibri" pitchFamily="34" charset="-122"/>
                <a:cs typeface="Calibri" pitchFamily="34" charset="-120"/>
              </a:rPr>
              <a:t>Multilingual DeBERTaV3, evaluated in both directions. Catches semantic contradictions.</a:t>
            </a:r>
            <a:endParaRPr lang="en-US" sz="1000" dirty="0"/>
          </a:p>
        </p:txBody>
      </p:sp>
      <p:sp>
        <p:nvSpPr>
          <p:cNvPr id="20" name="Shape 16"/>
          <p:cNvSpPr/>
          <p:nvPr/>
        </p:nvSpPr>
        <p:spPr>
          <a:xfrm>
            <a:off x="4626864" y="1828800"/>
            <a:ext cx="1993392" cy="2011680"/>
          </a:xfrm>
          <a:prstGeom prst="roundRect">
            <a:avLst>
              <a:gd name="adj" fmla="val 3670"/>
            </a:avLst>
          </a:prstGeom>
          <a:solidFill>
            <a:srgbClr val="E4F0F0"/>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21" name="Shape 17"/>
          <p:cNvSpPr/>
          <p:nvPr/>
        </p:nvSpPr>
        <p:spPr>
          <a:xfrm>
            <a:off x="4791456" y="2011680"/>
            <a:ext cx="512064" cy="512064"/>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22" name="Image 2" descr="preencoded.png"/>
          <p:cNvPicPr>
            <a:picLocks noChangeAspect="1"/>
          </p:cNvPicPr>
          <p:nvPr/>
        </p:nvPicPr>
        <p:blipFill>
          <a:blip r:embed="rId5"/>
          <a:stretch>
            <a:fillRect/>
          </a:stretch>
        </p:blipFill>
        <p:spPr>
          <a:xfrm>
            <a:off x="4929713" y="2149937"/>
            <a:ext cx="235549" cy="235549"/>
          </a:xfrm>
          <a:prstGeom prst="rect">
            <a:avLst/>
          </a:prstGeom>
        </p:spPr>
      </p:pic>
      <p:sp>
        <p:nvSpPr>
          <p:cNvPr id="23" name="Shape 18"/>
          <p:cNvSpPr/>
          <p:nvPr/>
        </p:nvSpPr>
        <p:spPr>
          <a:xfrm>
            <a:off x="6199632" y="1975104"/>
            <a:ext cx="274320" cy="274320"/>
          </a:xfrm>
          <a:prstGeom prst="ellipse">
            <a:avLst/>
          </a:prstGeom>
          <a:solidFill>
            <a:srgbClr val="C9882E"/>
          </a:solidFill>
          <a:ln/>
        </p:spPr>
        <p:txBody>
          <a:bodyPr/>
          <a:lstStyle/>
          <a:p>
            <a:endParaRPr lang="en-GB"/>
          </a:p>
        </p:txBody>
      </p:sp>
      <p:sp>
        <p:nvSpPr>
          <p:cNvPr id="24" name="Text 19"/>
          <p:cNvSpPr/>
          <p:nvPr/>
        </p:nvSpPr>
        <p:spPr>
          <a:xfrm>
            <a:off x="6199632" y="19751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5" name="Text 20"/>
          <p:cNvSpPr/>
          <p:nvPr/>
        </p:nvSpPr>
        <p:spPr>
          <a:xfrm>
            <a:off x="4773168" y="2633472"/>
            <a:ext cx="1700784" cy="457200"/>
          </a:xfrm>
          <a:prstGeom prst="rect">
            <a:avLst/>
          </a:prstGeom>
          <a:noFill/>
          <a:ln/>
        </p:spPr>
        <p:txBody>
          <a:bodyPr wrap="square" lIns="0" tIns="0" rIns="0" bIns="0" rtlCol="0" anchor="t"/>
          <a:lstStyle/>
          <a:p>
            <a:pPr marL="0" indent="0">
              <a:lnSpc>
                <a:spcPct val="92000"/>
              </a:lnSpc>
              <a:buNone/>
            </a:pPr>
            <a:r>
              <a:rPr lang="en-US" sz="1300" b="1" dirty="0">
                <a:solidFill>
                  <a:srgbClr val="1E2B45"/>
                </a:solidFill>
                <a:latin typeface="Calibri" pitchFamily="34" charset="0"/>
                <a:ea typeface="Calibri" pitchFamily="34" charset="-122"/>
                <a:cs typeface="Calibri" pitchFamily="34" charset="-120"/>
              </a:rPr>
              <a:t>Entity anchor</a:t>
            </a:r>
            <a:endParaRPr lang="en-US" sz="1300" dirty="0"/>
          </a:p>
        </p:txBody>
      </p:sp>
      <p:sp>
        <p:nvSpPr>
          <p:cNvPr id="26" name="Text 21"/>
          <p:cNvSpPr/>
          <p:nvPr/>
        </p:nvSpPr>
        <p:spPr>
          <a:xfrm>
            <a:off x="4773168" y="3054096"/>
            <a:ext cx="1700784" cy="731520"/>
          </a:xfrm>
          <a:prstGeom prst="rect">
            <a:avLst/>
          </a:prstGeom>
          <a:noFill/>
          <a:ln/>
        </p:spPr>
        <p:txBody>
          <a:bodyPr wrap="square" lIns="0" tIns="0" rIns="0" bIns="0" rtlCol="0" anchor="t"/>
          <a:lstStyle/>
          <a:p>
            <a:pPr marL="0" indent="0">
              <a:lnSpc>
                <a:spcPct val="97000"/>
              </a:lnSpc>
              <a:buNone/>
            </a:pPr>
            <a:r>
              <a:rPr lang="en-US" sz="1000" dirty="0">
                <a:solidFill>
                  <a:srgbClr val="5B6B82"/>
                </a:solidFill>
                <a:latin typeface="Calibri" pitchFamily="34" charset="0"/>
                <a:ea typeface="Calibri" pitchFamily="34" charset="-122"/>
                <a:cs typeface="Calibri" pitchFamily="34" charset="-120"/>
              </a:rPr>
              <a:t>Fuzzy matching, spelling-tolerant and cross-lingual (ro–en).</a:t>
            </a:r>
            <a:endParaRPr lang="en-US" sz="1000" dirty="0"/>
          </a:p>
        </p:txBody>
      </p:sp>
      <p:sp>
        <p:nvSpPr>
          <p:cNvPr id="27" name="Shape 22"/>
          <p:cNvSpPr/>
          <p:nvPr/>
        </p:nvSpPr>
        <p:spPr>
          <a:xfrm>
            <a:off x="6729984" y="1828800"/>
            <a:ext cx="1993392" cy="2011680"/>
          </a:xfrm>
          <a:prstGeom prst="roundRect">
            <a:avLst>
              <a:gd name="adj" fmla="val 3670"/>
            </a:avLst>
          </a:prstGeom>
          <a:solidFill>
            <a:srgbClr val="EAF0F8"/>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28" name="Shape 23"/>
          <p:cNvSpPr/>
          <p:nvPr/>
        </p:nvSpPr>
        <p:spPr>
          <a:xfrm>
            <a:off x="6894576" y="2011680"/>
            <a:ext cx="512064" cy="51206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29" name="Image 3" descr="preencoded.png"/>
          <p:cNvPicPr>
            <a:picLocks noChangeAspect="1"/>
          </p:cNvPicPr>
          <p:nvPr/>
        </p:nvPicPr>
        <p:blipFill>
          <a:blip r:embed="rId6"/>
          <a:stretch>
            <a:fillRect/>
          </a:stretch>
        </p:blipFill>
        <p:spPr>
          <a:xfrm>
            <a:off x="7032833" y="2149937"/>
            <a:ext cx="235549" cy="235549"/>
          </a:xfrm>
          <a:prstGeom prst="rect">
            <a:avLst/>
          </a:prstGeom>
        </p:spPr>
      </p:pic>
      <p:sp>
        <p:nvSpPr>
          <p:cNvPr id="30" name="Shape 24"/>
          <p:cNvSpPr/>
          <p:nvPr/>
        </p:nvSpPr>
        <p:spPr>
          <a:xfrm>
            <a:off x="8302752" y="1975104"/>
            <a:ext cx="274320" cy="274320"/>
          </a:xfrm>
          <a:prstGeom prst="ellipse">
            <a:avLst/>
          </a:prstGeom>
          <a:solidFill>
            <a:srgbClr val="C9882E"/>
          </a:solidFill>
          <a:ln/>
        </p:spPr>
        <p:txBody>
          <a:bodyPr/>
          <a:lstStyle/>
          <a:p>
            <a:endParaRPr lang="en-GB"/>
          </a:p>
        </p:txBody>
      </p:sp>
      <p:sp>
        <p:nvSpPr>
          <p:cNvPr id="31" name="Text 25"/>
          <p:cNvSpPr/>
          <p:nvPr/>
        </p:nvSpPr>
        <p:spPr>
          <a:xfrm>
            <a:off x="8302752" y="197510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26"/>
          <p:cNvSpPr/>
          <p:nvPr/>
        </p:nvSpPr>
        <p:spPr>
          <a:xfrm>
            <a:off x="6876288" y="2633472"/>
            <a:ext cx="1700784" cy="457200"/>
          </a:xfrm>
          <a:prstGeom prst="rect">
            <a:avLst/>
          </a:prstGeom>
          <a:noFill/>
          <a:ln/>
        </p:spPr>
        <p:txBody>
          <a:bodyPr wrap="square" lIns="0" tIns="0" rIns="0" bIns="0" rtlCol="0" anchor="t"/>
          <a:lstStyle/>
          <a:p>
            <a:pPr marL="0" indent="0">
              <a:lnSpc>
                <a:spcPct val="92000"/>
              </a:lnSpc>
              <a:buNone/>
            </a:pPr>
            <a:r>
              <a:rPr lang="en-US" sz="1300" b="1" dirty="0">
                <a:solidFill>
                  <a:srgbClr val="1E2B45"/>
                </a:solidFill>
                <a:latin typeface="Calibri" pitchFamily="34" charset="0"/>
                <a:ea typeface="Calibri" pitchFamily="34" charset="-122"/>
                <a:cs typeface="Calibri" pitchFamily="34" charset="-120"/>
              </a:rPr>
              <a:t>LLM judge</a:t>
            </a:r>
            <a:endParaRPr lang="en-US" sz="1300" dirty="0"/>
          </a:p>
        </p:txBody>
      </p:sp>
      <p:sp>
        <p:nvSpPr>
          <p:cNvPr id="33" name="Text 27"/>
          <p:cNvSpPr/>
          <p:nvPr/>
        </p:nvSpPr>
        <p:spPr>
          <a:xfrm>
            <a:off x="6876288" y="3054096"/>
            <a:ext cx="1700784" cy="731520"/>
          </a:xfrm>
          <a:prstGeom prst="rect">
            <a:avLst/>
          </a:prstGeom>
          <a:noFill/>
          <a:ln/>
        </p:spPr>
        <p:txBody>
          <a:bodyPr wrap="square" lIns="0" tIns="0" rIns="0" bIns="0" rtlCol="0" anchor="t"/>
          <a:lstStyle/>
          <a:p>
            <a:pPr marL="0" indent="0">
              <a:lnSpc>
                <a:spcPct val="97000"/>
              </a:lnSpc>
              <a:buNone/>
            </a:pPr>
            <a:r>
              <a:rPr lang="en-US" sz="1000" dirty="0">
                <a:solidFill>
                  <a:srgbClr val="5B6B82"/>
                </a:solidFill>
                <a:latin typeface="Calibri" pitchFamily="34" charset="0"/>
                <a:ea typeface="Calibri" pitchFamily="34" charset="-122"/>
                <a:cs typeface="Calibri" pitchFamily="34" charset="-120"/>
              </a:rPr>
              <a:t>Fallback mechanism for ambiguous, non-structural pairs.</a:t>
            </a:r>
            <a:endParaRPr lang="en-US" sz="1000" dirty="0"/>
          </a:p>
        </p:txBody>
      </p:sp>
      <p:sp>
        <p:nvSpPr>
          <p:cNvPr id="34" name="Shape 28"/>
          <p:cNvSpPr/>
          <p:nvPr/>
        </p:nvSpPr>
        <p:spPr>
          <a:xfrm>
            <a:off x="502920" y="4041648"/>
            <a:ext cx="8138160" cy="676656"/>
          </a:xfrm>
          <a:prstGeom prst="roundRect">
            <a:avLst>
              <a:gd name="adj" fmla="val 13514"/>
            </a:avLst>
          </a:prstGeom>
          <a:solidFill>
            <a:srgbClr val="15233B"/>
          </a:solidFill>
          <a:ln/>
          <a:effectLst>
            <a:outerShdw blurRad="88900" dist="38100" dir="5400000" algn="bl" rotWithShape="0">
              <a:srgbClr val="000000">
                <a:alpha val="14000"/>
              </a:srgbClr>
            </a:outerShdw>
          </a:effectLst>
        </p:spPr>
        <p:txBody>
          <a:bodyPr/>
          <a:lstStyle/>
          <a:p>
            <a:endParaRPr lang="en-GB"/>
          </a:p>
        </p:txBody>
      </p:sp>
      <p:sp>
        <p:nvSpPr>
          <p:cNvPr id="35" name="Shape 29"/>
          <p:cNvSpPr/>
          <p:nvPr/>
        </p:nvSpPr>
        <p:spPr>
          <a:xfrm>
            <a:off x="676656" y="4151376"/>
            <a:ext cx="457200" cy="457200"/>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36" name="Image 4" descr="preencoded.png"/>
          <p:cNvPicPr>
            <a:picLocks noChangeAspect="1"/>
          </p:cNvPicPr>
          <p:nvPr/>
        </p:nvPicPr>
        <p:blipFill>
          <a:blip r:embed="rId7"/>
          <a:stretch>
            <a:fillRect/>
          </a:stretch>
        </p:blipFill>
        <p:spPr>
          <a:xfrm>
            <a:off x="800100" y="4274820"/>
            <a:ext cx="210312" cy="210312"/>
          </a:xfrm>
          <a:prstGeom prst="rect">
            <a:avLst/>
          </a:prstGeom>
        </p:spPr>
      </p:pic>
      <p:sp>
        <p:nvSpPr>
          <p:cNvPr id="37" name="Text 30"/>
          <p:cNvSpPr/>
          <p:nvPr/>
        </p:nvSpPr>
        <p:spPr>
          <a:xfrm>
            <a:off x="1261872" y="4041648"/>
            <a:ext cx="7269480" cy="676656"/>
          </a:xfrm>
          <a:prstGeom prst="rect">
            <a:avLst/>
          </a:prstGeom>
          <a:noFill/>
          <a:ln/>
        </p:spPr>
        <p:txBody>
          <a:bodyPr wrap="square" lIns="0" tIns="0" rIns="0" bIns="0" rtlCol="0" anchor="ctr"/>
          <a:lstStyle/>
          <a:p>
            <a:pPr marL="0" indent="0">
              <a:buNone/>
            </a:pPr>
            <a:r>
              <a:rPr lang="en-US" sz="1300" b="1" dirty="0">
                <a:solidFill>
                  <a:srgbClr val="C9882E"/>
                </a:solidFill>
                <a:latin typeface="Calibri" pitchFamily="34" charset="0"/>
                <a:ea typeface="Calibri" pitchFamily="34" charset="-122"/>
                <a:cs typeface="Calibri" pitchFamily="34" charset="-120"/>
              </a:rPr>
              <a:t>Aggregation:  </a:t>
            </a:r>
            <a:r>
              <a:rPr lang="en-US" sz="1300" b="1" dirty="0">
                <a:solidFill>
                  <a:srgbClr val="FFFFFF"/>
                </a:solidFill>
                <a:latin typeface="Cambria" pitchFamily="34" charset="0"/>
                <a:ea typeface="Cambria" pitchFamily="34" charset="-122"/>
                <a:cs typeface="Cambria" pitchFamily="34" charset="-120"/>
              </a:rPr>
              <a:t>score = max(structural, NLI)</a:t>
            </a:r>
            <a:r>
              <a:rPr lang="en-US" sz="1200" dirty="0">
                <a:solidFill>
                  <a:srgbClr val="C8D2E2"/>
                </a:solidFill>
                <a:latin typeface="Calibri" pitchFamily="34" charset="0"/>
                <a:ea typeface="Calibri" pitchFamily="34" charset="-122"/>
                <a:cs typeface="Calibri" pitchFamily="34" charset="-120"/>
              </a:rPr>
              <a:t>  each with its own trigger threshold; above the verdict threshold → contradiction.</a:t>
            </a:r>
            <a:endParaRPr lang="en-US" sz="1300" dirty="0"/>
          </a:p>
        </p:txBody>
      </p:sp>
      <p:sp>
        <p:nvSpPr>
          <p:cNvPr id="38" name="Text 31"/>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118872" cy="118872"/>
          </a:xfrm>
          <a:prstGeom prst="ellipse">
            <a:avLst/>
          </a:prstGeom>
          <a:solidFill>
            <a:srgbClr val="2C6E72"/>
          </a:solidFill>
          <a:ln/>
        </p:spPr>
        <p:txBody>
          <a:bodyPr/>
          <a:lstStyle/>
          <a:p>
            <a:endParaRPr lang="en-GB"/>
          </a:p>
        </p:txBody>
      </p:sp>
      <p:sp>
        <p:nvSpPr>
          <p:cNvPr id="3" name="Text 1"/>
          <p:cNvSpPr/>
          <p:nvPr/>
        </p:nvSpPr>
        <p:spPr>
          <a:xfrm>
            <a:off x="713232" y="310896"/>
            <a:ext cx="7863840" cy="274320"/>
          </a:xfrm>
          <a:prstGeom prst="rect">
            <a:avLst/>
          </a:prstGeom>
          <a:noFill/>
          <a:ln/>
        </p:spPr>
        <p:txBody>
          <a:bodyPr wrap="square" lIns="0" tIns="0" rIns="0" bIns="0" rtlCol="0" anchor="ctr"/>
          <a:lstStyle/>
          <a:p>
            <a:pPr marL="0" indent="0" algn="l">
              <a:buNone/>
            </a:pPr>
            <a:r>
              <a:rPr lang="en-US" sz="1250" b="1" kern="0" spc="200" dirty="0">
                <a:solidFill>
                  <a:srgbClr val="2C6E72"/>
                </a:solidFill>
                <a:latin typeface="Calibri" pitchFamily="34" charset="0"/>
                <a:ea typeface="Calibri" pitchFamily="34" charset="-122"/>
                <a:cs typeface="Calibri" pitchFamily="34" charset="-120"/>
              </a:rPr>
              <a:t>MODULE 2 · EVALUATION</a:t>
            </a:r>
            <a:endParaRPr lang="en-US" sz="1250" dirty="0"/>
          </a:p>
        </p:txBody>
      </p:sp>
      <p:sp>
        <p:nvSpPr>
          <p:cNvPr id="4" name="Text 2"/>
          <p:cNvSpPr/>
          <p:nvPr/>
        </p:nvSpPr>
        <p:spPr>
          <a:xfrm>
            <a:off x="502920" y="60350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Results</a:t>
            </a:r>
            <a:endParaRPr lang="en-US" sz="2900" dirty="0"/>
          </a:p>
        </p:txBody>
      </p:sp>
      <p:sp>
        <p:nvSpPr>
          <p:cNvPr id="5" name="Text 3"/>
          <p:cNvSpPr/>
          <p:nvPr/>
        </p:nvSpPr>
        <p:spPr>
          <a:xfrm>
            <a:off x="502920" y="1335024"/>
            <a:ext cx="8138160" cy="457200"/>
          </a:xfrm>
          <a:prstGeom prst="rect">
            <a:avLst/>
          </a:prstGeom>
          <a:noFill/>
          <a:ln/>
        </p:spPr>
        <p:txBody>
          <a:bodyPr wrap="square" lIns="0" tIns="0" rIns="0" bIns="0" rtlCol="0" anchor="ctr"/>
          <a:lstStyle/>
          <a:p>
            <a:pPr marL="0" indent="0">
              <a:lnSpc>
                <a:spcPct val="97000"/>
              </a:lnSpc>
              <a:buNone/>
            </a:pPr>
            <a:r>
              <a:rPr lang="en-US" sz="1250" dirty="0">
                <a:solidFill>
                  <a:srgbClr val="5B6B82"/>
                </a:solidFill>
                <a:latin typeface="Calibri" pitchFamily="34" charset="0"/>
                <a:ea typeface="Calibri" pitchFamily="34" charset="-122"/>
                <a:cs typeface="Calibri" pitchFamily="34" charset="-120"/>
              </a:rPr>
              <a:t>Contradictions planted in a controlled way in a synthetic source, checked against the reference textbook. Evaluation repeated over n = 10 runs (mean ± standard deviation).</a:t>
            </a:r>
            <a:endParaRPr lang="en-US" sz="1250" dirty="0"/>
          </a:p>
        </p:txBody>
      </p:sp>
      <p:sp>
        <p:nvSpPr>
          <p:cNvPr id="6" name="Shape 4"/>
          <p:cNvSpPr/>
          <p:nvPr/>
        </p:nvSpPr>
        <p:spPr>
          <a:xfrm>
            <a:off x="502920" y="2011680"/>
            <a:ext cx="2542032" cy="2148840"/>
          </a:xfrm>
          <a:prstGeom prst="roundRect">
            <a:avLst>
              <a:gd name="adj" fmla="val 5106"/>
            </a:avLst>
          </a:prstGeom>
          <a:solidFill>
            <a:srgbClr val="FFFFFF"/>
          </a:solidFill>
          <a:ln w="12700">
            <a:solidFill>
              <a:srgbClr val="D8DEE9"/>
            </a:solidFill>
            <a:prstDash val="solid"/>
          </a:ln>
          <a:effectLst>
            <a:outerShdw blurRad="88900" dist="38100" dir="5400000" algn="bl" rotWithShape="0">
              <a:srgbClr val="000000">
                <a:alpha val="12000"/>
              </a:srgbClr>
            </a:outerShdw>
          </a:effectLst>
        </p:spPr>
        <p:txBody>
          <a:bodyPr/>
          <a:lstStyle/>
          <a:p>
            <a:endParaRPr lang="en-GB"/>
          </a:p>
        </p:txBody>
      </p:sp>
      <p:sp>
        <p:nvSpPr>
          <p:cNvPr id="7" name="Shape 5"/>
          <p:cNvSpPr/>
          <p:nvPr/>
        </p:nvSpPr>
        <p:spPr>
          <a:xfrm>
            <a:off x="1490472" y="2212848"/>
            <a:ext cx="566928" cy="566928"/>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8" name="Image 0" descr="preencoded.png"/>
          <p:cNvPicPr>
            <a:picLocks noChangeAspect="1"/>
          </p:cNvPicPr>
          <p:nvPr/>
        </p:nvPicPr>
        <p:blipFill>
          <a:blip r:embed="rId3"/>
          <a:stretch>
            <a:fillRect/>
          </a:stretch>
        </p:blipFill>
        <p:spPr>
          <a:xfrm>
            <a:off x="1643543" y="2365919"/>
            <a:ext cx="260787" cy="260787"/>
          </a:xfrm>
          <a:prstGeom prst="rect">
            <a:avLst/>
          </a:prstGeom>
        </p:spPr>
      </p:pic>
      <p:sp>
        <p:nvSpPr>
          <p:cNvPr id="9" name="Text 6"/>
          <p:cNvSpPr/>
          <p:nvPr/>
        </p:nvSpPr>
        <p:spPr>
          <a:xfrm>
            <a:off x="502920" y="2852928"/>
            <a:ext cx="2542032" cy="640080"/>
          </a:xfrm>
          <a:prstGeom prst="rect">
            <a:avLst/>
          </a:prstGeom>
          <a:noFill/>
          <a:ln/>
        </p:spPr>
        <p:txBody>
          <a:bodyPr wrap="square" lIns="0" tIns="0" rIns="0" bIns="0" rtlCol="0" anchor="ctr"/>
          <a:lstStyle/>
          <a:p>
            <a:pPr marL="0" indent="0" algn="ctr">
              <a:buNone/>
            </a:pPr>
            <a:r>
              <a:rPr lang="en-US" sz="4400" b="1" dirty="0">
                <a:solidFill>
                  <a:srgbClr val="2C6E72"/>
                </a:solidFill>
                <a:latin typeface="Cambria" pitchFamily="34" charset="0"/>
                <a:ea typeface="Cambria" pitchFamily="34" charset="-122"/>
                <a:cs typeface="Cambria" pitchFamily="34" charset="-120"/>
              </a:rPr>
              <a:t>0.975</a:t>
            </a:r>
            <a:endParaRPr lang="en-US" sz="4400" dirty="0"/>
          </a:p>
        </p:txBody>
      </p:sp>
      <p:sp>
        <p:nvSpPr>
          <p:cNvPr id="10" name="Text 7"/>
          <p:cNvSpPr/>
          <p:nvPr/>
        </p:nvSpPr>
        <p:spPr>
          <a:xfrm>
            <a:off x="502920" y="3493008"/>
            <a:ext cx="2542032" cy="237744"/>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 0.050</a:t>
            </a:r>
            <a:endParaRPr lang="en-US" sz="1200" dirty="0"/>
          </a:p>
        </p:txBody>
      </p:sp>
      <p:sp>
        <p:nvSpPr>
          <p:cNvPr id="11" name="Text 8"/>
          <p:cNvSpPr/>
          <p:nvPr/>
        </p:nvSpPr>
        <p:spPr>
          <a:xfrm>
            <a:off x="502920" y="3730752"/>
            <a:ext cx="2542032" cy="256032"/>
          </a:xfrm>
          <a:prstGeom prst="rect">
            <a:avLst/>
          </a:prstGeom>
          <a:noFill/>
          <a:ln/>
        </p:spPr>
        <p:txBody>
          <a:bodyPr wrap="square" lIns="0" tIns="0" rIns="0" bIns="0" rtlCol="0" anchor="ctr"/>
          <a:lstStyle/>
          <a:p>
            <a:pPr marL="0" indent="0" algn="ctr">
              <a:buNone/>
            </a:pPr>
            <a:r>
              <a:rPr lang="en-US" sz="1400" b="1" dirty="0">
                <a:solidFill>
                  <a:srgbClr val="1E2B45"/>
                </a:solidFill>
                <a:latin typeface="Calibri" pitchFamily="34" charset="0"/>
                <a:ea typeface="Calibri" pitchFamily="34" charset="-122"/>
                <a:cs typeface="Calibri" pitchFamily="34" charset="-120"/>
              </a:rPr>
              <a:t>Recall</a:t>
            </a:r>
            <a:endParaRPr lang="en-US" sz="1400" dirty="0"/>
          </a:p>
        </p:txBody>
      </p:sp>
      <p:sp>
        <p:nvSpPr>
          <p:cNvPr id="13" name="Shape 10"/>
          <p:cNvSpPr/>
          <p:nvPr/>
        </p:nvSpPr>
        <p:spPr>
          <a:xfrm>
            <a:off x="3300984" y="2011680"/>
            <a:ext cx="2542032" cy="2148840"/>
          </a:xfrm>
          <a:prstGeom prst="roundRect">
            <a:avLst>
              <a:gd name="adj" fmla="val 5106"/>
            </a:avLst>
          </a:prstGeom>
          <a:solidFill>
            <a:srgbClr val="FFFFFF"/>
          </a:solidFill>
          <a:ln w="12700">
            <a:solidFill>
              <a:srgbClr val="D8DEE9"/>
            </a:solidFill>
            <a:prstDash val="solid"/>
          </a:ln>
          <a:effectLst>
            <a:outerShdw blurRad="88900" dist="38100" dir="5400000" algn="bl" rotWithShape="0">
              <a:srgbClr val="000000">
                <a:alpha val="12000"/>
              </a:srgbClr>
            </a:outerShdw>
          </a:effectLst>
        </p:spPr>
        <p:txBody>
          <a:bodyPr/>
          <a:lstStyle/>
          <a:p>
            <a:endParaRPr lang="en-GB"/>
          </a:p>
        </p:txBody>
      </p:sp>
      <p:sp>
        <p:nvSpPr>
          <p:cNvPr id="14" name="Shape 11"/>
          <p:cNvSpPr/>
          <p:nvPr/>
        </p:nvSpPr>
        <p:spPr>
          <a:xfrm>
            <a:off x="4288536" y="2212848"/>
            <a:ext cx="566928" cy="566928"/>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15" name="Image 1" descr="preencoded.png"/>
          <p:cNvPicPr>
            <a:picLocks noChangeAspect="1"/>
          </p:cNvPicPr>
          <p:nvPr/>
        </p:nvPicPr>
        <p:blipFill>
          <a:blip r:embed="rId4">
            <a:duotone>
              <a:schemeClr val="accent6">
                <a:shade val="45000"/>
                <a:satMod val="135000"/>
              </a:schemeClr>
              <a:prstClr val="white"/>
            </a:duotone>
          </a:blip>
          <a:stretch>
            <a:fillRect/>
          </a:stretch>
        </p:blipFill>
        <p:spPr>
          <a:xfrm>
            <a:off x="4441607" y="2365919"/>
            <a:ext cx="260787" cy="260787"/>
          </a:xfrm>
          <a:prstGeom prst="rect">
            <a:avLst/>
          </a:prstGeom>
        </p:spPr>
      </p:pic>
      <p:sp>
        <p:nvSpPr>
          <p:cNvPr id="16" name="Text 12"/>
          <p:cNvSpPr/>
          <p:nvPr/>
        </p:nvSpPr>
        <p:spPr>
          <a:xfrm>
            <a:off x="3300984" y="2852928"/>
            <a:ext cx="2542032" cy="640080"/>
          </a:xfrm>
          <a:prstGeom prst="rect">
            <a:avLst/>
          </a:prstGeom>
          <a:noFill/>
          <a:ln/>
        </p:spPr>
        <p:txBody>
          <a:bodyPr wrap="square" lIns="0" tIns="0" rIns="0" bIns="0" rtlCol="0" anchor="ctr"/>
          <a:lstStyle/>
          <a:p>
            <a:pPr marL="0" indent="0" algn="ctr">
              <a:buNone/>
            </a:pPr>
            <a:r>
              <a:rPr lang="en-US" sz="4400" b="1" dirty="0">
                <a:solidFill>
                  <a:srgbClr val="3E5C8A"/>
                </a:solidFill>
                <a:latin typeface="Cambria" pitchFamily="34" charset="0"/>
                <a:ea typeface="Cambria" pitchFamily="34" charset="-122"/>
                <a:cs typeface="Cambria" pitchFamily="34" charset="-120"/>
              </a:rPr>
              <a:t>0.910</a:t>
            </a:r>
            <a:endParaRPr lang="en-US" sz="4400" dirty="0"/>
          </a:p>
        </p:txBody>
      </p:sp>
      <p:sp>
        <p:nvSpPr>
          <p:cNvPr id="17" name="Text 13"/>
          <p:cNvSpPr/>
          <p:nvPr/>
        </p:nvSpPr>
        <p:spPr>
          <a:xfrm>
            <a:off x="3300984" y="3493008"/>
            <a:ext cx="2542032" cy="237744"/>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 0.045</a:t>
            </a:r>
            <a:endParaRPr lang="en-US" sz="1200" dirty="0"/>
          </a:p>
        </p:txBody>
      </p:sp>
      <p:sp>
        <p:nvSpPr>
          <p:cNvPr id="18" name="Text 14"/>
          <p:cNvSpPr/>
          <p:nvPr/>
        </p:nvSpPr>
        <p:spPr>
          <a:xfrm>
            <a:off x="3300984" y="3730752"/>
            <a:ext cx="2542032" cy="256032"/>
          </a:xfrm>
          <a:prstGeom prst="rect">
            <a:avLst/>
          </a:prstGeom>
          <a:noFill/>
          <a:ln/>
        </p:spPr>
        <p:txBody>
          <a:bodyPr wrap="square" lIns="0" tIns="0" rIns="0" bIns="0" rtlCol="0" anchor="ctr"/>
          <a:lstStyle/>
          <a:p>
            <a:pPr marL="0" indent="0" algn="ctr">
              <a:buNone/>
            </a:pPr>
            <a:r>
              <a:rPr lang="en-US" sz="1400" b="1" dirty="0">
                <a:solidFill>
                  <a:srgbClr val="1E2B45"/>
                </a:solidFill>
                <a:latin typeface="Calibri" pitchFamily="34" charset="0"/>
                <a:ea typeface="Calibri" pitchFamily="34" charset="-122"/>
                <a:cs typeface="Calibri" pitchFamily="34" charset="-120"/>
              </a:rPr>
              <a:t>Precision</a:t>
            </a:r>
            <a:endParaRPr lang="en-US" sz="1400" dirty="0"/>
          </a:p>
        </p:txBody>
      </p:sp>
      <p:sp>
        <p:nvSpPr>
          <p:cNvPr id="20" name="Shape 16"/>
          <p:cNvSpPr/>
          <p:nvPr/>
        </p:nvSpPr>
        <p:spPr>
          <a:xfrm>
            <a:off x="6099048" y="2011680"/>
            <a:ext cx="2542032" cy="2148840"/>
          </a:xfrm>
          <a:prstGeom prst="roundRect">
            <a:avLst>
              <a:gd name="adj" fmla="val 5106"/>
            </a:avLst>
          </a:prstGeom>
          <a:solidFill>
            <a:srgbClr val="FFFFFF"/>
          </a:solidFill>
          <a:ln w="12700">
            <a:solidFill>
              <a:srgbClr val="D8DEE9"/>
            </a:solidFill>
            <a:prstDash val="solid"/>
          </a:ln>
          <a:effectLst>
            <a:outerShdw blurRad="88900" dist="38100" dir="5400000" algn="bl" rotWithShape="0">
              <a:srgbClr val="000000">
                <a:alpha val="12000"/>
              </a:srgbClr>
            </a:outerShdw>
          </a:effectLst>
        </p:spPr>
        <p:txBody>
          <a:bodyPr/>
          <a:lstStyle/>
          <a:p>
            <a:endParaRPr lang="en-GB"/>
          </a:p>
        </p:txBody>
      </p:sp>
      <p:sp>
        <p:nvSpPr>
          <p:cNvPr id="21" name="Shape 17"/>
          <p:cNvSpPr/>
          <p:nvPr/>
        </p:nvSpPr>
        <p:spPr>
          <a:xfrm>
            <a:off x="7086600" y="2212848"/>
            <a:ext cx="566928" cy="566928"/>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22" name="Image 2" descr="preencoded.png"/>
          <p:cNvPicPr>
            <a:picLocks noChangeAspect="1"/>
          </p:cNvPicPr>
          <p:nvPr/>
        </p:nvPicPr>
        <p:blipFill>
          <a:blip r:embed="rId5">
            <a:biLevel thresh="25000"/>
          </a:blip>
          <a:stretch>
            <a:fillRect/>
          </a:stretch>
        </p:blipFill>
        <p:spPr>
          <a:xfrm>
            <a:off x="7239671" y="2365919"/>
            <a:ext cx="260787" cy="260787"/>
          </a:xfrm>
          <a:prstGeom prst="rect">
            <a:avLst/>
          </a:prstGeom>
        </p:spPr>
      </p:pic>
      <p:sp>
        <p:nvSpPr>
          <p:cNvPr id="23" name="Text 18"/>
          <p:cNvSpPr/>
          <p:nvPr/>
        </p:nvSpPr>
        <p:spPr>
          <a:xfrm>
            <a:off x="6099048" y="2852928"/>
            <a:ext cx="2542032" cy="640080"/>
          </a:xfrm>
          <a:prstGeom prst="rect">
            <a:avLst/>
          </a:prstGeom>
          <a:noFill/>
          <a:ln/>
        </p:spPr>
        <p:txBody>
          <a:bodyPr wrap="square" lIns="0" tIns="0" rIns="0" bIns="0" rtlCol="0" anchor="ctr"/>
          <a:lstStyle/>
          <a:p>
            <a:pPr marL="0" indent="0" algn="ctr">
              <a:buNone/>
            </a:pPr>
            <a:r>
              <a:rPr lang="en-US" sz="4400" b="1" dirty="0">
                <a:solidFill>
                  <a:srgbClr val="C9882E"/>
                </a:solidFill>
                <a:latin typeface="Cambria" pitchFamily="34" charset="0"/>
                <a:ea typeface="Cambria" pitchFamily="34" charset="-122"/>
                <a:cs typeface="Cambria" pitchFamily="34" charset="-120"/>
              </a:rPr>
              <a:t>0.940</a:t>
            </a:r>
            <a:endParaRPr lang="en-US" sz="4400" dirty="0"/>
          </a:p>
        </p:txBody>
      </p:sp>
      <p:sp>
        <p:nvSpPr>
          <p:cNvPr id="24" name="Text 19"/>
          <p:cNvSpPr/>
          <p:nvPr/>
        </p:nvSpPr>
        <p:spPr>
          <a:xfrm>
            <a:off x="6099048" y="3493008"/>
            <a:ext cx="2542032" cy="237744"/>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 0.028</a:t>
            </a:r>
            <a:endParaRPr lang="en-US" sz="1200" dirty="0"/>
          </a:p>
        </p:txBody>
      </p:sp>
      <p:sp>
        <p:nvSpPr>
          <p:cNvPr id="25" name="Text 20"/>
          <p:cNvSpPr/>
          <p:nvPr/>
        </p:nvSpPr>
        <p:spPr>
          <a:xfrm>
            <a:off x="6099048" y="3730752"/>
            <a:ext cx="2542032" cy="256032"/>
          </a:xfrm>
          <a:prstGeom prst="rect">
            <a:avLst/>
          </a:prstGeom>
          <a:noFill/>
          <a:ln/>
        </p:spPr>
        <p:txBody>
          <a:bodyPr wrap="square" lIns="0" tIns="0" rIns="0" bIns="0" rtlCol="0" anchor="ctr"/>
          <a:lstStyle/>
          <a:p>
            <a:pPr marL="0" indent="0" algn="ctr">
              <a:buNone/>
            </a:pPr>
            <a:r>
              <a:rPr lang="en-US" sz="1400" b="1" dirty="0">
                <a:solidFill>
                  <a:srgbClr val="1E2B45"/>
                </a:solidFill>
                <a:latin typeface="Calibri" pitchFamily="34" charset="0"/>
                <a:ea typeface="Calibri" pitchFamily="34" charset="-122"/>
                <a:cs typeface="Calibri" pitchFamily="34" charset="-120"/>
              </a:rPr>
              <a:t>F₁ score</a:t>
            </a:r>
            <a:endParaRPr lang="en-US" sz="1400" dirty="0"/>
          </a:p>
        </p:txBody>
      </p:sp>
      <p:sp>
        <p:nvSpPr>
          <p:cNvPr id="27" name="Text 22"/>
          <p:cNvSpPr/>
          <p:nvPr/>
        </p:nvSpPr>
        <p:spPr>
          <a:xfrm>
            <a:off x="777240" y="4370832"/>
            <a:ext cx="7589520" cy="640080"/>
          </a:xfrm>
          <a:prstGeom prst="rect">
            <a:avLst/>
          </a:prstGeom>
          <a:noFill/>
          <a:ln/>
        </p:spPr>
        <p:txBody>
          <a:bodyPr wrap="square" lIns="0" tIns="0" rIns="0" bIns="0" rtlCol="0" anchor="ctr"/>
          <a:lstStyle/>
          <a:p>
            <a:pPr marL="0" indent="0" algn="ctr">
              <a:lnSpc>
                <a:spcPct val="97000"/>
              </a:lnSpc>
              <a:buNone/>
            </a:pPr>
            <a:r>
              <a:rPr lang="en-US" sz="1100" i="1" dirty="0">
                <a:solidFill>
                  <a:srgbClr val="5B6B82"/>
                </a:solidFill>
                <a:latin typeface="Calibri" pitchFamily="34" charset="0"/>
                <a:ea typeface="Calibri" pitchFamily="34" charset="-122"/>
                <a:cs typeface="Calibri" pitchFamily="34" charset="-120"/>
              </a:rPr>
              <a:t>Recall slightly above precision reflects the rare cases where a comparable pair is marked divergent without matching a documented contradiction. Canonical-question alignment and the entity anchor keep false positives low.</a:t>
            </a:r>
            <a:endParaRPr lang="en-US" sz="1100" dirty="0"/>
          </a:p>
        </p:txBody>
      </p:sp>
      <p:sp>
        <p:nvSpPr>
          <p:cNvPr id="28" name="Text 23"/>
          <p:cNvSpPr/>
          <p:nvPr/>
        </p:nvSpPr>
        <p:spPr>
          <a:xfrm>
            <a:off x="8549640" y="471830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326954"/>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Examples</a:t>
            </a:r>
            <a:endParaRPr lang="en-US" sz="2900" dirty="0"/>
          </a:p>
        </p:txBody>
      </p:sp>
      <p:sp>
        <p:nvSpPr>
          <p:cNvPr id="5" name="Shape 3"/>
          <p:cNvSpPr/>
          <p:nvPr/>
        </p:nvSpPr>
        <p:spPr>
          <a:xfrm>
            <a:off x="502920" y="1204778"/>
            <a:ext cx="2670048" cy="3246120"/>
          </a:xfrm>
          <a:prstGeom prst="roundRect">
            <a:avLst>
              <a:gd name="adj" fmla="val 3425"/>
            </a:avLst>
          </a:prstGeom>
          <a:solidFill>
            <a:srgbClr val="FFFFFF"/>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6" name="Shape 4"/>
          <p:cNvSpPr/>
          <p:nvPr/>
        </p:nvSpPr>
        <p:spPr>
          <a:xfrm>
            <a:off x="649224" y="1351082"/>
            <a:ext cx="420624" cy="420624"/>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7" name="Image 0" descr="preencoded.png"/>
          <p:cNvPicPr>
            <a:picLocks noChangeAspect="1"/>
          </p:cNvPicPr>
          <p:nvPr/>
        </p:nvPicPr>
        <p:blipFill>
          <a:blip r:embed="rId3"/>
          <a:stretch>
            <a:fillRect/>
          </a:stretch>
        </p:blipFill>
        <p:spPr>
          <a:xfrm>
            <a:off x="762792" y="1464650"/>
            <a:ext cx="193487" cy="193487"/>
          </a:xfrm>
          <a:prstGeom prst="rect">
            <a:avLst/>
          </a:prstGeom>
        </p:spPr>
      </p:pic>
      <p:sp>
        <p:nvSpPr>
          <p:cNvPr id="8" name="Text 5"/>
          <p:cNvSpPr/>
          <p:nvPr/>
        </p:nvSpPr>
        <p:spPr>
          <a:xfrm>
            <a:off x="1143000" y="1351082"/>
            <a:ext cx="1920240" cy="420624"/>
          </a:xfrm>
          <a:prstGeom prst="rect">
            <a:avLst/>
          </a:prstGeom>
          <a:noFill/>
          <a:ln/>
        </p:spPr>
        <p:txBody>
          <a:bodyPr wrap="square" lIns="0" tIns="0" rIns="0" bIns="0" rtlCol="0" anchor="ctr"/>
          <a:lstStyle/>
          <a:p>
            <a:pPr marL="0" indent="0">
              <a:lnSpc>
                <a:spcPct val="90000"/>
              </a:lnSpc>
              <a:buNone/>
            </a:pPr>
            <a:r>
              <a:rPr lang="en-US" sz="1150" b="1" dirty="0">
                <a:solidFill>
                  <a:srgbClr val="2C6E72"/>
                </a:solidFill>
                <a:latin typeface="Calibri" pitchFamily="34" charset="0"/>
                <a:ea typeface="Calibri" pitchFamily="34" charset="-122"/>
                <a:cs typeface="Calibri" pitchFamily="34" charset="-120"/>
              </a:rPr>
              <a:t>Date contradiction</a:t>
            </a:r>
            <a:endParaRPr lang="en-US" sz="1150" dirty="0"/>
          </a:p>
        </p:txBody>
      </p:sp>
      <p:sp>
        <p:nvSpPr>
          <p:cNvPr id="9" name="Text 6"/>
          <p:cNvSpPr/>
          <p:nvPr/>
        </p:nvSpPr>
        <p:spPr>
          <a:xfrm>
            <a:off x="713232" y="1918010"/>
            <a:ext cx="2377440" cy="566928"/>
          </a:xfrm>
          <a:prstGeom prst="rect">
            <a:avLst/>
          </a:prstGeom>
          <a:noFill/>
          <a:ln/>
        </p:spPr>
        <p:txBody>
          <a:bodyPr wrap="square" lIns="0" tIns="0" rIns="0" bIns="0" rtlCol="0" anchor="t"/>
          <a:lstStyle/>
          <a:p>
            <a:pPr>
              <a:lnSpc>
                <a:spcPct val="95000"/>
              </a:lnSpc>
            </a:pPr>
            <a:r>
              <a:rPr lang="en-GB" sz="1050" b="1" i="1" dirty="0" err="1">
                <a:solidFill>
                  <a:srgbClr val="1E2B45"/>
                </a:solidFill>
                <a:latin typeface="Calibri" pitchFamily="34" charset="0"/>
                <a:ea typeface="Calibri" pitchFamily="34" charset="-122"/>
                <a:cs typeface="Calibri" pitchFamily="34" charset="-120"/>
              </a:rPr>
              <a:t>Când</a:t>
            </a:r>
            <a:r>
              <a:rPr lang="en-GB" sz="1050" b="1" i="1" dirty="0">
                <a:solidFill>
                  <a:srgbClr val="1E2B45"/>
                </a:solidFill>
                <a:latin typeface="Calibri" pitchFamily="34" charset="0"/>
                <a:ea typeface="Calibri" pitchFamily="34" charset="-122"/>
                <a:cs typeface="Calibri" pitchFamily="34" charset="-120"/>
              </a:rPr>
              <a:t> a </a:t>
            </a:r>
            <a:r>
              <a:rPr lang="en-GB" sz="1050" b="1" i="1" dirty="0" err="1">
                <a:solidFill>
                  <a:srgbClr val="1E2B45"/>
                </a:solidFill>
                <a:latin typeface="Calibri" pitchFamily="34" charset="0"/>
                <a:ea typeface="Calibri" pitchFamily="34" charset="-122"/>
                <a:cs typeface="Calibri" pitchFamily="34" charset="-120"/>
              </a:rPr>
              <a:t>intrat</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România</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în</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Primul</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Război</a:t>
            </a:r>
            <a:r>
              <a:rPr lang="en-GB" sz="1050" b="1" i="1" dirty="0">
                <a:solidFill>
                  <a:srgbClr val="1E2B45"/>
                </a:solidFill>
                <a:latin typeface="Calibri" pitchFamily="34" charset="0"/>
                <a:ea typeface="Calibri" pitchFamily="34" charset="-122"/>
                <a:cs typeface="Calibri" pitchFamily="34" charset="-120"/>
              </a:rPr>
              <a:t> Mondial?</a:t>
            </a:r>
            <a:endParaRPr lang="en-US" sz="1050" b="1" i="1" dirty="0">
              <a:solidFill>
                <a:srgbClr val="1E2B45"/>
              </a:solidFill>
              <a:latin typeface="Calibri" pitchFamily="34" charset="0"/>
              <a:ea typeface="Calibri" pitchFamily="34" charset="-122"/>
              <a:cs typeface="Calibri" pitchFamily="34" charset="-120"/>
            </a:endParaRPr>
          </a:p>
        </p:txBody>
      </p:sp>
      <p:sp>
        <p:nvSpPr>
          <p:cNvPr id="10" name="Shape 7"/>
          <p:cNvSpPr/>
          <p:nvPr/>
        </p:nvSpPr>
        <p:spPr>
          <a:xfrm>
            <a:off x="649224" y="2448362"/>
            <a:ext cx="2377440" cy="457200"/>
          </a:xfrm>
          <a:prstGeom prst="roundRect">
            <a:avLst>
              <a:gd name="adj" fmla="val 10000"/>
            </a:avLst>
          </a:prstGeom>
          <a:solidFill>
            <a:srgbClr val="F4F6FA"/>
          </a:solidFill>
          <a:ln/>
        </p:spPr>
        <p:txBody>
          <a:bodyPr/>
          <a:lstStyle/>
          <a:p>
            <a:endParaRPr lang="en-GB"/>
          </a:p>
        </p:txBody>
      </p:sp>
      <p:sp>
        <p:nvSpPr>
          <p:cNvPr id="11" name="Text 8"/>
          <p:cNvSpPr/>
          <p:nvPr/>
        </p:nvSpPr>
        <p:spPr>
          <a:xfrm>
            <a:off x="758952" y="2448362"/>
            <a:ext cx="2194560" cy="457200"/>
          </a:xfrm>
          <a:prstGeom prst="rect">
            <a:avLst/>
          </a:prstGeom>
          <a:noFill/>
          <a:ln/>
        </p:spPr>
        <p:txBody>
          <a:bodyPr wrap="square" lIns="0" tIns="0" rIns="0" bIns="0" rtlCol="0" anchor="ctr"/>
          <a:lstStyle/>
          <a:p>
            <a:pPr marL="0" indent="0">
              <a:buNone/>
            </a:pPr>
            <a:r>
              <a:rPr lang="en-US" sz="950" dirty="0">
                <a:solidFill>
                  <a:srgbClr val="5B6B82"/>
                </a:solidFill>
                <a:latin typeface="Calibri" pitchFamily="34" charset="0"/>
                <a:ea typeface="Calibri" pitchFamily="34" charset="-122"/>
                <a:cs typeface="Calibri" pitchFamily="34" charset="-120"/>
              </a:rPr>
              <a:t>Textbook:  </a:t>
            </a:r>
            <a:r>
              <a:rPr lang="en-US" sz="1100" b="1" dirty="0">
                <a:solidFill>
                  <a:srgbClr val="1E2B45"/>
                </a:solidFill>
                <a:latin typeface="Calibri" pitchFamily="34" charset="0"/>
                <a:ea typeface="Calibri" pitchFamily="34" charset="-122"/>
                <a:cs typeface="Calibri" pitchFamily="34" charset="-120"/>
              </a:rPr>
              <a:t>28 August 1916</a:t>
            </a:r>
            <a:endParaRPr lang="en-US" sz="950" dirty="0"/>
          </a:p>
        </p:txBody>
      </p:sp>
      <p:sp>
        <p:nvSpPr>
          <p:cNvPr id="12" name="Shape 9"/>
          <p:cNvSpPr/>
          <p:nvPr/>
        </p:nvSpPr>
        <p:spPr>
          <a:xfrm>
            <a:off x="649224" y="2960426"/>
            <a:ext cx="2377440" cy="457200"/>
          </a:xfrm>
          <a:prstGeom prst="roundRect">
            <a:avLst>
              <a:gd name="adj" fmla="val 10000"/>
            </a:avLst>
          </a:prstGeom>
          <a:solidFill>
            <a:srgbClr val="FCEBEA"/>
          </a:solidFill>
          <a:ln/>
        </p:spPr>
        <p:txBody>
          <a:bodyPr/>
          <a:lstStyle/>
          <a:p>
            <a:endParaRPr lang="en-GB"/>
          </a:p>
        </p:txBody>
      </p:sp>
      <p:sp>
        <p:nvSpPr>
          <p:cNvPr id="13" name="Text 10"/>
          <p:cNvSpPr/>
          <p:nvPr/>
        </p:nvSpPr>
        <p:spPr>
          <a:xfrm>
            <a:off x="758952" y="2960426"/>
            <a:ext cx="2194560" cy="457200"/>
          </a:xfrm>
          <a:prstGeom prst="rect">
            <a:avLst/>
          </a:prstGeom>
          <a:noFill/>
          <a:ln/>
        </p:spPr>
        <p:txBody>
          <a:bodyPr wrap="square" lIns="0" tIns="0" rIns="0" bIns="0" rtlCol="0" anchor="ctr"/>
          <a:lstStyle/>
          <a:p>
            <a:pPr marL="0" indent="0">
              <a:buNone/>
            </a:pPr>
            <a:r>
              <a:rPr lang="en-US" sz="950" dirty="0">
                <a:solidFill>
                  <a:srgbClr val="5B6B82"/>
                </a:solidFill>
                <a:latin typeface="Calibri" pitchFamily="34" charset="0"/>
                <a:ea typeface="Calibri" pitchFamily="34" charset="-122"/>
                <a:cs typeface="Calibri" pitchFamily="34" charset="-120"/>
              </a:rPr>
              <a:t>Source:  </a:t>
            </a:r>
            <a:r>
              <a:rPr lang="en-US" sz="1100" b="1" dirty="0">
                <a:solidFill>
                  <a:srgbClr val="B23A3A"/>
                </a:solidFill>
                <a:latin typeface="Calibri" pitchFamily="34" charset="0"/>
                <a:ea typeface="Calibri" pitchFamily="34" charset="-122"/>
                <a:cs typeface="Calibri" pitchFamily="34" charset="-120"/>
              </a:rPr>
              <a:t>14 August 1916</a:t>
            </a:r>
            <a:endParaRPr lang="en-US" sz="950" dirty="0"/>
          </a:p>
        </p:txBody>
      </p:sp>
      <p:sp>
        <p:nvSpPr>
          <p:cNvPr id="14" name="Text 11"/>
          <p:cNvSpPr/>
          <p:nvPr/>
        </p:nvSpPr>
        <p:spPr>
          <a:xfrm>
            <a:off x="649224" y="3617778"/>
            <a:ext cx="2377440" cy="502920"/>
          </a:xfrm>
          <a:prstGeom prst="rect">
            <a:avLst/>
          </a:prstGeom>
          <a:noFill/>
          <a:ln/>
        </p:spPr>
        <p:txBody>
          <a:bodyPr wrap="square" lIns="0" tIns="0" rIns="0" bIns="0" rtlCol="0" anchor="t"/>
          <a:lstStyle/>
          <a:p>
            <a:pPr marL="0" indent="0">
              <a:lnSpc>
                <a:spcPct val="95000"/>
              </a:lnSpc>
              <a:buNone/>
            </a:pPr>
            <a:r>
              <a:rPr lang="en-US" sz="950" b="1" dirty="0">
                <a:solidFill>
                  <a:srgbClr val="2C6E72"/>
                </a:solidFill>
                <a:latin typeface="Calibri" pitchFamily="34" charset="0"/>
                <a:ea typeface="Calibri" pitchFamily="34" charset="-122"/>
                <a:cs typeface="Calibri" pitchFamily="34" charset="-120"/>
              </a:rPr>
              <a:t>Mechanism:  </a:t>
            </a:r>
            <a:r>
              <a:rPr lang="en-US" sz="950" dirty="0">
                <a:solidFill>
                  <a:srgbClr val="5B6B82"/>
                </a:solidFill>
                <a:latin typeface="Calibri" pitchFamily="34" charset="0"/>
                <a:ea typeface="Calibri" pitchFamily="34" charset="-122"/>
                <a:cs typeface="Calibri" pitchFamily="34" charset="-120"/>
              </a:rPr>
              <a:t>structural + NLI</a:t>
            </a:r>
            <a:endParaRPr lang="en-US" sz="950" dirty="0"/>
          </a:p>
        </p:txBody>
      </p:sp>
      <p:sp>
        <p:nvSpPr>
          <p:cNvPr id="15" name="Text 12"/>
          <p:cNvSpPr/>
          <p:nvPr/>
        </p:nvSpPr>
        <p:spPr>
          <a:xfrm>
            <a:off x="649224" y="4057706"/>
            <a:ext cx="237744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P(contradiction) ≈ </a:t>
            </a:r>
            <a:r>
              <a:rPr lang="en-US" sz="1000" b="1" dirty="0">
                <a:solidFill>
                  <a:srgbClr val="1E2B45"/>
                </a:solidFill>
                <a:latin typeface="Calibri" pitchFamily="34" charset="0"/>
                <a:ea typeface="Calibri" pitchFamily="34" charset="-122"/>
                <a:cs typeface="Calibri" pitchFamily="34" charset="-120"/>
              </a:rPr>
              <a:t>0.99</a:t>
            </a:r>
            <a:endParaRPr lang="en-US" sz="1000" dirty="0"/>
          </a:p>
        </p:txBody>
      </p:sp>
      <p:sp>
        <p:nvSpPr>
          <p:cNvPr id="16" name="Shape 13"/>
          <p:cNvSpPr/>
          <p:nvPr/>
        </p:nvSpPr>
        <p:spPr>
          <a:xfrm>
            <a:off x="3300984" y="1204778"/>
            <a:ext cx="2670048" cy="3246120"/>
          </a:xfrm>
          <a:prstGeom prst="roundRect">
            <a:avLst>
              <a:gd name="adj" fmla="val 3425"/>
            </a:avLst>
          </a:prstGeom>
          <a:solidFill>
            <a:srgbClr val="FFFFFF"/>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17" name="Shape 14"/>
          <p:cNvSpPr/>
          <p:nvPr/>
        </p:nvSpPr>
        <p:spPr>
          <a:xfrm>
            <a:off x="3447288" y="1351082"/>
            <a:ext cx="420624" cy="420624"/>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18" name="Image 1" descr="preencoded.png"/>
          <p:cNvPicPr>
            <a:picLocks noChangeAspect="1"/>
          </p:cNvPicPr>
          <p:nvPr/>
        </p:nvPicPr>
        <p:blipFill>
          <a:blip r:embed="rId4"/>
          <a:stretch>
            <a:fillRect/>
          </a:stretch>
        </p:blipFill>
        <p:spPr>
          <a:xfrm>
            <a:off x="3560856" y="1464650"/>
            <a:ext cx="193487" cy="193487"/>
          </a:xfrm>
          <a:prstGeom prst="rect">
            <a:avLst/>
          </a:prstGeom>
        </p:spPr>
      </p:pic>
      <p:sp>
        <p:nvSpPr>
          <p:cNvPr id="19" name="Text 15"/>
          <p:cNvSpPr/>
          <p:nvPr/>
        </p:nvSpPr>
        <p:spPr>
          <a:xfrm>
            <a:off x="3941064" y="1351082"/>
            <a:ext cx="1920240" cy="420624"/>
          </a:xfrm>
          <a:prstGeom prst="rect">
            <a:avLst/>
          </a:prstGeom>
          <a:noFill/>
          <a:ln/>
        </p:spPr>
        <p:txBody>
          <a:bodyPr wrap="square" lIns="0" tIns="0" rIns="0" bIns="0" rtlCol="0" anchor="ctr"/>
          <a:lstStyle/>
          <a:p>
            <a:pPr marL="0" indent="0">
              <a:lnSpc>
                <a:spcPct val="90000"/>
              </a:lnSpc>
              <a:buNone/>
            </a:pPr>
            <a:r>
              <a:rPr lang="en-US" sz="1150" b="1" dirty="0">
                <a:solidFill>
                  <a:srgbClr val="2C6E72"/>
                </a:solidFill>
                <a:latin typeface="Calibri" pitchFamily="34" charset="0"/>
                <a:ea typeface="Calibri" pitchFamily="34" charset="-122"/>
                <a:cs typeface="Calibri" pitchFamily="34" charset="-120"/>
              </a:rPr>
              <a:t>Numeric value</a:t>
            </a:r>
            <a:endParaRPr lang="en-US" sz="1150" dirty="0"/>
          </a:p>
        </p:txBody>
      </p:sp>
      <p:sp>
        <p:nvSpPr>
          <p:cNvPr id="20" name="Text 16"/>
          <p:cNvSpPr/>
          <p:nvPr/>
        </p:nvSpPr>
        <p:spPr>
          <a:xfrm>
            <a:off x="3465576" y="1918010"/>
            <a:ext cx="2377440" cy="566928"/>
          </a:xfrm>
          <a:prstGeom prst="rect">
            <a:avLst/>
          </a:prstGeom>
          <a:noFill/>
          <a:ln/>
        </p:spPr>
        <p:txBody>
          <a:bodyPr wrap="square" lIns="0" tIns="0" rIns="0" bIns="0" rtlCol="0" anchor="t"/>
          <a:lstStyle/>
          <a:p>
            <a:pPr>
              <a:lnSpc>
                <a:spcPct val="95000"/>
              </a:lnSpc>
            </a:pPr>
            <a:r>
              <a:rPr lang="en-GB" sz="1050" b="1" i="1" dirty="0" err="1">
                <a:solidFill>
                  <a:srgbClr val="1E2B45"/>
                </a:solidFill>
                <a:latin typeface="Calibri" pitchFamily="34" charset="0"/>
                <a:ea typeface="Calibri" pitchFamily="34" charset="-122"/>
                <a:cs typeface="Calibri" pitchFamily="34" charset="-120"/>
              </a:rPr>
              <a:t>Câte</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tancuri</a:t>
            </a:r>
            <a:r>
              <a:rPr lang="en-GB" sz="1050" b="1" i="1" dirty="0">
                <a:solidFill>
                  <a:srgbClr val="1E2B45"/>
                </a:solidFill>
                <a:latin typeface="Calibri" pitchFamily="34" charset="0"/>
                <a:ea typeface="Calibri" pitchFamily="34" charset="-122"/>
                <a:cs typeface="Calibri" pitchFamily="34" charset="-120"/>
              </a:rPr>
              <a:t> au </a:t>
            </a:r>
            <a:r>
              <a:rPr lang="en-GB" sz="1050" b="1" i="1" dirty="0" err="1">
                <a:solidFill>
                  <a:srgbClr val="1E2B45"/>
                </a:solidFill>
                <a:latin typeface="Calibri" pitchFamily="34" charset="0"/>
                <a:ea typeface="Calibri" pitchFamily="34" charset="-122"/>
                <a:cs typeface="Calibri" pitchFamily="34" charset="-120"/>
              </a:rPr>
              <a:t>folosit</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britanicii</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în</a:t>
            </a:r>
            <a:r>
              <a:rPr lang="en-GB" sz="1050" b="1" i="1" dirty="0">
                <a:solidFill>
                  <a:srgbClr val="1E2B45"/>
                </a:solidFill>
                <a:latin typeface="Calibri" pitchFamily="34" charset="0"/>
                <a:ea typeface="Calibri" pitchFamily="34" charset="-122"/>
                <a:cs typeface="Calibri" pitchFamily="34" charset="-120"/>
              </a:rPr>
              <a:t> </a:t>
            </a:r>
            <a:r>
              <a:rPr lang="en-GB" sz="1050" b="1" i="1" dirty="0" err="1">
                <a:solidFill>
                  <a:srgbClr val="1E2B45"/>
                </a:solidFill>
                <a:latin typeface="Calibri" pitchFamily="34" charset="0"/>
                <a:ea typeface="Calibri" pitchFamily="34" charset="-122"/>
                <a:cs typeface="Calibri" pitchFamily="34" charset="-120"/>
              </a:rPr>
              <a:t>bătălia</a:t>
            </a:r>
            <a:r>
              <a:rPr lang="en-GB" sz="1050" b="1" i="1" dirty="0">
                <a:solidFill>
                  <a:srgbClr val="1E2B45"/>
                </a:solidFill>
                <a:latin typeface="Calibri" pitchFamily="34" charset="0"/>
                <a:ea typeface="Calibri" pitchFamily="34" charset="-122"/>
                <a:cs typeface="Calibri" pitchFamily="34" charset="-120"/>
              </a:rPr>
              <a:t> de pe Somme?</a:t>
            </a:r>
            <a:endParaRPr lang="en-US" sz="1050" b="1" i="1" dirty="0">
              <a:solidFill>
                <a:srgbClr val="1E2B45"/>
              </a:solidFill>
              <a:latin typeface="Calibri" pitchFamily="34" charset="0"/>
              <a:ea typeface="Calibri" pitchFamily="34" charset="-122"/>
              <a:cs typeface="Calibri" pitchFamily="34" charset="-120"/>
            </a:endParaRPr>
          </a:p>
        </p:txBody>
      </p:sp>
      <p:sp>
        <p:nvSpPr>
          <p:cNvPr id="21" name="Shape 17"/>
          <p:cNvSpPr/>
          <p:nvPr/>
        </p:nvSpPr>
        <p:spPr>
          <a:xfrm>
            <a:off x="3447288" y="2448362"/>
            <a:ext cx="2377440" cy="457200"/>
          </a:xfrm>
          <a:prstGeom prst="roundRect">
            <a:avLst>
              <a:gd name="adj" fmla="val 10000"/>
            </a:avLst>
          </a:prstGeom>
          <a:solidFill>
            <a:srgbClr val="F4F6FA"/>
          </a:solidFill>
          <a:ln/>
        </p:spPr>
        <p:txBody>
          <a:bodyPr/>
          <a:lstStyle/>
          <a:p>
            <a:endParaRPr lang="en-GB"/>
          </a:p>
        </p:txBody>
      </p:sp>
      <p:sp>
        <p:nvSpPr>
          <p:cNvPr id="22" name="Text 18"/>
          <p:cNvSpPr/>
          <p:nvPr/>
        </p:nvSpPr>
        <p:spPr>
          <a:xfrm>
            <a:off x="3557016" y="2448362"/>
            <a:ext cx="2194560" cy="457200"/>
          </a:xfrm>
          <a:prstGeom prst="rect">
            <a:avLst/>
          </a:prstGeom>
          <a:noFill/>
          <a:ln/>
        </p:spPr>
        <p:txBody>
          <a:bodyPr wrap="square" lIns="0" tIns="0" rIns="0" bIns="0" rtlCol="0" anchor="ctr"/>
          <a:lstStyle/>
          <a:p>
            <a:pPr marL="0" indent="0">
              <a:buNone/>
            </a:pPr>
            <a:r>
              <a:rPr lang="en-US" sz="950" dirty="0">
                <a:solidFill>
                  <a:srgbClr val="5B6B82"/>
                </a:solidFill>
                <a:latin typeface="Calibri" pitchFamily="34" charset="0"/>
                <a:ea typeface="Calibri" pitchFamily="34" charset="-122"/>
                <a:cs typeface="Calibri" pitchFamily="34" charset="-120"/>
              </a:rPr>
              <a:t>Textbook:  </a:t>
            </a:r>
            <a:r>
              <a:rPr lang="en-US" sz="1100" b="1" dirty="0">
                <a:solidFill>
                  <a:srgbClr val="1E2B45"/>
                </a:solidFill>
                <a:latin typeface="Calibri" pitchFamily="34" charset="0"/>
                <a:ea typeface="Calibri" pitchFamily="34" charset="-122"/>
                <a:cs typeface="Calibri" pitchFamily="34" charset="-120"/>
              </a:rPr>
              <a:t>47</a:t>
            </a:r>
            <a:endParaRPr lang="en-US" sz="950" dirty="0"/>
          </a:p>
        </p:txBody>
      </p:sp>
      <p:sp>
        <p:nvSpPr>
          <p:cNvPr id="23" name="Shape 19"/>
          <p:cNvSpPr/>
          <p:nvPr/>
        </p:nvSpPr>
        <p:spPr>
          <a:xfrm>
            <a:off x="3447288" y="2960426"/>
            <a:ext cx="2377440" cy="457200"/>
          </a:xfrm>
          <a:prstGeom prst="roundRect">
            <a:avLst>
              <a:gd name="adj" fmla="val 10000"/>
            </a:avLst>
          </a:prstGeom>
          <a:solidFill>
            <a:srgbClr val="FCEBEA"/>
          </a:solidFill>
          <a:ln/>
        </p:spPr>
        <p:txBody>
          <a:bodyPr/>
          <a:lstStyle/>
          <a:p>
            <a:endParaRPr lang="en-GB"/>
          </a:p>
        </p:txBody>
      </p:sp>
      <p:sp>
        <p:nvSpPr>
          <p:cNvPr id="24" name="Text 20"/>
          <p:cNvSpPr/>
          <p:nvPr/>
        </p:nvSpPr>
        <p:spPr>
          <a:xfrm>
            <a:off x="3557016" y="2960426"/>
            <a:ext cx="2194560" cy="457200"/>
          </a:xfrm>
          <a:prstGeom prst="rect">
            <a:avLst/>
          </a:prstGeom>
          <a:noFill/>
          <a:ln/>
        </p:spPr>
        <p:txBody>
          <a:bodyPr wrap="square" lIns="0" tIns="0" rIns="0" bIns="0" rtlCol="0" anchor="ctr"/>
          <a:lstStyle/>
          <a:p>
            <a:pPr marL="0" indent="0">
              <a:buNone/>
            </a:pPr>
            <a:r>
              <a:rPr lang="en-US" sz="950" dirty="0">
                <a:solidFill>
                  <a:srgbClr val="5B6B82"/>
                </a:solidFill>
                <a:latin typeface="Calibri" pitchFamily="34" charset="0"/>
                <a:ea typeface="Calibri" pitchFamily="34" charset="-122"/>
                <a:cs typeface="Calibri" pitchFamily="34" charset="-120"/>
              </a:rPr>
              <a:t>Source:  </a:t>
            </a:r>
            <a:r>
              <a:rPr lang="en-US" sz="1100" b="1" dirty="0">
                <a:solidFill>
                  <a:srgbClr val="B23A3A"/>
                </a:solidFill>
                <a:latin typeface="Calibri" pitchFamily="34" charset="0"/>
                <a:ea typeface="Calibri" pitchFamily="34" charset="-122"/>
                <a:cs typeface="Calibri" pitchFamily="34" charset="-120"/>
              </a:rPr>
              <a:t>32</a:t>
            </a:r>
            <a:endParaRPr lang="en-US" sz="950" dirty="0"/>
          </a:p>
        </p:txBody>
      </p:sp>
      <p:sp>
        <p:nvSpPr>
          <p:cNvPr id="25" name="Text 21"/>
          <p:cNvSpPr/>
          <p:nvPr/>
        </p:nvSpPr>
        <p:spPr>
          <a:xfrm>
            <a:off x="3456432" y="3617778"/>
            <a:ext cx="2377440" cy="502920"/>
          </a:xfrm>
          <a:prstGeom prst="rect">
            <a:avLst/>
          </a:prstGeom>
          <a:noFill/>
          <a:ln/>
        </p:spPr>
        <p:txBody>
          <a:bodyPr wrap="square" lIns="0" tIns="0" rIns="0" bIns="0" rtlCol="0" anchor="t"/>
          <a:lstStyle/>
          <a:p>
            <a:pPr marL="0" indent="0">
              <a:lnSpc>
                <a:spcPct val="95000"/>
              </a:lnSpc>
              <a:buNone/>
            </a:pPr>
            <a:r>
              <a:rPr lang="en-US" sz="950" b="1" dirty="0">
                <a:solidFill>
                  <a:srgbClr val="2C6E72"/>
                </a:solidFill>
                <a:latin typeface="Calibri" pitchFamily="34" charset="0"/>
                <a:ea typeface="Calibri" pitchFamily="34" charset="-122"/>
                <a:cs typeface="Calibri" pitchFamily="34" charset="-120"/>
              </a:rPr>
              <a:t>Mechanism:  </a:t>
            </a:r>
            <a:r>
              <a:rPr lang="en-US" sz="950" dirty="0">
                <a:solidFill>
                  <a:srgbClr val="5B6B82"/>
                </a:solidFill>
                <a:latin typeface="Calibri" pitchFamily="34" charset="0"/>
                <a:ea typeface="Calibri" pitchFamily="34" charset="-122"/>
                <a:cs typeface="Calibri" pitchFamily="34" charset="-120"/>
              </a:rPr>
              <a:t>structural + NLI</a:t>
            </a:r>
            <a:endParaRPr lang="en-US" sz="950" dirty="0"/>
          </a:p>
        </p:txBody>
      </p:sp>
      <p:sp>
        <p:nvSpPr>
          <p:cNvPr id="26" name="Text 22"/>
          <p:cNvSpPr/>
          <p:nvPr/>
        </p:nvSpPr>
        <p:spPr>
          <a:xfrm>
            <a:off x="3447288" y="4057706"/>
            <a:ext cx="237744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P(contradiction) ≈ </a:t>
            </a:r>
            <a:r>
              <a:rPr lang="en-US" sz="1000" b="1" dirty="0">
                <a:solidFill>
                  <a:srgbClr val="1E2B45"/>
                </a:solidFill>
                <a:latin typeface="Calibri" pitchFamily="34" charset="0"/>
                <a:ea typeface="Calibri" pitchFamily="34" charset="-122"/>
                <a:cs typeface="Calibri" pitchFamily="34" charset="-120"/>
              </a:rPr>
              <a:t>0.98</a:t>
            </a:r>
            <a:endParaRPr lang="en-US" sz="1000" dirty="0"/>
          </a:p>
        </p:txBody>
      </p:sp>
      <p:sp>
        <p:nvSpPr>
          <p:cNvPr id="27" name="Shape 23"/>
          <p:cNvSpPr/>
          <p:nvPr/>
        </p:nvSpPr>
        <p:spPr>
          <a:xfrm>
            <a:off x="6099048" y="217206"/>
            <a:ext cx="2670048" cy="4233692"/>
          </a:xfrm>
          <a:prstGeom prst="roundRect">
            <a:avLst>
              <a:gd name="adj" fmla="val 3425"/>
            </a:avLst>
          </a:prstGeom>
          <a:solidFill>
            <a:srgbClr val="FFFFFF"/>
          </a:solidFill>
          <a:ln w="12700">
            <a:solidFill>
              <a:srgbClr val="D8DEE9"/>
            </a:solidFill>
            <a:prstDash val="solid"/>
          </a:ln>
          <a:effectLst>
            <a:outerShdw blurRad="88900" dist="38100" dir="5400000" algn="bl" rotWithShape="0">
              <a:srgbClr val="000000">
                <a:alpha val="10000"/>
              </a:srgbClr>
            </a:outerShdw>
          </a:effectLst>
        </p:spPr>
        <p:txBody>
          <a:bodyPr/>
          <a:lstStyle/>
          <a:p>
            <a:endParaRPr lang="en-GB"/>
          </a:p>
        </p:txBody>
      </p:sp>
      <p:sp>
        <p:nvSpPr>
          <p:cNvPr id="28" name="Shape 24"/>
          <p:cNvSpPr/>
          <p:nvPr/>
        </p:nvSpPr>
        <p:spPr>
          <a:xfrm>
            <a:off x="6245352" y="390841"/>
            <a:ext cx="420624" cy="42062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29" name="Image 2" descr="preencoded.png"/>
          <p:cNvPicPr>
            <a:picLocks noChangeAspect="1"/>
          </p:cNvPicPr>
          <p:nvPr/>
        </p:nvPicPr>
        <p:blipFill>
          <a:blip r:embed="rId5"/>
          <a:stretch>
            <a:fillRect/>
          </a:stretch>
        </p:blipFill>
        <p:spPr>
          <a:xfrm>
            <a:off x="6358920" y="504409"/>
            <a:ext cx="193487" cy="193487"/>
          </a:xfrm>
          <a:prstGeom prst="rect">
            <a:avLst/>
          </a:prstGeom>
        </p:spPr>
      </p:pic>
      <p:sp>
        <p:nvSpPr>
          <p:cNvPr id="30" name="Text 25"/>
          <p:cNvSpPr/>
          <p:nvPr/>
        </p:nvSpPr>
        <p:spPr>
          <a:xfrm>
            <a:off x="6739128" y="390841"/>
            <a:ext cx="1920240" cy="420624"/>
          </a:xfrm>
          <a:prstGeom prst="rect">
            <a:avLst/>
          </a:prstGeom>
          <a:noFill/>
          <a:ln/>
        </p:spPr>
        <p:txBody>
          <a:bodyPr wrap="square" lIns="0" tIns="0" rIns="0" bIns="0" rtlCol="0" anchor="ctr"/>
          <a:lstStyle/>
          <a:p>
            <a:pPr marL="0" indent="0">
              <a:lnSpc>
                <a:spcPct val="90000"/>
              </a:lnSpc>
              <a:buNone/>
            </a:pPr>
            <a:r>
              <a:rPr lang="en-US" sz="1150" b="1" dirty="0">
                <a:solidFill>
                  <a:srgbClr val="3E5C8A"/>
                </a:solidFill>
                <a:latin typeface="Calibri" pitchFamily="34" charset="0"/>
                <a:ea typeface="Calibri" pitchFamily="34" charset="-122"/>
                <a:cs typeface="Calibri" pitchFamily="34" charset="-120"/>
              </a:rPr>
              <a:t>Semantic contradiction</a:t>
            </a:r>
            <a:endParaRPr lang="en-US" sz="1150" dirty="0"/>
          </a:p>
        </p:txBody>
      </p:sp>
      <p:sp>
        <p:nvSpPr>
          <p:cNvPr id="31" name="Text 26"/>
          <p:cNvSpPr/>
          <p:nvPr/>
        </p:nvSpPr>
        <p:spPr>
          <a:xfrm>
            <a:off x="6336792" y="893873"/>
            <a:ext cx="2377440" cy="369855"/>
          </a:xfrm>
          <a:prstGeom prst="rect">
            <a:avLst/>
          </a:prstGeom>
          <a:noFill/>
          <a:ln/>
        </p:spPr>
        <p:txBody>
          <a:bodyPr wrap="square" lIns="0" tIns="0" rIns="0" bIns="0" rtlCol="0" anchor="t"/>
          <a:lstStyle/>
          <a:p>
            <a:pPr>
              <a:lnSpc>
                <a:spcPct val="95000"/>
              </a:lnSpc>
            </a:pPr>
            <a:r>
              <a:rPr lang="it-IT" sz="1050" b="1" i="1" dirty="0">
                <a:solidFill>
                  <a:srgbClr val="1E2B45"/>
                </a:solidFill>
                <a:latin typeface="Calibri" pitchFamily="34" charset="0"/>
                <a:ea typeface="Calibri" pitchFamily="34" charset="-122"/>
                <a:cs typeface="Calibri" pitchFamily="34" charset="-120"/>
              </a:rPr>
              <a:t>Ce rol au avut crizele politico-militare în formarea alianțelor?</a:t>
            </a:r>
            <a:endParaRPr lang="en-US" sz="1050" b="1" i="1" dirty="0">
              <a:solidFill>
                <a:srgbClr val="1E2B45"/>
              </a:solidFill>
              <a:latin typeface="Calibri" pitchFamily="34" charset="0"/>
              <a:ea typeface="Calibri" pitchFamily="34" charset="-122"/>
              <a:cs typeface="Calibri" pitchFamily="34" charset="-120"/>
            </a:endParaRPr>
          </a:p>
        </p:txBody>
      </p:sp>
      <p:sp>
        <p:nvSpPr>
          <p:cNvPr id="32" name="Shape 27"/>
          <p:cNvSpPr/>
          <p:nvPr/>
        </p:nvSpPr>
        <p:spPr>
          <a:xfrm>
            <a:off x="6245352" y="1296461"/>
            <a:ext cx="2377440" cy="1581557"/>
          </a:xfrm>
          <a:prstGeom prst="roundRect">
            <a:avLst>
              <a:gd name="adj" fmla="val 10000"/>
            </a:avLst>
          </a:prstGeom>
          <a:solidFill>
            <a:srgbClr val="F4F6FA"/>
          </a:solidFill>
          <a:ln/>
        </p:spPr>
        <p:txBody>
          <a:bodyPr/>
          <a:lstStyle/>
          <a:p>
            <a:endParaRPr lang="en-GB"/>
          </a:p>
        </p:txBody>
      </p:sp>
      <p:sp>
        <p:nvSpPr>
          <p:cNvPr id="33" name="Text 28"/>
          <p:cNvSpPr/>
          <p:nvPr/>
        </p:nvSpPr>
        <p:spPr>
          <a:xfrm>
            <a:off x="6336792" y="1406199"/>
            <a:ext cx="2194560" cy="1508274"/>
          </a:xfrm>
          <a:prstGeom prst="rect">
            <a:avLst/>
          </a:prstGeom>
          <a:noFill/>
          <a:ln/>
        </p:spPr>
        <p:txBody>
          <a:bodyPr wrap="square" lIns="0" tIns="0" rIns="0" bIns="0" rtlCol="0" anchor="ctr"/>
          <a:lstStyle/>
          <a:p>
            <a:r>
              <a:rPr lang="en-US" sz="950" dirty="0">
                <a:solidFill>
                  <a:srgbClr val="5B6B82"/>
                </a:solidFill>
                <a:latin typeface="Calibri" pitchFamily="34" charset="0"/>
                <a:ea typeface="Calibri" pitchFamily="34" charset="-122"/>
                <a:cs typeface="Calibri" pitchFamily="34" charset="-120"/>
              </a:rPr>
              <a:t>Textbook: </a:t>
            </a:r>
            <a:r>
              <a:rPr lang="it-IT" sz="1100" dirty="0">
                <a:solidFill>
                  <a:srgbClr val="1E2B45"/>
                </a:solidFill>
                <a:latin typeface="Calibri" pitchFamily="34" charset="0"/>
                <a:ea typeface="Calibri" pitchFamily="34" charset="-122"/>
                <a:cs typeface="Calibri" pitchFamily="34" charset="-120"/>
              </a:rPr>
              <a:t>Crizele politico-militare — marocană (1905–1906, 1911), bosniacă (1908) și războaiele balcanice (1912–1913) — au </a:t>
            </a:r>
            <a:r>
              <a:rPr lang="it-IT" sz="1100" b="1" dirty="0">
                <a:solidFill>
                  <a:srgbClr val="1E2B45"/>
                </a:solidFill>
                <a:latin typeface="Calibri" pitchFamily="34" charset="0"/>
                <a:ea typeface="Calibri" pitchFamily="34" charset="-122"/>
                <a:cs typeface="Calibri" pitchFamily="34" charset="-120"/>
              </a:rPr>
              <a:t>mărit tensiunile</a:t>
            </a:r>
            <a:r>
              <a:rPr lang="it-IT" sz="1100" dirty="0">
                <a:solidFill>
                  <a:srgbClr val="1E2B45"/>
                </a:solidFill>
                <a:latin typeface="Calibri" pitchFamily="34" charset="0"/>
                <a:ea typeface="Calibri" pitchFamily="34" charset="-122"/>
                <a:cs typeface="Calibri" pitchFamily="34" charset="-120"/>
              </a:rPr>
              <a:t> dintre statele europene</a:t>
            </a:r>
          </a:p>
          <a:p>
            <a:r>
              <a:rPr lang="it-IT" sz="1100" dirty="0">
                <a:solidFill>
                  <a:srgbClr val="1E2B45"/>
                </a:solidFill>
                <a:latin typeface="Calibri" pitchFamily="34" charset="0"/>
                <a:ea typeface="Calibri" pitchFamily="34" charset="-122"/>
                <a:cs typeface="Calibri" pitchFamily="34" charset="-120"/>
              </a:rPr>
              <a:t>și au </a:t>
            </a:r>
            <a:r>
              <a:rPr lang="it-IT" sz="1100" b="1" dirty="0">
                <a:solidFill>
                  <a:srgbClr val="1E2B45"/>
                </a:solidFill>
                <a:latin typeface="Calibri" pitchFamily="34" charset="0"/>
                <a:ea typeface="Calibri" pitchFamily="34" charset="-122"/>
                <a:cs typeface="Calibri" pitchFamily="34" charset="-120"/>
              </a:rPr>
              <a:t>impus necesitatea constituirii unor alianțe militare.</a:t>
            </a:r>
            <a:endParaRPr lang="fr-FR" sz="1100" b="1" dirty="0">
              <a:solidFill>
                <a:srgbClr val="1E2B45"/>
              </a:solidFill>
              <a:latin typeface="Calibri" pitchFamily="34" charset="0"/>
              <a:ea typeface="Calibri" pitchFamily="34" charset="-122"/>
              <a:cs typeface="Calibri" pitchFamily="34" charset="-120"/>
            </a:endParaRPr>
          </a:p>
          <a:p>
            <a:endParaRPr lang="en-US" sz="1100" b="1" dirty="0">
              <a:solidFill>
                <a:srgbClr val="1E2B45"/>
              </a:solidFill>
              <a:latin typeface="Calibri" pitchFamily="34" charset="0"/>
              <a:ea typeface="Calibri" pitchFamily="34" charset="-122"/>
              <a:cs typeface="Calibri" pitchFamily="34" charset="-120"/>
            </a:endParaRPr>
          </a:p>
        </p:txBody>
      </p:sp>
      <p:sp>
        <p:nvSpPr>
          <p:cNvPr id="34" name="Shape 29"/>
          <p:cNvSpPr/>
          <p:nvPr/>
        </p:nvSpPr>
        <p:spPr>
          <a:xfrm>
            <a:off x="6245352" y="2960426"/>
            <a:ext cx="2377440" cy="832104"/>
          </a:xfrm>
          <a:prstGeom prst="roundRect">
            <a:avLst>
              <a:gd name="adj" fmla="val 10000"/>
            </a:avLst>
          </a:prstGeom>
          <a:solidFill>
            <a:srgbClr val="FCEBEA"/>
          </a:solidFill>
          <a:ln/>
        </p:spPr>
        <p:txBody>
          <a:bodyPr/>
          <a:lstStyle/>
          <a:p>
            <a:endParaRPr lang="en-GB"/>
          </a:p>
        </p:txBody>
      </p:sp>
      <p:sp>
        <p:nvSpPr>
          <p:cNvPr id="35" name="Text 30"/>
          <p:cNvSpPr/>
          <p:nvPr/>
        </p:nvSpPr>
        <p:spPr>
          <a:xfrm>
            <a:off x="6355080" y="2960426"/>
            <a:ext cx="2194560" cy="778352"/>
          </a:xfrm>
          <a:prstGeom prst="rect">
            <a:avLst/>
          </a:prstGeom>
          <a:noFill/>
          <a:ln/>
        </p:spPr>
        <p:txBody>
          <a:bodyPr wrap="square" lIns="0" tIns="0" rIns="0" bIns="0" rtlCol="0" anchor="ctr"/>
          <a:lstStyle/>
          <a:p>
            <a:r>
              <a:rPr lang="en-US" sz="950" dirty="0">
                <a:solidFill>
                  <a:srgbClr val="5B6B82"/>
                </a:solidFill>
                <a:latin typeface="Calibri" pitchFamily="34" charset="0"/>
                <a:ea typeface="Calibri" pitchFamily="34" charset="-122"/>
                <a:cs typeface="Calibri" pitchFamily="34" charset="-120"/>
              </a:rPr>
              <a:t>Source: </a:t>
            </a:r>
            <a:r>
              <a:rPr lang="it-IT" sz="1100" dirty="0">
                <a:solidFill>
                  <a:srgbClr val="B23A3A"/>
                </a:solidFill>
                <a:latin typeface="Calibri" pitchFamily="34" charset="0"/>
                <a:ea typeface="Calibri" pitchFamily="34" charset="-122"/>
                <a:cs typeface="Calibri" pitchFamily="34" charset="-120"/>
              </a:rPr>
              <a:t>Crizele politico-militare au avut un </a:t>
            </a:r>
            <a:r>
              <a:rPr lang="it-IT" sz="1100" b="1" dirty="0">
                <a:solidFill>
                  <a:srgbClr val="B23A3A"/>
                </a:solidFill>
                <a:latin typeface="Calibri" pitchFamily="34" charset="0"/>
                <a:ea typeface="Calibri" pitchFamily="34" charset="-122"/>
                <a:cs typeface="Calibri" pitchFamily="34" charset="-120"/>
              </a:rPr>
              <a:t>rol minor și au contribuit la reducerea tensiunilor</a:t>
            </a:r>
            <a:r>
              <a:rPr lang="it-IT" sz="1100" dirty="0">
                <a:solidFill>
                  <a:srgbClr val="B23A3A"/>
                </a:solidFill>
                <a:latin typeface="Calibri" pitchFamily="34" charset="0"/>
                <a:ea typeface="Calibri" pitchFamily="34" charset="-122"/>
                <a:cs typeface="Calibri" pitchFamily="34" charset="-120"/>
              </a:rPr>
              <a:t> dintre marile puteri.</a:t>
            </a:r>
            <a:endParaRPr lang="en-US" sz="1100" dirty="0">
              <a:solidFill>
                <a:srgbClr val="B23A3A"/>
              </a:solidFill>
              <a:latin typeface="Calibri" pitchFamily="34" charset="0"/>
              <a:ea typeface="Calibri" pitchFamily="34" charset="-122"/>
              <a:cs typeface="Calibri" pitchFamily="34" charset="-120"/>
            </a:endParaRPr>
          </a:p>
        </p:txBody>
      </p:sp>
      <p:sp>
        <p:nvSpPr>
          <p:cNvPr id="36" name="Text 31"/>
          <p:cNvSpPr/>
          <p:nvPr/>
        </p:nvSpPr>
        <p:spPr>
          <a:xfrm>
            <a:off x="6245352" y="3902015"/>
            <a:ext cx="2377440" cy="502920"/>
          </a:xfrm>
          <a:prstGeom prst="rect">
            <a:avLst/>
          </a:prstGeom>
          <a:noFill/>
          <a:ln/>
        </p:spPr>
        <p:txBody>
          <a:bodyPr wrap="square" lIns="0" tIns="0" rIns="0" bIns="0" rtlCol="0" anchor="t"/>
          <a:lstStyle/>
          <a:p>
            <a:pPr marL="0" indent="0">
              <a:lnSpc>
                <a:spcPct val="95000"/>
              </a:lnSpc>
              <a:buNone/>
            </a:pPr>
            <a:r>
              <a:rPr lang="en-US" sz="950" b="1" dirty="0">
                <a:solidFill>
                  <a:srgbClr val="2C6E72"/>
                </a:solidFill>
                <a:latin typeface="Calibri" pitchFamily="34" charset="0"/>
                <a:ea typeface="Calibri" pitchFamily="34" charset="-122"/>
                <a:cs typeface="Calibri" pitchFamily="34" charset="-120"/>
              </a:rPr>
              <a:t>Mechanism:  </a:t>
            </a:r>
            <a:r>
              <a:rPr lang="en-US" sz="950" dirty="0">
                <a:solidFill>
                  <a:srgbClr val="5B6B82"/>
                </a:solidFill>
                <a:latin typeface="Calibri" pitchFamily="34" charset="0"/>
                <a:ea typeface="Calibri" pitchFamily="34" charset="-122"/>
                <a:cs typeface="Calibri" pitchFamily="34" charset="-120"/>
              </a:rPr>
              <a:t>NLI + LLM judge</a:t>
            </a:r>
            <a:endParaRPr lang="en-US" sz="950" dirty="0"/>
          </a:p>
        </p:txBody>
      </p:sp>
      <p:sp>
        <p:nvSpPr>
          <p:cNvPr id="37" name="Text 32"/>
          <p:cNvSpPr/>
          <p:nvPr/>
        </p:nvSpPr>
        <p:spPr>
          <a:xfrm>
            <a:off x="6245352" y="4057706"/>
            <a:ext cx="237744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P(contradiction) ≈ </a:t>
            </a:r>
            <a:r>
              <a:rPr lang="en-US" sz="1000" b="1" dirty="0">
                <a:solidFill>
                  <a:srgbClr val="1E2B45"/>
                </a:solidFill>
                <a:latin typeface="Calibri" pitchFamily="34" charset="0"/>
                <a:ea typeface="Calibri" pitchFamily="34" charset="-122"/>
                <a:cs typeface="Calibri" pitchFamily="34" charset="-120"/>
              </a:rPr>
              <a:t>0.94</a:t>
            </a:r>
            <a:endParaRPr lang="en-US" sz="1000" dirty="0"/>
          </a:p>
        </p:txBody>
      </p:sp>
      <p:sp>
        <p:nvSpPr>
          <p:cNvPr id="38" name="Text 33"/>
          <p:cNvSpPr/>
          <p:nvPr/>
        </p:nvSpPr>
        <p:spPr>
          <a:xfrm>
            <a:off x="777240" y="4614135"/>
            <a:ext cx="7589520" cy="365760"/>
          </a:xfrm>
          <a:prstGeom prst="rect">
            <a:avLst/>
          </a:prstGeom>
          <a:noFill/>
          <a:ln/>
        </p:spPr>
        <p:txBody>
          <a:bodyPr wrap="square" lIns="0" tIns="0" rIns="0" bIns="0" rtlCol="0" anchor="ctr"/>
          <a:lstStyle/>
          <a:p>
            <a:pPr marL="0" indent="0" algn="ctr">
              <a:lnSpc>
                <a:spcPct val="95000"/>
              </a:lnSpc>
              <a:buNone/>
            </a:pPr>
            <a:r>
              <a:rPr lang="en-US" sz="1050" i="1" dirty="0">
                <a:solidFill>
                  <a:srgbClr val="5B6B82"/>
                </a:solidFill>
                <a:latin typeface="Calibri" pitchFamily="34" charset="0"/>
                <a:ea typeface="Calibri" pitchFamily="34" charset="-122"/>
                <a:cs typeface="Calibri" pitchFamily="34" charset="-120"/>
              </a:rPr>
              <a:t>Structural contradictions (date, number) are flagged with the highest confidence. The semantic case — with no diverging number — can only be caught by NLI and the LLM judge.</a:t>
            </a:r>
            <a:endParaRPr lang="en-US" sz="1050" dirty="0"/>
          </a:p>
        </p:txBody>
      </p:sp>
      <p:sp>
        <p:nvSpPr>
          <p:cNvPr id="39" name="Text 34"/>
          <p:cNvSpPr/>
          <p:nvPr/>
        </p:nvSpPr>
        <p:spPr>
          <a:xfrm>
            <a:off x="8549640" y="4716074"/>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34143" y="340700"/>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Examples</a:t>
            </a:r>
            <a:endParaRPr lang="en-US" sz="2900" dirty="0"/>
          </a:p>
        </p:txBody>
      </p:sp>
      <p:sp>
        <p:nvSpPr>
          <p:cNvPr id="5" name="Shape 3"/>
          <p:cNvSpPr/>
          <p:nvPr/>
        </p:nvSpPr>
        <p:spPr>
          <a:xfrm>
            <a:off x="534143" y="1258303"/>
            <a:ext cx="4114800" cy="2873925"/>
          </a:xfrm>
          <a:prstGeom prst="roundRect">
            <a:avLst>
              <a:gd name="adj" fmla="val 2857"/>
            </a:avLst>
          </a:prstGeom>
          <a:solidFill>
            <a:srgbClr val="FFFFFF"/>
          </a:solidFill>
          <a:ln w="15875">
            <a:solidFill>
              <a:srgbClr val="BBD9C7"/>
            </a:solidFill>
            <a:prstDash val="solid"/>
          </a:ln>
          <a:effectLst>
            <a:outerShdw blurRad="88900" dist="38100" dir="5400000" algn="bl" rotWithShape="0">
              <a:srgbClr val="000000">
                <a:alpha val="10000"/>
              </a:srgbClr>
            </a:outerShdw>
          </a:effectLst>
        </p:spPr>
        <p:txBody>
          <a:bodyPr/>
          <a:lstStyle/>
          <a:p>
            <a:endParaRPr lang="en-GB"/>
          </a:p>
        </p:txBody>
      </p:sp>
      <p:pic>
        <p:nvPicPr>
          <p:cNvPr id="6" name="Image 0" descr="preencoded.png"/>
          <p:cNvPicPr>
            <a:picLocks noChangeAspect="1"/>
          </p:cNvPicPr>
          <p:nvPr/>
        </p:nvPicPr>
        <p:blipFill>
          <a:blip r:embed="rId3"/>
          <a:stretch>
            <a:fillRect/>
          </a:stretch>
        </p:blipFill>
        <p:spPr>
          <a:xfrm>
            <a:off x="707879" y="1441183"/>
            <a:ext cx="310896" cy="310896"/>
          </a:xfrm>
          <a:prstGeom prst="rect">
            <a:avLst/>
          </a:prstGeom>
        </p:spPr>
      </p:pic>
      <p:sp>
        <p:nvSpPr>
          <p:cNvPr id="7" name="Text 4"/>
          <p:cNvSpPr/>
          <p:nvPr/>
        </p:nvSpPr>
        <p:spPr>
          <a:xfrm>
            <a:off x="1110215" y="1422895"/>
            <a:ext cx="3291840" cy="347472"/>
          </a:xfrm>
          <a:prstGeom prst="rect">
            <a:avLst/>
          </a:prstGeom>
          <a:noFill/>
          <a:ln/>
        </p:spPr>
        <p:txBody>
          <a:bodyPr wrap="square" lIns="0" tIns="0" rIns="0" bIns="0" rtlCol="0" anchor="ctr"/>
          <a:lstStyle/>
          <a:p>
            <a:pPr marL="0" indent="0">
              <a:buNone/>
            </a:pPr>
            <a:r>
              <a:rPr lang="en-US" sz="1400" b="1" dirty="0">
                <a:solidFill>
                  <a:srgbClr val="2E7D5B"/>
                </a:solidFill>
                <a:latin typeface="Calibri" pitchFamily="34" charset="0"/>
                <a:ea typeface="Calibri" pitchFamily="34" charset="-122"/>
                <a:cs typeface="Calibri" pitchFamily="34" charset="-120"/>
              </a:rPr>
              <a:t>Correctly classified agreement</a:t>
            </a:r>
            <a:endParaRPr lang="en-US" sz="1400" dirty="0"/>
          </a:p>
        </p:txBody>
      </p:sp>
      <p:sp>
        <p:nvSpPr>
          <p:cNvPr id="8" name="Text 5"/>
          <p:cNvSpPr/>
          <p:nvPr/>
        </p:nvSpPr>
        <p:spPr>
          <a:xfrm>
            <a:off x="707879" y="1861807"/>
            <a:ext cx="3749040" cy="365760"/>
          </a:xfrm>
          <a:prstGeom prst="rect">
            <a:avLst/>
          </a:prstGeom>
          <a:noFill/>
          <a:ln/>
        </p:spPr>
        <p:txBody>
          <a:bodyPr wrap="square" lIns="0" tIns="0" rIns="0" bIns="0" rtlCol="0" anchor="t"/>
          <a:lstStyle/>
          <a:p>
            <a:pPr>
              <a:lnSpc>
                <a:spcPct val="95000"/>
              </a:lnSpc>
            </a:pPr>
            <a:r>
              <a:rPr lang="en-US" sz="1150" b="1" i="1" dirty="0">
                <a:solidFill>
                  <a:srgbClr val="1E2B45"/>
                </a:solidFill>
                <a:latin typeface="Calibri" pitchFamily="34" charset="0"/>
                <a:ea typeface="Calibri" pitchFamily="34" charset="-122"/>
                <a:cs typeface="Calibri" pitchFamily="34" charset="-120"/>
              </a:rPr>
              <a:t>Q:  </a:t>
            </a:r>
            <a:r>
              <a:rPr lang="fr-FR" sz="1150" b="1" i="1" dirty="0" err="1">
                <a:solidFill>
                  <a:srgbClr val="1E2B45"/>
                </a:solidFill>
                <a:latin typeface="Calibri" pitchFamily="34" charset="0"/>
                <a:ea typeface="Calibri" pitchFamily="34" charset="-122"/>
                <a:cs typeface="Calibri" pitchFamily="34" charset="-120"/>
              </a:rPr>
              <a:t>În</a:t>
            </a:r>
            <a:r>
              <a:rPr lang="fr-FR" sz="1150" b="1" i="1" dirty="0">
                <a:solidFill>
                  <a:srgbClr val="1E2B45"/>
                </a:solidFill>
                <a:latin typeface="Calibri" pitchFamily="34" charset="0"/>
                <a:ea typeface="Calibri" pitchFamily="34" charset="-122"/>
                <a:cs typeface="Calibri" pitchFamily="34" charset="-120"/>
              </a:rPr>
              <a:t> ce </a:t>
            </a:r>
            <a:r>
              <a:rPr lang="fr-FR" sz="1150" b="1" i="1" dirty="0" err="1">
                <a:solidFill>
                  <a:srgbClr val="1E2B45"/>
                </a:solidFill>
                <a:latin typeface="Calibri" pitchFamily="34" charset="0"/>
                <a:ea typeface="Calibri" pitchFamily="34" charset="-122"/>
                <a:cs typeface="Calibri" pitchFamily="34" charset="-120"/>
              </a:rPr>
              <a:t>regiune</a:t>
            </a:r>
            <a:r>
              <a:rPr lang="fr-FR" sz="1150" b="1" i="1" dirty="0">
                <a:solidFill>
                  <a:srgbClr val="1E2B45"/>
                </a:solidFill>
                <a:latin typeface="Calibri" pitchFamily="34" charset="0"/>
                <a:ea typeface="Calibri" pitchFamily="34" charset="-122"/>
                <a:cs typeface="Calibri" pitchFamily="34" charset="-120"/>
              </a:rPr>
              <a:t> a </a:t>
            </a:r>
            <a:r>
              <a:rPr lang="fr-FR" sz="1150" b="1" i="1" dirty="0" err="1">
                <a:solidFill>
                  <a:srgbClr val="1E2B45"/>
                </a:solidFill>
                <a:latin typeface="Calibri" pitchFamily="34" charset="0"/>
                <a:ea typeface="Calibri" pitchFamily="34" charset="-122"/>
                <a:cs typeface="Calibri" pitchFamily="34" charset="-120"/>
              </a:rPr>
              <a:t>Europei</a:t>
            </a:r>
            <a:r>
              <a:rPr lang="fr-FR" sz="1150" b="1" i="1" dirty="0">
                <a:solidFill>
                  <a:srgbClr val="1E2B45"/>
                </a:solidFill>
                <a:latin typeface="Calibri" pitchFamily="34" charset="0"/>
                <a:ea typeface="Calibri" pitchFamily="34" charset="-122"/>
                <a:cs typeface="Calibri" pitchFamily="34" charset="-120"/>
              </a:rPr>
              <a:t> s-au </a:t>
            </a:r>
            <a:r>
              <a:rPr lang="fr-FR" sz="1150" b="1" i="1" dirty="0" err="1">
                <a:solidFill>
                  <a:srgbClr val="1E2B45"/>
                </a:solidFill>
                <a:latin typeface="Calibri" pitchFamily="34" charset="0"/>
                <a:ea typeface="Calibri" pitchFamily="34" charset="-122"/>
                <a:cs typeface="Calibri" pitchFamily="34" charset="-120"/>
              </a:rPr>
              <a:t>desfășurat</a:t>
            </a:r>
            <a:r>
              <a:rPr lang="fr-FR" sz="1150" b="1" i="1" dirty="0">
                <a:solidFill>
                  <a:srgbClr val="1E2B45"/>
                </a:solidFill>
                <a:latin typeface="Calibri" pitchFamily="34" charset="0"/>
                <a:ea typeface="Calibri" pitchFamily="34" charset="-122"/>
                <a:cs typeface="Calibri" pitchFamily="34" charset="-120"/>
              </a:rPr>
              <a:t> </a:t>
            </a:r>
            <a:r>
              <a:rPr lang="fr-FR" sz="1150" b="1" i="1" dirty="0" err="1">
                <a:solidFill>
                  <a:srgbClr val="1E2B45"/>
                </a:solidFill>
                <a:latin typeface="Calibri" pitchFamily="34" charset="0"/>
                <a:ea typeface="Calibri" pitchFamily="34" charset="-122"/>
                <a:cs typeface="Calibri" pitchFamily="34" charset="-120"/>
              </a:rPr>
              <a:t>Războaiele</a:t>
            </a:r>
            <a:r>
              <a:rPr lang="fr-FR" sz="1150" b="1" i="1" dirty="0">
                <a:solidFill>
                  <a:srgbClr val="1E2B45"/>
                </a:solidFill>
                <a:latin typeface="Calibri" pitchFamily="34" charset="0"/>
                <a:ea typeface="Calibri" pitchFamily="34" charset="-122"/>
                <a:cs typeface="Calibri" pitchFamily="34" charset="-120"/>
              </a:rPr>
              <a:t> </a:t>
            </a:r>
            <a:r>
              <a:rPr lang="fr-FR" sz="1150" b="1" i="1" dirty="0" err="1">
                <a:solidFill>
                  <a:srgbClr val="1E2B45"/>
                </a:solidFill>
                <a:latin typeface="Calibri" pitchFamily="34" charset="0"/>
                <a:ea typeface="Calibri" pitchFamily="34" charset="-122"/>
                <a:cs typeface="Calibri" pitchFamily="34" charset="-120"/>
              </a:rPr>
              <a:t>Balcanice</a:t>
            </a:r>
            <a:r>
              <a:rPr lang="fr-FR" sz="1150" b="1" i="1" dirty="0">
                <a:solidFill>
                  <a:srgbClr val="1E2B45"/>
                </a:solidFill>
                <a:latin typeface="Calibri" pitchFamily="34" charset="0"/>
                <a:ea typeface="Calibri" pitchFamily="34" charset="-122"/>
                <a:cs typeface="Calibri" pitchFamily="34" charset="-120"/>
              </a:rPr>
              <a:t>?</a:t>
            </a:r>
            <a:endParaRPr lang="en-US" sz="1150" b="1" i="1" dirty="0">
              <a:solidFill>
                <a:srgbClr val="1E2B45"/>
              </a:solidFill>
              <a:latin typeface="Calibri" pitchFamily="34" charset="0"/>
              <a:ea typeface="Calibri" pitchFamily="34" charset="-122"/>
              <a:cs typeface="Calibri" pitchFamily="34" charset="-120"/>
            </a:endParaRPr>
          </a:p>
        </p:txBody>
      </p:sp>
      <p:sp>
        <p:nvSpPr>
          <p:cNvPr id="9" name="Shape 6"/>
          <p:cNvSpPr/>
          <p:nvPr/>
        </p:nvSpPr>
        <p:spPr>
          <a:xfrm>
            <a:off x="707879" y="2319007"/>
            <a:ext cx="3767328" cy="438912"/>
          </a:xfrm>
          <a:prstGeom prst="roundRect">
            <a:avLst>
              <a:gd name="adj" fmla="val 10417"/>
            </a:avLst>
          </a:prstGeom>
          <a:solidFill>
            <a:srgbClr val="F4F6FA"/>
          </a:solidFill>
          <a:ln/>
        </p:spPr>
        <p:txBody>
          <a:bodyPr/>
          <a:lstStyle/>
          <a:p>
            <a:endParaRPr lang="en-GB"/>
          </a:p>
        </p:txBody>
      </p:sp>
      <p:sp>
        <p:nvSpPr>
          <p:cNvPr id="10" name="Text 7"/>
          <p:cNvSpPr/>
          <p:nvPr/>
        </p:nvSpPr>
        <p:spPr>
          <a:xfrm>
            <a:off x="835895" y="2319007"/>
            <a:ext cx="3566160" cy="438912"/>
          </a:xfrm>
          <a:prstGeom prst="rect">
            <a:avLst/>
          </a:prstGeom>
          <a:noFill/>
          <a:ln/>
        </p:spPr>
        <p:txBody>
          <a:bodyPr wrap="square" lIns="0" tIns="0" rIns="0" bIns="0" rtlCol="0" anchor="ctr"/>
          <a:lstStyle/>
          <a:p>
            <a:r>
              <a:rPr lang="en-US" sz="1000" dirty="0">
                <a:solidFill>
                  <a:srgbClr val="5B6B82"/>
                </a:solidFill>
                <a:latin typeface="Calibri" pitchFamily="34" charset="0"/>
                <a:ea typeface="Calibri" pitchFamily="34" charset="-122"/>
                <a:cs typeface="Calibri" pitchFamily="34" charset="-120"/>
              </a:rPr>
              <a:t>Source:  </a:t>
            </a:r>
            <a:r>
              <a:rPr lang="en-US" sz="1200" b="1" dirty="0">
                <a:solidFill>
                  <a:srgbClr val="1E2B45"/>
                </a:solidFill>
                <a:latin typeface="Calibri" pitchFamily="34" charset="0"/>
                <a:ea typeface="Calibri" pitchFamily="34" charset="-122"/>
                <a:cs typeface="Calibri" pitchFamily="34" charset="-120"/>
              </a:rPr>
              <a:t>“</a:t>
            </a:r>
            <a:r>
              <a:rPr lang="en-GB" sz="1200" b="1" dirty="0" err="1">
                <a:solidFill>
                  <a:srgbClr val="1E2B45"/>
                </a:solidFill>
                <a:latin typeface="Calibri" pitchFamily="34" charset="0"/>
                <a:ea typeface="Calibri" pitchFamily="34" charset="-122"/>
                <a:cs typeface="Calibri" pitchFamily="34" charset="-120"/>
              </a:rPr>
              <a:t>În</a:t>
            </a:r>
            <a:r>
              <a:rPr lang="en-GB" sz="1200" b="1" dirty="0">
                <a:solidFill>
                  <a:srgbClr val="1E2B45"/>
                </a:solidFill>
                <a:latin typeface="Calibri" pitchFamily="34" charset="0"/>
                <a:ea typeface="Calibri" pitchFamily="34" charset="-122"/>
                <a:cs typeface="Calibri" pitchFamily="34" charset="-120"/>
              </a:rPr>
              <a:t> </a:t>
            </a:r>
            <a:r>
              <a:rPr lang="en-GB" sz="1200" b="1" dirty="0" err="1">
                <a:solidFill>
                  <a:srgbClr val="1E2B45"/>
                </a:solidFill>
                <a:latin typeface="Calibri" pitchFamily="34" charset="0"/>
                <a:ea typeface="Calibri" pitchFamily="34" charset="-122"/>
                <a:cs typeface="Calibri" pitchFamily="34" charset="-120"/>
              </a:rPr>
              <a:t>Balcani</a:t>
            </a:r>
            <a:r>
              <a:rPr lang="en-US" sz="1200" b="1" dirty="0">
                <a:solidFill>
                  <a:srgbClr val="1E2B45"/>
                </a:solidFill>
                <a:latin typeface="Calibri" pitchFamily="34" charset="0"/>
                <a:ea typeface="Calibri" pitchFamily="34" charset="-122"/>
                <a:cs typeface="Calibri" pitchFamily="34" charset="-120"/>
              </a:rPr>
              <a:t>”</a:t>
            </a:r>
            <a:endParaRPr lang="en-US" sz="1000" dirty="0"/>
          </a:p>
        </p:txBody>
      </p:sp>
      <p:sp>
        <p:nvSpPr>
          <p:cNvPr id="11" name="Shape 8"/>
          <p:cNvSpPr/>
          <p:nvPr/>
        </p:nvSpPr>
        <p:spPr>
          <a:xfrm>
            <a:off x="707879" y="2812783"/>
            <a:ext cx="3767328" cy="438912"/>
          </a:xfrm>
          <a:prstGeom prst="roundRect">
            <a:avLst>
              <a:gd name="adj" fmla="val 10417"/>
            </a:avLst>
          </a:prstGeom>
          <a:solidFill>
            <a:srgbClr val="F4F6FA"/>
          </a:solidFill>
          <a:ln/>
        </p:spPr>
        <p:txBody>
          <a:bodyPr/>
          <a:lstStyle/>
          <a:p>
            <a:endParaRPr lang="en-GB"/>
          </a:p>
        </p:txBody>
      </p:sp>
      <p:sp>
        <p:nvSpPr>
          <p:cNvPr id="12" name="Text 9"/>
          <p:cNvSpPr/>
          <p:nvPr/>
        </p:nvSpPr>
        <p:spPr>
          <a:xfrm>
            <a:off x="835895" y="2812783"/>
            <a:ext cx="3566160" cy="438912"/>
          </a:xfrm>
          <a:prstGeom prst="rect">
            <a:avLst/>
          </a:prstGeom>
          <a:noFill/>
          <a:ln/>
        </p:spPr>
        <p:txBody>
          <a:bodyPr wrap="square" lIns="0" tIns="0" rIns="0" bIns="0" rtlCol="0" anchor="ctr"/>
          <a:lstStyle/>
          <a:p>
            <a:r>
              <a:rPr lang="en-US" sz="1000" dirty="0">
                <a:solidFill>
                  <a:srgbClr val="5B6B82"/>
                </a:solidFill>
                <a:latin typeface="Calibri" pitchFamily="34" charset="0"/>
                <a:ea typeface="Calibri" pitchFamily="34" charset="-122"/>
                <a:cs typeface="Calibri" pitchFamily="34" charset="-120"/>
              </a:rPr>
              <a:t>Textbook:  </a:t>
            </a:r>
            <a:r>
              <a:rPr lang="en-US" sz="1200" b="1" dirty="0">
                <a:solidFill>
                  <a:srgbClr val="1E2B45"/>
                </a:solidFill>
                <a:latin typeface="Calibri" pitchFamily="34" charset="0"/>
                <a:ea typeface="Calibri" pitchFamily="34" charset="-122"/>
                <a:cs typeface="Calibri" pitchFamily="34" charset="-120"/>
              </a:rPr>
              <a:t>“</a:t>
            </a:r>
            <a:r>
              <a:rPr lang="en-GB" sz="1200" b="1" dirty="0" err="1">
                <a:solidFill>
                  <a:srgbClr val="1E2B45"/>
                </a:solidFill>
                <a:latin typeface="Calibri" pitchFamily="34" charset="0"/>
                <a:ea typeface="Calibri" pitchFamily="34" charset="-122"/>
                <a:cs typeface="Calibri" pitchFamily="34" charset="-120"/>
              </a:rPr>
              <a:t>În</a:t>
            </a:r>
            <a:r>
              <a:rPr lang="en-GB" sz="1200" b="1" dirty="0">
                <a:solidFill>
                  <a:srgbClr val="1E2B45"/>
                </a:solidFill>
                <a:latin typeface="Calibri" pitchFamily="34" charset="0"/>
                <a:ea typeface="Calibri" pitchFamily="34" charset="-122"/>
                <a:cs typeface="Calibri" pitchFamily="34" charset="-120"/>
              </a:rPr>
              <a:t> Peninsula </a:t>
            </a:r>
            <a:r>
              <a:rPr lang="en-GB" sz="1200" b="1" dirty="0" err="1">
                <a:solidFill>
                  <a:srgbClr val="1E2B45"/>
                </a:solidFill>
                <a:latin typeface="Calibri" pitchFamily="34" charset="0"/>
                <a:ea typeface="Calibri" pitchFamily="34" charset="-122"/>
                <a:cs typeface="Calibri" pitchFamily="34" charset="-120"/>
              </a:rPr>
              <a:t>Balcanică</a:t>
            </a:r>
            <a:r>
              <a:rPr lang="en-US" sz="1200" b="1" dirty="0">
                <a:solidFill>
                  <a:srgbClr val="1E2B45"/>
                </a:solidFill>
                <a:latin typeface="Calibri" pitchFamily="34" charset="0"/>
                <a:ea typeface="Calibri" pitchFamily="34" charset="-122"/>
                <a:cs typeface="Calibri" pitchFamily="34" charset="-120"/>
              </a:rPr>
              <a:t>”</a:t>
            </a:r>
          </a:p>
        </p:txBody>
      </p:sp>
      <p:sp>
        <p:nvSpPr>
          <p:cNvPr id="13" name="Text 10"/>
          <p:cNvSpPr/>
          <p:nvPr/>
        </p:nvSpPr>
        <p:spPr>
          <a:xfrm>
            <a:off x="707879" y="3379711"/>
            <a:ext cx="3767328" cy="914400"/>
          </a:xfrm>
          <a:prstGeom prst="rect">
            <a:avLst/>
          </a:prstGeom>
          <a:noFill/>
          <a:ln/>
        </p:spPr>
        <p:txBody>
          <a:bodyPr wrap="square" lIns="0" tIns="0" rIns="0" bIns="0" rtlCol="0" anchor="t"/>
          <a:lstStyle/>
          <a:p>
            <a:pPr marL="0" indent="0">
              <a:lnSpc>
                <a:spcPct val="100000"/>
              </a:lnSpc>
              <a:buNone/>
            </a:pPr>
            <a:r>
              <a:rPr lang="en-US" sz="1050" b="1" dirty="0">
                <a:solidFill>
                  <a:srgbClr val="2E7D5B"/>
                </a:solidFill>
                <a:latin typeface="Calibri" pitchFamily="34" charset="0"/>
                <a:ea typeface="Calibri" pitchFamily="34" charset="-122"/>
                <a:cs typeface="Calibri" pitchFamily="34" charset="-120"/>
              </a:rPr>
              <a:t>Decision:  </a:t>
            </a:r>
            <a:r>
              <a:rPr lang="en-US" sz="1050" dirty="0">
                <a:solidFill>
                  <a:srgbClr val="5B6B82"/>
                </a:solidFill>
                <a:latin typeface="Calibri" pitchFamily="34" charset="0"/>
                <a:ea typeface="Calibri" pitchFamily="34" charset="-122"/>
                <a:cs typeface="Calibri" pitchFamily="34" charset="-120"/>
              </a:rPr>
              <a:t>not a contradiction (≈ 0.92) — same region, two names. NLI stays below the contradiction threshold.</a:t>
            </a:r>
            <a:endParaRPr lang="en-US" sz="1050" dirty="0"/>
          </a:p>
        </p:txBody>
      </p:sp>
      <p:sp>
        <p:nvSpPr>
          <p:cNvPr id="14" name="Shape 11"/>
          <p:cNvSpPr/>
          <p:nvPr/>
        </p:nvSpPr>
        <p:spPr>
          <a:xfrm>
            <a:off x="4968983" y="1258303"/>
            <a:ext cx="3703320" cy="2873925"/>
          </a:xfrm>
          <a:prstGeom prst="roundRect">
            <a:avLst>
              <a:gd name="adj" fmla="val 2857"/>
            </a:avLst>
          </a:prstGeom>
          <a:solidFill>
            <a:srgbClr val="FFFFFF"/>
          </a:solidFill>
          <a:ln w="15875">
            <a:solidFill>
              <a:srgbClr val="E6BDBD"/>
            </a:solidFill>
            <a:prstDash val="solid"/>
          </a:ln>
          <a:effectLst>
            <a:outerShdw blurRad="88900" dist="38100" dir="5400000" algn="bl" rotWithShape="0">
              <a:srgbClr val="000000">
                <a:alpha val="10000"/>
              </a:srgbClr>
            </a:outerShdw>
          </a:effectLst>
        </p:spPr>
        <p:txBody>
          <a:bodyPr/>
          <a:lstStyle/>
          <a:p>
            <a:endParaRPr lang="en-GB"/>
          </a:p>
        </p:txBody>
      </p:sp>
      <p:pic>
        <p:nvPicPr>
          <p:cNvPr id="15" name="Image 1" descr="preencoded.png"/>
          <p:cNvPicPr>
            <a:picLocks noChangeAspect="1"/>
          </p:cNvPicPr>
          <p:nvPr/>
        </p:nvPicPr>
        <p:blipFill>
          <a:blip r:embed="rId4"/>
          <a:stretch>
            <a:fillRect/>
          </a:stretch>
        </p:blipFill>
        <p:spPr>
          <a:xfrm>
            <a:off x="5142719" y="1441183"/>
            <a:ext cx="310896" cy="310896"/>
          </a:xfrm>
          <a:prstGeom prst="rect">
            <a:avLst/>
          </a:prstGeom>
        </p:spPr>
      </p:pic>
      <p:sp>
        <p:nvSpPr>
          <p:cNvPr id="16" name="Text 12"/>
          <p:cNvSpPr/>
          <p:nvPr/>
        </p:nvSpPr>
        <p:spPr>
          <a:xfrm>
            <a:off x="5545055" y="1422895"/>
            <a:ext cx="3017520" cy="347472"/>
          </a:xfrm>
          <a:prstGeom prst="rect">
            <a:avLst/>
          </a:prstGeom>
          <a:noFill/>
          <a:ln/>
        </p:spPr>
        <p:txBody>
          <a:bodyPr wrap="square" lIns="0" tIns="0" rIns="0" bIns="0" rtlCol="0" anchor="ctr"/>
          <a:lstStyle/>
          <a:p>
            <a:pPr marL="0" indent="0">
              <a:buNone/>
            </a:pPr>
            <a:r>
              <a:rPr lang="en-US" sz="1400" b="1" dirty="0">
                <a:solidFill>
                  <a:srgbClr val="B23A3A"/>
                </a:solidFill>
                <a:latin typeface="Calibri" pitchFamily="34" charset="0"/>
                <a:ea typeface="Calibri" pitchFamily="34" charset="-122"/>
                <a:cs typeface="Calibri" pitchFamily="34" charset="-120"/>
              </a:rPr>
              <a:t>False positive (failure)</a:t>
            </a:r>
            <a:endParaRPr lang="en-US" sz="1400" dirty="0"/>
          </a:p>
        </p:txBody>
      </p:sp>
      <p:sp>
        <p:nvSpPr>
          <p:cNvPr id="17" name="Text 13"/>
          <p:cNvSpPr/>
          <p:nvPr/>
        </p:nvSpPr>
        <p:spPr>
          <a:xfrm>
            <a:off x="5142719" y="1861807"/>
            <a:ext cx="3383280" cy="512064"/>
          </a:xfrm>
          <a:prstGeom prst="rect">
            <a:avLst/>
          </a:prstGeom>
          <a:noFill/>
          <a:ln/>
        </p:spPr>
        <p:txBody>
          <a:bodyPr wrap="square" lIns="0" tIns="0" rIns="0" bIns="0" rtlCol="0" anchor="t"/>
          <a:lstStyle/>
          <a:p>
            <a:r>
              <a:rPr lang="en-US" sz="1150" b="1" i="1" dirty="0">
                <a:solidFill>
                  <a:srgbClr val="1E2B45"/>
                </a:solidFill>
                <a:latin typeface="Calibri" pitchFamily="34" charset="0"/>
                <a:ea typeface="Calibri" pitchFamily="34" charset="-122"/>
                <a:cs typeface="Calibri" pitchFamily="34" charset="-120"/>
              </a:rPr>
              <a:t>Q:  </a:t>
            </a:r>
            <a:r>
              <a:rPr lang="pt-BR" sz="1150" b="1" i="1" dirty="0">
                <a:solidFill>
                  <a:srgbClr val="1E2B45"/>
                </a:solidFill>
                <a:latin typeface="Calibri" pitchFamily="34" charset="0"/>
                <a:ea typeface="Calibri" pitchFamily="34" charset="-122"/>
                <a:cs typeface="Calibri" pitchFamily="34" charset="-120"/>
              </a:rPr>
              <a:t>Care a fost capitala de refugiu a României după ocuparea sudului </a:t>
            </a:r>
            <a:r>
              <a:rPr lang="en-GB" sz="1150" b="1" i="1" dirty="0" err="1">
                <a:solidFill>
                  <a:srgbClr val="1E2B45"/>
                </a:solidFill>
                <a:latin typeface="Calibri" pitchFamily="34" charset="0"/>
                <a:ea typeface="Calibri" pitchFamily="34" charset="-122"/>
                <a:cs typeface="Calibri" pitchFamily="34" charset="-120"/>
              </a:rPr>
              <a:t>țării</a:t>
            </a:r>
            <a:r>
              <a:rPr lang="en-GB" sz="1150" b="1" i="1" dirty="0">
                <a:solidFill>
                  <a:srgbClr val="1E2B45"/>
                </a:solidFill>
                <a:latin typeface="Calibri" pitchFamily="34" charset="0"/>
                <a:ea typeface="Calibri" pitchFamily="34" charset="-122"/>
                <a:cs typeface="Calibri" pitchFamily="34" charset="-120"/>
              </a:rPr>
              <a:t> </a:t>
            </a:r>
            <a:r>
              <a:rPr lang="en-GB" sz="1150" b="1" i="1" dirty="0" err="1">
                <a:solidFill>
                  <a:srgbClr val="1E2B45"/>
                </a:solidFill>
                <a:latin typeface="Calibri" pitchFamily="34" charset="0"/>
                <a:ea typeface="Calibri" pitchFamily="34" charset="-122"/>
                <a:cs typeface="Calibri" pitchFamily="34" charset="-120"/>
              </a:rPr>
              <a:t>în</a:t>
            </a:r>
            <a:r>
              <a:rPr lang="en-GB" sz="1150" b="1" i="1" dirty="0">
                <a:solidFill>
                  <a:srgbClr val="1E2B45"/>
                </a:solidFill>
                <a:latin typeface="Calibri" pitchFamily="34" charset="0"/>
                <a:ea typeface="Calibri" pitchFamily="34" charset="-122"/>
                <a:cs typeface="Calibri" pitchFamily="34" charset="-120"/>
              </a:rPr>
              <a:t> </a:t>
            </a:r>
            <a:r>
              <a:rPr lang="en-GB" sz="1150" b="1" i="1" dirty="0" err="1">
                <a:solidFill>
                  <a:srgbClr val="1E2B45"/>
                </a:solidFill>
                <a:latin typeface="Calibri" pitchFamily="34" charset="0"/>
                <a:ea typeface="Calibri" pitchFamily="34" charset="-122"/>
                <a:cs typeface="Calibri" pitchFamily="34" charset="-120"/>
              </a:rPr>
              <a:t>Primul</a:t>
            </a:r>
            <a:r>
              <a:rPr lang="en-GB" sz="1150" b="1" i="1" dirty="0">
                <a:solidFill>
                  <a:srgbClr val="1E2B45"/>
                </a:solidFill>
                <a:latin typeface="Calibri" pitchFamily="34" charset="0"/>
                <a:ea typeface="Calibri" pitchFamily="34" charset="-122"/>
                <a:cs typeface="Calibri" pitchFamily="34" charset="-120"/>
              </a:rPr>
              <a:t> </a:t>
            </a:r>
            <a:r>
              <a:rPr lang="en-GB" sz="1150" b="1" i="1" dirty="0" err="1">
                <a:solidFill>
                  <a:srgbClr val="1E2B45"/>
                </a:solidFill>
                <a:latin typeface="Calibri" pitchFamily="34" charset="0"/>
                <a:ea typeface="Calibri" pitchFamily="34" charset="-122"/>
                <a:cs typeface="Calibri" pitchFamily="34" charset="-120"/>
              </a:rPr>
              <a:t>Război</a:t>
            </a:r>
            <a:r>
              <a:rPr lang="en-GB" sz="1150" b="1" i="1" dirty="0">
                <a:solidFill>
                  <a:srgbClr val="1E2B45"/>
                </a:solidFill>
                <a:latin typeface="Calibri" pitchFamily="34" charset="0"/>
                <a:ea typeface="Calibri" pitchFamily="34" charset="-122"/>
                <a:cs typeface="Calibri" pitchFamily="34" charset="-120"/>
              </a:rPr>
              <a:t> Mondial?</a:t>
            </a:r>
            <a:endParaRPr lang="en-US" sz="1150" b="1" i="1" dirty="0">
              <a:solidFill>
                <a:srgbClr val="1E2B45"/>
              </a:solidFill>
              <a:latin typeface="Calibri" pitchFamily="34" charset="0"/>
              <a:ea typeface="Calibri" pitchFamily="34" charset="-122"/>
              <a:cs typeface="Calibri" pitchFamily="34" charset="-120"/>
            </a:endParaRPr>
          </a:p>
        </p:txBody>
      </p:sp>
      <p:sp>
        <p:nvSpPr>
          <p:cNvPr id="18" name="Shape 14"/>
          <p:cNvSpPr/>
          <p:nvPr/>
        </p:nvSpPr>
        <p:spPr>
          <a:xfrm>
            <a:off x="5142719" y="2447023"/>
            <a:ext cx="3355848" cy="420624"/>
          </a:xfrm>
          <a:prstGeom prst="roundRect">
            <a:avLst>
              <a:gd name="adj" fmla="val 10870"/>
            </a:avLst>
          </a:prstGeom>
          <a:solidFill>
            <a:srgbClr val="F4F6FA"/>
          </a:solidFill>
          <a:ln/>
        </p:spPr>
        <p:txBody>
          <a:bodyPr/>
          <a:lstStyle/>
          <a:p>
            <a:endParaRPr lang="en-GB"/>
          </a:p>
        </p:txBody>
      </p:sp>
      <p:sp>
        <p:nvSpPr>
          <p:cNvPr id="19" name="Text 15"/>
          <p:cNvSpPr/>
          <p:nvPr/>
        </p:nvSpPr>
        <p:spPr>
          <a:xfrm>
            <a:off x="5270735" y="2447023"/>
            <a:ext cx="3108960" cy="420624"/>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Source:  </a:t>
            </a:r>
            <a:r>
              <a:rPr lang="en-US" sz="1200" b="1" dirty="0">
                <a:solidFill>
                  <a:srgbClr val="1E2B45"/>
                </a:solidFill>
                <a:latin typeface="Calibri" pitchFamily="34" charset="0"/>
                <a:ea typeface="Calibri" pitchFamily="34" charset="-122"/>
                <a:cs typeface="Calibri" pitchFamily="34" charset="-120"/>
              </a:rPr>
              <a:t>“Moldova”</a:t>
            </a:r>
            <a:endParaRPr lang="en-US" sz="1000" dirty="0"/>
          </a:p>
        </p:txBody>
      </p:sp>
      <p:sp>
        <p:nvSpPr>
          <p:cNvPr id="20" name="Shape 16"/>
          <p:cNvSpPr/>
          <p:nvPr/>
        </p:nvSpPr>
        <p:spPr>
          <a:xfrm>
            <a:off x="5142719" y="2940799"/>
            <a:ext cx="3355848" cy="420624"/>
          </a:xfrm>
          <a:prstGeom prst="roundRect">
            <a:avLst>
              <a:gd name="adj" fmla="val 10870"/>
            </a:avLst>
          </a:prstGeom>
          <a:solidFill>
            <a:srgbClr val="F4F6FA"/>
          </a:solidFill>
          <a:ln/>
        </p:spPr>
        <p:txBody>
          <a:bodyPr/>
          <a:lstStyle/>
          <a:p>
            <a:endParaRPr lang="en-GB"/>
          </a:p>
        </p:txBody>
      </p:sp>
      <p:sp>
        <p:nvSpPr>
          <p:cNvPr id="21" name="Text 17"/>
          <p:cNvSpPr/>
          <p:nvPr/>
        </p:nvSpPr>
        <p:spPr>
          <a:xfrm>
            <a:off x="5270735" y="2940799"/>
            <a:ext cx="3108960" cy="420624"/>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Textbook:  </a:t>
            </a:r>
            <a:r>
              <a:rPr lang="en-US" sz="1200" b="1" dirty="0">
                <a:solidFill>
                  <a:srgbClr val="1E2B45"/>
                </a:solidFill>
                <a:latin typeface="Calibri" pitchFamily="34" charset="0"/>
                <a:ea typeface="Calibri" pitchFamily="34" charset="-122"/>
                <a:cs typeface="Calibri" pitchFamily="34" charset="-120"/>
              </a:rPr>
              <a:t>“Iași”</a:t>
            </a:r>
            <a:endParaRPr lang="en-US" sz="1000" dirty="0"/>
          </a:p>
        </p:txBody>
      </p:sp>
      <p:sp>
        <p:nvSpPr>
          <p:cNvPr id="22" name="Text 18"/>
          <p:cNvSpPr/>
          <p:nvPr/>
        </p:nvSpPr>
        <p:spPr>
          <a:xfrm>
            <a:off x="5142719" y="3489439"/>
            <a:ext cx="3355848" cy="914400"/>
          </a:xfrm>
          <a:prstGeom prst="rect">
            <a:avLst/>
          </a:prstGeom>
          <a:noFill/>
          <a:ln/>
        </p:spPr>
        <p:txBody>
          <a:bodyPr wrap="square" lIns="0" tIns="0" rIns="0" bIns="0" rtlCol="0" anchor="t"/>
          <a:lstStyle/>
          <a:p>
            <a:pPr marL="0" indent="0">
              <a:lnSpc>
                <a:spcPct val="100000"/>
              </a:lnSpc>
              <a:buNone/>
            </a:pPr>
            <a:r>
              <a:rPr lang="en-US" sz="1050" b="1" dirty="0">
                <a:solidFill>
                  <a:srgbClr val="B23A3A"/>
                </a:solidFill>
                <a:latin typeface="Calibri" pitchFamily="34" charset="0"/>
                <a:ea typeface="Calibri" pitchFamily="34" charset="-122"/>
                <a:cs typeface="Calibri" pitchFamily="34" charset="-120"/>
              </a:rPr>
              <a:t>Issue:  </a:t>
            </a:r>
            <a:r>
              <a:rPr lang="en-US" sz="1050" dirty="0">
                <a:solidFill>
                  <a:srgbClr val="5B6B82"/>
                </a:solidFill>
                <a:latin typeface="Calibri" pitchFamily="34" charset="0"/>
                <a:ea typeface="Calibri" pitchFamily="34" charset="-122"/>
                <a:cs typeface="Calibri" pitchFamily="34" charset="-120"/>
              </a:rPr>
              <a:t>the mechanism treats “Moldova” and “Iași” as distinct entities; it does not recognize that Iași lies within Moldavia — that would require a contextual check.</a:t>
            </a:r>
            <a:endParaRPr lang="en-US" sz="1050" dirty="0"/>
          </a:p>
        </p:txBody>
      </p:sp>
      <p:sp>
        <p:nvSpPr>
          <p:cNvPr id="23" name="Text 19"/>
          <p:cNvSpPr/>
          <p:nvPr/>
        </p:nvSpPr>
        <p:spPr>
          <a:xfrm>
            <a:off x="808463" y="4397261"/>
            <a:ext cx="7589520" cy="365760"/>
          </a:xfrm>
          <a:prstGeom prst="rect">
            <a:avLst/>
          </a:prstGeom>
          <a:noFill/>
          <a:ln/>
        </p:spPr>
        <p:txBody>
          <a:bodyPr wrap="square" lIns="0" tIns="0" rIns="0" bIns="0" rtlCol="0" anchor="ctr"/>
          <a:lstStyle/>
          <a:p>
            <a:pPr marL="0" indent="0" algn="ctr">
              <a:lnSpc>
                <a:spcPct val="95000"/>
              </a:lnSpc>
              <a:buNone/>
            </a:pPr>
            <a:r>
              <a:rPr lang="en-US" sz="1050" i="1" dirty="0">
                <a:solidFill>
                  <a:srgbClr val="5B6B82"/>
                </a:solidFill>
                <a:latin typeface="Calibri" pitchFamily="34" charset="0"/>
                <a:ea typeface="Calibri" pitchFamily="34" charset="-122"/>
                <a:cs typeface="Calibri" pitchFamily="34" charset="-120"/>
              </a:rPr>
              <a:t>An additional structural limitation: an error present in only one source stays invisible — the module only compares statements answered by at least two sources.</a:t>
            </a:r>
            <a:endParaRPr lang="en-US" sz="1050" dirty="0"/>
          </a:p>
        </p:txBody>
      </p:sp>
      <p:sp>
        <p:nvSpPr>
          <p:cNvPr id="24" name="Text 20"/>
          <p:cNvSpPr/>
          <p:nvPr/>
        </p:nvSpPr>
        <p:spPr>
          <a:xfrm>
            <a:off x="8580863" y="4625861"/>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446436"/>
            <a:ext cx="8229600" cy="658368"/>
          </a:xfrm>
          <a:prstGeom prst="rect">
            <a:avLst/>
          </a:prstGeom>
          <a:noFill/>
          <a:ln/>
        </p:spPr>
        <p:txBody>
          <a:bodyPr wrap="square" lIns="0" tIns="0" rIns="0" bIns="0" rtlCol="0" anchor="ctr"/>
          <a:lstStyle/>
          <a:p>
            <a:pPr marL="0" indent="0" algn="l">
              <a:buNone/>
            </a:pPr>
            <a:r>
              <a:rPr lang="en-US" sz="2900" b="1" dirty="0">
                <a:solidFill>
                  <a:srgbClr val="1E2B45"/>
                </a:solidFill>
                <a:latin typeface="Cambria" pitchFamily="34" charset="0"/>
                <a:ea typeface="Cambria" pitchFamily="34" charset="-122"/>
                <a:cs typeface="Cambria" pitchFamily="34" charset="-120"/>
              </a:rPr>
              <a:t>Conclusions</a:t>
            </a:r>
            <a:endParaRPr lang="en-US" sz="2900" dirty="0"/>
          </a:p>
        </p:txBody>
      </p:sp>
      <p:sp>
        <p:nvSpPr>
          <p:cNvPr id="5" name="Shape 3"/>
          <p:cNvSpPr/>
          <p:nvPr/>
        </p:nvSpPr>
        <p:spPr>
          <a:xfrm>
            <a:off x="502920" y="1257858"/>
            <a:ext cx="2670048" cy="2939627"/>
          </a:xfrm>
          <a:prstGeom prst="roundRect">
            <a:avLst>
              <a:gd name="adj" fmla="val 3425"/>
            </a:avLst>
          </a:prstGeom>
          <a:solidFill>
            <a:srgbClr val="F6ECD8"/>
          </a:solidFill>
          <a:ln/>
        </p:spPr>
        <p:txBody>
          <a:bodyPr/>
          <a:lstStyle/>
          <a:p>
            <a:endParaRPr lang="en-GB"/>
          </a:p>
        </p:txBody>
      </p:sp>
      <p:sp>
        <p:nvSpPr>
          <p:cNvPr id="6" name="Shape 4"/>
          <p:cNvSpPr/>
          <p:nvPr/>
        </p:nvSpPr>
        <p:spPr>
          <a:xfrm>
            <a:off x="667512" y="1440738"/>
            <a:ext cx="512064" cy="512064"/>
          </a:xfrm>
          <a:prstGeom prst="ellipse">
            <a:avLst/>
          </a:prstGeom>
          <a:solidFill>
            <a:srgbClr val="C9882E"/>
          </a:solidFill>
          <a:ln/>
          <a:effectLst>
            <a:outerShdw blurRad="63500" dist="25400" dir="5400000" algn="bl" rotWithShape="0">
              <a:srgbClr val="000000">
                <a:alpha val="16000"/>
              </a:srgbClr>
            </a:outerShdw>
          </a:effectLst>
        </p:spPr>
        <p:txBody>
          <a:bodyPr/>
          <a:lstStyle/>
          <a:p>
            <a:endParaRPr lang="en-GB"/>
          </a:p>
        </p:txBody>
      </p:sp>
      <p:pic>
        <p:nvPicPr>
          <p:cNvPr id="7" name="Image 0" descr="preencoded.png"/>
          <p:cNvPicPr>
            <a:picLocks noChangeAspect="1"/>
          </p:cNvPicPr>
          <p:nvPr/>
        </p:nvPicPr>
        <p:blipFill>
          <a:blip r:embed="rId3">
            <a:biLevel thresh="25000"/>
          </a:blip>
          <a:stretch>
            <a:fillRect/>
          </a:stretch>
        </p:blipFill>
        <p:spPr>
          <a:xfrm>
            <a:off x="805769" y="1578995"/>
            <a:ext cx="235549" cy="235549"/>
          </a:xfrm>
          <a:prstGeom prst="rect">
            <a:avLst/>
          </a:prstGeom>
        </p:spPr>
      </p:pic>
      <p:sp>
        <p:nvSpPr>
          <p:cNvPr id="8" name="Text 5"/>
          <p:cNvSpPr/>
          <p:nvPr/>
        </p:nvSpPr>
        <p:spPr>
          <a:xfrm>
            <a:off x="1289304" y="1459026"/>
            <a:ext cx="1783080" cy="475488"/>
          </a:xfrm>
          <a:prstGeom prst="rect">
            <a:avLst/>
          </a:prstGeom>
          <a:noFill/>
          <a:ln/>
        </p:spPr>
        <p:txBody>
          <a:bodyPr wrap="square" lIns="0" tIns="0" rIns="0" bIns="0" rtlCol="0" anchor="ctr"/>
          <a:lstStyle/>
          <a:p>
            <a:pPr marL="0" indent="0">
              <a:lnSpc>
                <a:spcPct val="92000"/>
              </a:lnSpc>
              <a:buNone/>
            </a:pPr>
            <a:r>
              <a:rPr lang="en-US" sz="1500" b="1" dirty="0">
                <a:solidFill>
                  <a:srgbClr val="C9882E"/>
                </a:solidFill>
                <a:latin typeface="Cambria" pitchFamily="34" charset="0"/>
                <a:ea typeface="Cambria" pitchFamily="34" charset="-122"/>
                <a:cs typeface="Cambria" pitchFamily="34" charset="-120"/>
              </a:rPr>
              <a:t>Contributions</a:t>
            </a:r>
            <a:endParaRPr lang="en-US" sz="1500" dirty="0"/>
          </a:p>
        </p:txBody>
      </p:sp>
      <p:sp>
        <p:nvSpPr>
          <p:cNvPr id="9" name="Shape 6"/>
          <p:cNvSpPr/>
          <p:nvPr/>
        </p:nvSpPr>
        <p:spPr>
          <a:xfrm>
            <a:off x="704088" y="2181402"/>
            <a:ext cx="100584" cy="100584"/>
          </a:xfrm>
          <a:prstGeom prst="ellipse">
            <a:avLst/>
          </a:prstGeom>
          <a:solidFill>
            <a:srgbClr val="C9882E"/>
          </a:solidFill>
          <a:ln/>
        </p:spPr>
        <p:txBody>
          <a:bodyPr/>
          <a:lstStyle/>
          <a:p>
            <a:endParaRPr lang="en-GB"/>
          </a:p>
        </p:txBody>
      </p:sp>
      <p:sp>
        <p:nvSpPr>
          <p:cNvPr id="10" name="Text 7"/>
          <p:cNvSpPr/>
          <p:nvPr/>
        </p:nvSpPr>
        <p:spPr>
          <a:xfrm>
            <a:off x="923544" y="2089962"/>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Complete ingestion pipeline + hybrid retrieval with citations.</a:t>
            </a:r>
            <a:endParaRPr lang="en-US" sz="1050" dirty="0"/>
          </a:p>
        </p:txBody>
      </p:sp>
      <p:sp>
        <p:nvSpPr>
          <p:cNvPr id="11" name="Shape 8"/>
          <p:cNvSpPr/>
          <p:nvPr/>
        </p:nvSpPr>
        <p:spPr>
          <a:xfrm>
            <a:off x="704088" y="2967786"/>
            <a:ext cx="100584" cy="100584"/>
          </a:xfrm>
          <a:prstGeom prst="ellipse">
            <a:avLst/>
          </a:prstGeom>
          <a:solidFill>
            <a:srgbClr val="C9882E"/>
          </a:solidFill>
          <a:ln/>
        </p:spPr>
        <p:txBody>
          <a:bodyPr/>
          <a:lstStyle/>
          <a:p>
            <a:endParaRPr lang="en-GB"/>
          </a:p>
        </p:txBody>
      </p:sp>
      <p:sp>
        <p:nvSpPr>
          <p:cNvPr id="12" name="Text 9"/>
          <p:cNvSpPr/>
          <p:nvPr/>
        </p:nvSpPr>
        <p:spPr>
          <a:xfrm>
            <a:off x="923544" y="2876346"/>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Detection module via canonical-question alignment.</a:t>
            </a:r>
            <a:endParaRPr lang="en-US" sz="1050" dirty="0"/>
          </a:p>
        </p:txBody>
      </p:sp>
      <p:sp>
        <p:nvSpPr>
          <p:cNvPr id="13" name="Shape 10"/>
          <p:cNvSpPr/>
          <p:nvPr/>
        </p:nvSpPr>
        <p:spPr>
          <a:xfrm>
            <a:off x="704088" y="3754170"/>
            <a:ext cx="100584" cy="100584"/>
          </a:xfrm>
          <a:prstGeom prst="ellipse">
            <a:avLst/>
          </a:prstGeom>
          <a:solidFill>
            <a:srgbClr val="C9882E"/>
          </a:solidFill>
          <a:ln/>
        </p:spPr>
        <p:txBody>
          <a:bodyPr/>
          <a:lstStyle/>
          <a:p>
            <a:endParaRPr lang="en-GB"/>
          </a:p>
        </p:txBody>
      </p:sp>
      <p:sp>
        <p:nvSpPr>
          <p:cNvPr id="14" name="Text 11"/>
          <p:cNvSpPr/>
          <p:nvPr/>
        </p:nvSpPr>
        <p:spPr>
          <a:xfrm>
            <a:off x="923544" y="3662730"/>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Quantitative evaluation of both modules.</a:t>
            </a:r>
            <a:endParaRPr lang="en-US" sz="1050" dirty="0"/>
          </a:p>
        </p:txBody>
      </p:sp>
      <p:sp>
        <p:nvSpPr>
          <p:cNvPr id="15" name="Shape 12"/>
          <p:cNvSpPr/>
          <p:nvPr/>
        </p:nvSpPr>
        <p:spPr>
          <a:xfrm>
            <a:off x="3300984" y="1257858"/>
            <a:ext cx="2670048" cy="2939627"/>
          </a:xfrm>
          <a:prstGeom prst="roundRect">
            <a:avLst>
              <a:gd name="adj" fmla="val 3425"/>
            </a:avLst>
          </a:prstGeom>
          <a:solidFill>
            <a:srgbClr val="EAF0F8"/>
          </a:solidFill>
          <a:ln/>
        </p:spPr>
        <p:txBody>
          <a:bodyPr/>
          <a:lstStyle/>
          <a:p>
            <a:endParaRPr lang="en-GB"/>
          </a:p>
        </p:txBody>
      </p:sp>
      <p:sp>
        <p:nvSpPr>
          <p:cNvPr id="16" name="Shape 13"/>
          <p:cNvSpPr/>
          <p:nvPr/>
        </p:nvSpPr>
        <p:spPr>
          <a:xfrm>
            <a:off x="3465576" y="1440738"/>
            <a:ext cx="512064" cy="512064"/>
          </a:xfrm>
          <a:prstGeom prst="ellipse">
            <a:avLst/>
          </a:prstGeom>
          <a:solidFill>
            <a:srgbClr val="3E5C8A"/>
          </a:solidFill>
          <a:ln/>
          <a:effectLst>
            <a:outerShdw blurRad="63500" dist="25400" dir="5400000" algn="bl" rotWithShape="0">
              <a:srgbClr val="000000">
                <a:alpha val="16000"/>
              </a:srgbClr>
            </a:outerShdw>
          </a:effectLst>
        </p:spPr>
        <p:txBody>
          <a:bodyPr/>
          <a:lstStyle/>
          <a:p>
            <a:endParaRPr lang="en-GB"/>
          </a:p>
        </p:txBody>
      </p:sp>
      <p:pic>
        <p:nvPicPr>
          <p:cNvPr id="17" name="Image 1" descr="preencoded.png"/>
          <p:cNvPicPr>
            <a:picLocks noChangeAspect="1"/>
          </p:cNvPicPr>
          <p:nvPr/>
        </p:nvPicPr>
        <p:blipFill>
          <a:blip r:embed="rId4"/>
          <a:stretch>
            <a:fillRect/>
          </a:stretch>
        </p:blipFill>
        <p:spPr>
          <a:xfrm>
            <a:off x="3603833" y="1578995"/>
            <a:ext cx="235549" cy="235549"/>
          </a:xfrm>
          <a:prstGeom prst="rect">
            <a:avLst/>
          </a:prstGeom>
        </p:spPr>
      </p:pic>
      <p:sp>
        <p:nvSpPr>
          <p:cNvPr id="18" name="Text 14"/>
          <p:cNvSpPr/>
          <p:nvPr/>
        </p:nvSpPr>
        <p:spPr>
          <a:xfrm>
            <a:off x="4087368" y="1459026"/>
            <a:ext cx="1783080" cy="475488"/>
          </a:xfrm>
          <a:prstGeom prst="rect">
            <a:avLst/>
          </a:prstGeom>
          <a:noFill/>
          <a:ln/>
        </p:spPr>
        <p:txBody>
          <a:bodyPr wrap="square" lIns="0" tIns="0" rIns="0" bIns="0" rtlCol="0" anchor="ctr"/>
          <a:lstStyle/>
          <a:p>
            <a:pPr marL="0" indent="0">
              <a:lnSpc>
                <a:spcPct val="92000"/>
              </a:lnSpc>
              <a:buNone/>
            </a:pPr>
            <a:r>
              <a:rPr lang="en-US" sz="1500" b="1" dirty="0">
                <a:solidFill>
                  <a:srgbClr val="3E5C8A"/>
                </a:solidFill>
                <a:latin typeface="Cambria" pitchFamily="34" charset="0"/>
                <a:ea typeface="Cambria" pitchFamily="34" charset="-122"/>
                <a:cs typeface="Cambria" pitchFamily="34" charset="-120"/>
              </a:rPr>
              <a:t>Limitations</a:t>
            </a:r>
            <a:endParaRPr lang="en-US" sz="1500" dirty="0"/>
          </a:p>
        </p:txBody>
      </p:sp>
      <p:sp>
        <p:nvSpPr>
          <p:cNvPr id="19" name="Shape 15"/>
          <p:cNvSpPr/>
          <p:nvPr/>
        </p:nvSpPr>
        <p:spPr>
          <a:xfrm>
            <a:off x="3502152" y="2181402"/>
            <a:ext cx="100584" cy="100584"/>
          </a:xfrm>
          <a:prstGeom prst="ellipse">
            <a:avLst/>
          </a:prstGeom>
          <a:solidFill>
            <a:srgbClr val="3E5C8A"/>
          </a:solidFill>
          <a:ln/>
        </p:spPr>
        <p:txBody>
          <a:bodyPr/>
          <a:lstStyle/>
          <a:p>
            <a:endParaRPr lang="en-GB"/>
          </a:p>
        </p:txBody>
      </p:sp>
      <p:sp>
        <p:nvSpPr>
          <p:cNvPr id="20" name="Text 16"/>
          <p:cNvSpPr/>
          <p:nvPr/>
        </p:nvSpPr>
        <p:spPr>
          <a:xfrm>
            <a:off x="3721608" y="2089962"/>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Knowledge limited to the indexed lessons.</a:t>
            </a:r>
            <a:endParaRPr lang="en-US" sz="1050" dirty="0"/>
          </a:p>
        </p:txBody>
      </p:sp>
      <p:sp>
        <p:nvSpPr>
          <p:cNvPr id="21" name="Shape 17"/>
          <p:cNvSpPr/>
          <p:nvPr/>
        </p:nvSpPr>
        <p:spPr>
          <a:xfrm>
            <a:off x="3502152" y="2967786"/>
            <a:ext cx="100584" cy="100584"/>
          </a:xfrm>
          <a:prstGeom prst="ellipse">
            <a:avLst/>
          </a:prstGeom>
          <a:solidFill>
            <a:srgbClr val="3E5C8A"/>
          </a:solidFill>
          <a:ln/>
        </p:spPr>
        <p:txBody>
          <a:bodyPr/>
          <a:lstStyle/>
          <a:p>
            <a:endParaRPr lang="en-GB"/>
          </a:p>
        </p:txBody>
      </p:sp>
      <p:sp>
        <p:nvSpPr>
          <p:cNvPr id="22" name="Text 18"/>
          <p:cNvSpPr/>
          <p:nvPr/>
        </p:nvSpPr>
        <p:spPr>
          <a:xfrm>
            <a:off x="3721608" y="2876346"/>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Fragile accuracy on very specific details.</a:t>
            </a:r>
            <a:endParaRPr lang="en-US" sz="1050" dirty="0"/>
          </a:p>
        </p:txBody>
      </p:sp>
      <p:sp>
        <p:nvSpPr>
          <p:cNvPr id="23" name="Shape 19"/>
          <p:cNvSpPr/>
          <p:nvPr/>
        </p:nvSpPr>
        <p:spPr>
          <a:xfrm>
            <a:off x="3502152" y="3754170"/>
            <a:ext cx="100584" cy="100584"/>
          </a:xfrm>
          <a:prstGeom prst="ellipse">
            <a:avLst/>
          </a:prstGeom>
          <a:solidFill>
            <a:srgbClr val="3E5C8A"/>
          </a:solidFill>
          <a:ln/>
        </p:spPr>
        <p:txBody>
          <a:bodyPr/>
          <a:lstStyle/>
          <a:p>
            <a:endParaRPr lang="en-GB"/>
          </a:p>
        </p:txBody>
      </p:sp>
      <p:sp>
        <p:nvSpPr>
          <p:cNvPr id="24" name="Text 20"/>
          <p:cNvSpPr/>
          <p:nvPr/>
        </p:nvSpPr>
        <p:spPr>
          <a:xfrm>
            <a:off x="3721608" y="3662730"/>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Small, controlled contradiction corpus; dependence on external services.</a:t>
            </a:r>
            <a:endParaRPr lang="en-US" sz="1050" dirty="0"/>
          </a:p>
        </p:txBody>
      </p:sp>
      <p:sp>
        <p:nvSpPr>
          <p:cNvPr id="25" name="Shape 21"/>
          <p:cNvSpPr/>
          <p:nvPr/>
        </p:nvSpPr>
        <p:spPr>
          <a:xfrm>
            <a:off x="6099048" y="1257858"/>
            <a:ext cx="2670048" cy="2939626"/>
          </a:xfrm>
          <a:prstGeom prst="roundRect">
            <a:avLst>
              <a:gd name="adj" fmla="val 3425"/>
            </a:avLst>
          </a:prstGeom>
          <a:solidFill>
            <a:srgbClr val="E4F0F0"/>
          </a:solidFill>
          <a:ln/>
        </p:spPr>
        <p:txBody>
          <a:bodyPr/>
          <a:lstStyle/>
          <a:p>
            <a:endParaRPr lang="en-GB"/>
          </a:p>
        </p:txBody>
      </p:sp>
      <p:sp>
        <p:nvSpPr>
          <p:cNvPr id="26" name="Shape 22"/>
          <p:cNvSpPr/>
          <p:nvPr/>
        </p:nvSpPr>
        <p:spPr>
          <a:xfrm>
            <a:off x="6263640" y="1440738"/>
            <a:ext cx="512064" cy="512064"/>
          </a:xfrm>
          <a:prstGeom prst="ellipse">
            <a:avLst/>
          </a:prstGeom>
          <a:solidFill>
            <a:srgbClr val="2C6E72"/>
          </a:solidFill>
          <a:ln/>
          <a:effectLst>
            <a:outerShdw blurRad="63500" dist="25400" dir="5400000" algn="bl" rotWithShape="0">
              <a:srgbClr val="000000">
                <a:alpha val="16000"/>
              </a:srgbClr>
            </a:outerShdw>
          </a:effectLst>
        </p:spPr>
        <p:txBody>
          <a:bodyPr/>
          <a:lstStyle/>
          <a:p>
            <a:endParaRPr lang="en-GB"/>
          </a:p>
        </p:txBody>
      </p:sp>
      <p:pic>
        <p:nvPicPr>
          <p:cNvPr id="27" name="Image 2" descr="preencoded.png"/>
          <p:cNvPicPr>
            <a:picLocks noChangeAspect="1"/>
          </p:cNvPicPr>
          <p:nvPr/>
        </p:nvPicPr>
        <p:blipFill>
          <a:blip r:embed="rId5"/>
          <a:stretch>
            <a:fillRect/>
          </a:stretch>
        </p:blipFill>
        <p:spPr>
          <a:xfrm>
            <a:off x="6401897" y="1578995"/>
            <a:ext cx="235549" cy="235549"/>
          </a:xfrm>
          <a:prstGeom prst="rect">
            <a:avLst/>
          </a:prstGeom>
        </p:spPr>
      </p:pic>
      <p:sp>
        <p:nvSpPr>
          <p:cNvPr id="28" name="Text 23"/>
          <p:cNvSpPr/>
          <p:nvPr/>
        </p:nvSpPr>
        <p:spPr>
          <a:xfrm>
            <a:off x="6885432" y="1459026"/>
            <a:ext cx="1783080" cy="475488"/>
          </a:xfrm>
          <a:prstGeom prst="rect">
            <a:avLst/>
          </a:prstGeom>
          <a:noFill/>
          <a:ln/>
        </p:spPr>
        <p:txBody>
          <a:bodyPr wrap="square" lIns="0" tIns="0" rIns="0" bIns="0" rtlCol="0" anchor="ctr"/>
          <a:lstStyle/>
          <a:p>
            <a:pPr marL="0" indent="0">
              <a:lnSpc>
                <a:spcPct val="92000"/>
              </a:lnSpc>
              <a:buNone/>
            </a:pPr>
            <a:r>
              <a:rPr lang="en-US" sz="1500" b="1" dirty="0">
                <a:solidFill>
                  <a:srgbClr val="2C6E72"/>
                </a:solidFill>
                <a:latin typeface="Cambria" pitchFamily="34" charset="0"/>
                <a:ea typeface="Cambria" pitchFamily="34" charset="-122"/>
                <a:cs typeface="Cambria" pitchFamily="34" charset="-120"/>
              </a:rPr>
              <a:t>Future directions</a:t>
            </a:r>
            <a:endParaRPr lang="en-US" sz="1500" dirty="0"/>
          </a:p>
        </p:txBody>
      </p:sp>
      <p:sp>
        <p:nvSpPr>
          <p:cNvPr id="29" name="Shape 24"/>
          <p:cNvSpPr/>
          <p:nvPr/>
        </p:nvSpPr>
        <p:spPr>
          <a:xfrm>
            <a:off x="6300216" y="2181402"/>
            <a:ext cx="100584" cy="100584"/>
          </a:xfrm>
          <a:prstGeom prst="ellipse">
            <a:avLst/>
          </a:prstGeom>
          <a:solidFill>
            <a:srgbClr val="2C6E72"/>
          </a:solidFill>
          <a:ln/>
        </p:spPr>
        <p:txBody>
          <a:bodyPr/>
          <a:lstStyle/>
          <a:p>
            <a:endParaRPr lang="en-GB"/>
          </a:p>
        </p:txBody>
      </p:sp>
      <p:sp>
        <p:nvSpPr>
          <p:cNvPr id="30" name="Text 25"/>
          <p:cNvSpPr/>
          <p:nvPr/>
        </p:nvSpPr>
        <p:spPr>
          <a:xfrm>
            <a:off x="6519672" y="2089962"/>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Extending the corpus to the full curriculum.</a:t>
            </a:r>
            <a:endParaRPr lang="en-US" sz="1050" dirty="0"/>
          </a:p>
        </p:txBody>
      </p:sp>
      <p:sp>
        <p:nvSpPr>
          <p:cNvPr id="31" name="Shape 26"/>
          <p:cNvSpPr/>
          <p:nvPr/>
        </p:nvSpPr>
        <p:spPr>
          <a:xfrm>
            <a:off x="6300216" y="2967786"/>
            <a:ext cx="100584" cy="100584"/>
          </a:xfrm>
          <a:prstGeom prst="ellipse">
            <a:avLst/>
          </a:prstGeom>
          <a:solidFill>
            <a:srgbClr val="2C6E72"/>
          </a:solidFill>
          <a:ln/>
        </p:spPr>
        <p:txBody>
          <a:bodyPr/>
          <a:lstStyle/>
          <a:p>
            <a:endParaRPr lang="en-GB"/>
          </a:p>
        </p:txBody>
      </p:sp>
      <p:sp>
        <p:nvSpPr>
          <p:cNvPr id="32" name="Text 27"/>
          <p:cNvSpPr/>
          <p:nvPr/>
        </p:nvSpPr>
        <p:spPr>
          <a:xfrm>
            <a:off x="6519672" y="2876346"/>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Canonical questions reused as quizzes for students.</a:t>
            </a:r>
            <a:endParaRPr lang="en-US" sz="1050" dirty="0"/>
          </a:p>
        </p:txBody>
      </p:sp>
      <p:sp>
        <p:nvSpPr>
          <p:cNvPr id="33" name="Shape 28"/>
          <p:cNvSpPr/>
          <p:nvPr/>
        </p:nvSpPr>
        <p:spPr>
          <a:xfrm>
            <a:off x="6306094" y="3703878"/>
            <a:ext cx="100584" cy="100584"/>
          </a:xfrm>
          <a:prstGeom prst="ellipse">
            <a:avLst/>
          </a:prstGeom>
          <a:solidFill>
            <a:srgbClr val="2C6E72"/>
          </a:solidFill>
          <a:ln/>
        </p:spPr>
        <p:txBody>
          <a:bodyPr/>
          <a:lstStyle/>
          <a:p>
            <a:endParaRPr lang="en-GB"/>
          </a:p>
        </p:txBody>
      </p:sp>
      <p:sp>
        <p:nvSpPr>
          <p:cNvPr id="34" name="Text 29"/>
          <p:cNvSpPr/>
          <p:nvPr/>
        </p:nvSpPr>
        <p:spPr>
          <a:xfrm>
            <a:off x="6519672" y="3662730"/>
            <a:ext cx="2121408" cy="713232"/>
          </a:xfrm>
          <a:prstGeom prst="rect">
            <a:avLst/>
          </a:prstGeom>
          <a:noFill/>
          <a:ln/>
        </p:spPr>
        <p:txBody>
          <a:bodyPr wrap="square" lIns="0" tIns="0" rIns="0" bIns="0" rtlCol="0" anchor="t"/>
          <a:lstStyle/>
          <a:p>
            <a:pPr marL="0" indent="0">
              <a:lnSpc>
                <a:spcPct val="97000"/>
              </a:lnSpc>
              <a:buNone/>
            </a:pPr>
            <a:r>
              <a:rPr lang="en-US" sz="1050" dirty="0">
                <a:solidFill>
                  <a:srgbClr val="1E2B45"/>
                </a:solidFill>
                <a:latin typeface="Calibri" pitchFamily="34" charset="0"/>
                <a:ea typeface="Calibri" pitchFamily="34" charset="-122"/>
                <a:cs typeface="Calibri" pitchFamily="34" charset="-120"/>
              </a:rPr>
              <a:t>Validation with history teachers.</a:t>
            </a:r>
            <a:endParaRPr lang="en-US" sz="1050" dirty="0"/>
          </a:p>
        </p:txBody>
      </p:sp>
      <p:sp>
        <p:nvSpPr>
          <p:cNvPr id="35" name="Text 30"/>
          <p:cNvSpPr/>
          <p:nvPr/>
        </p:nvSpPr>
        <p:spPr>
          <a:xfrm>
            <a:off x="777240" y="4354965"/>
            <a:ext cx="7589520" cy="384048"/>
          </a:xfrm>
          <a:prstGeom prst="rect">
            <a:avLst/>
          </a:prstGeom>
          <a:noFill/>
          <a:ln/>
        </p:spPr>
        <p:txBody>
          <a:bodyPr wrap="square" lIns="0" tIns="0" rIns="0" bIns="0" rtlCol="0" anchor="ctr"/>
          <a:lstStyle/>
          <a:p>
            <a:pPr marL="0" indent="0" algn="ctr">
              <a:lnSpc>
                <a:spcPct val="95000"/>
              </a:lnSpc>
              <a:buNone/>
            </a:pPr>
            <a:r>
              <a:rPr lang="en-US" sz="1100" i="1" dirty="0">
                <a:solidFill>
                  <a:srgbClr val="5B6B82"/>
                </a:solidFill>
                <a:latin typeface="Calibri" pitchFamily="34" charset="0"/>
                <a:ea typeface="Calibri" pitchFamily="34" charset="-122"/>
                <a:cs typeface="Calibri" pitchFamily="34" charset="-120"/>
              </a:rPr>
              <a:t>The value of an LLM application comes not only from the generative model, but from the careful design of the components around it — data preparation, query understanding, retrieval, and response control.</a:t>
            </a:r>
            <a:endParaRPr lang="en-US" sz="1100" dirty="0"/>
          </a:p>
        </p:txBody>
      </p:sp>
      <p:sp>
        <p:nvSpPr>
          <p:cNvPr id="36" name="Text 31"/>
          <p:cNvSpPr/>
          <p:nvPr/>
        </p:nvSpPr>
        <p:spPr>
          <a:xfrm>
            <a:off x="8586216" y="4601853"/>
            <a:ext cx="365760" cy="274320"/>
          </a:xfrm>
          <a:prstGeom prst="rect">
            <a:avLst/>
          </a:prstGeom>
          <a:noFill/>
          <a:ln/>
        </p:spPr>
        <p:txBody>
          <a:bodyPr wrap="square" rtlCol="0" anchor="ctr"/>
          <a:lstStyle/>
          <a:p>
            <a:pPr marL="0" indent="0" algn="r">
              <a:buNone/>
            </a:pPr>
            <a:r>
              <a:rPr lang="en-US" sz="1000" dirty="0">
                <a:solidFill>
                  <a:srgbClr val="8A97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5233B"/>
        </a:solidFill>
        <a:effectLst/>
      </p:bgPr>
    </p:bg>
    <p:spTree>
      <p:nvGrpSpPr>
        <p:cNvPr id="1" name=""/>
        <p:cNvGrpSpPr/>
        <p:nvPr/>
      </p:nvGrpSpPr>
      <p:grpSpPr>
        <a:xfrm>
          <a:off x="0" y="0"/>
          <a:ext cx="0" cy="0"/>
          <a:chOff x="0" y="0"/>
          <a:chExt cx="0" cy="0"/>
        </a:xfrm>
      </p:grpSpPr>
      <p:sp>
        <p:nvSpPr>
          <p:cNvPr id="2" name="Shape 0"/>
          <p:cNvSpPr/>
          <p:nvPr/>
        </p:nvSpPr>
        <p:spPr>
          <a:xfrm>
            <a:off x="-1280160" y="2926080"/>
            <a:ext cx="4023360" cy="4023360"/>
          </a:xfrm>
          <a:prstGeom prst="ellipse">
            <a:avLst/>
          </a:prstGeom>
          <a:solidFill>
            <a:srgbClr val="20304F"/>
          </a:solidFill>
          <a:ln/>
        </p:spPr>
        <p:txBody>
          <a:bodyPr/>
          <a:lstStyle/>
          <a:p>
            <a:endParaRPr lang="en-GB"/>
          </a:p>
        </p:txBody>
      </p:sp>
      <p:sp>
        <p:nvSpPr>
          <p:cNvPr id="3" name="Shape 1"/>
          <p:cNvSpPr/>
          <p:nvPr/>
        </p:nvSpPr>
        <p:spPr>
          <a:xfrm>
            <a:off x="7223760" y="-1463040"/>
            <a:ext cx="3291840" cy="3291840"/>
          </a:xfrm>
          <a:prstGeom prst="ellipse">
            <a:avLst/>
          </a:prstGeom>
          <a:solidFill>
            <a:srgbClr val="15233B"/>
          </a:solidFill>
          <a:ln w="12700">
            <a:solidFill>
              <a:srgbClr val="C9882E">
                <a:alpha val="55000"/>
              </a:srgbClr>
            </a:solidFill>
            <a:prstDash val="solid"/>
          </a:ln>
        </p:spPr>
        <p:txBody>
          <a:bodyPr/>
          <a:lstStyle/>
          <a:p>
            <a:endParaRPr lang="en-GB"/>
          </a:p>
        </p:txBody>
      </p:sp>
      <p:sp>
        <p:nvSpPr>
          <p:cNvPr id="4" name="Shape 2"/>
          <p:cNvSpPr/>
          <p:nvPr/>
        </p:nvSpPr>
        <p:spPr>
          <a:xfrm>
            <a:off x="640080" y="1335024"/>
            <a:ext cx="713232" cy="713232"/>
          </a:xfrm>
          <a:prstGeom prst="ellipse">
            <a:avLst/>
          </a:prstGeom>
          <a:solidFill>
            <a:srgbClr val="20304F"/>
          </a:solidFill>
          <a:ln/>
          <a:effectLst>
            <a:outerShdw blurRad="63500" dist="25400" dir="5400000" algn="bl" rotWithShape="0">
              <a:srgbClr val="000000">
                <a:alpha val="16000"/>
              </a:srgbClr>
            </a:outerShdw>
          </a:effectLst>
        </p:spPr>
        <p:txBody>
          <a:bodyPr/>
          <a:lstStyle/>
          <a:p>
            <a:endParaRPr lang="en-GB"/>
          </a:p>
        </p:txBody>
      </p:sp>
      <p:pic>
        <p:nvPicPr>
          <p:cNvPr id="5" name="Image 0" descr="preencoded.png"/>
          <p:cNvPicPr>
            <a:picLocks noChangeAspect="1"/>
          </p:cNvPicPr>
          <p:nvPr/>
        </p:nvPicPr>
        <p:blipFill>
          <a:blip r:embed="rId3"/>
          <a:stretch>
            <a:fillRect/>
          </a:stretch>
        </p:blipFill>
        <p:spPr>
          <a:xfrm>
            <a:off x="832653" y="1527597"/>
            <a:ext cx="328087" cy="328087"/>
          </a:xfrm>
          <a:prstGeom prst="rect">
            <a:avLst/>
          </a:prstGeom>
        </p:spPr>
      </p:pic>
      <p:sp>
        <p:nvSpPr>
          <p:cNvPr id="6" name="Text 3"/>
          <p:cNvSpPr/>
          <p:nvPr/>
        </p:nvSpPr>
        <p:spPr>
          <a:xfrm>
            <a:off x="640080" y="2240280"/>
            <a:ext cx="786384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8" name="Shape 5"/>
          <p:cNvSpPr/>
          <p:nvPr/>
        </p:nvSpPr>
        <p:spPr>
          <a:xfrm>
            <a:off x="685800" y="3956615"/>
            <a:ext cx="7772400" cy="0"/>
          </a:xfrm>
          <a:prstGeom prst="line">
            <a:avLst/>
          </a:prstGeom>
          <a:noFill/>
          <a:ln w="12700">
            <a:solidFill>
              <a:srgbClr val="34466A"/>
            </a:solidFill>
            <a:prstDash val="solid"/>
          </a:ln>
        </p:spPr>
        <p:txBody>
          <a:bodyPr/>
          <a:lstStyle/>
          <a:p>
            <a:endParaRPr lang="en-GB" dirty="0"/>
          </a:p>
        </p:txBody>
      </p:sp>
      <p:sp>
        <p:nvSpPr>
          <p:cNvPr id="9" name="Text 6"/>
          <p:cNvSpPr/>
          <p:nvPr/>
        </p:nvSpPr>
        <p:spPr>
          <a:xfrm>
            <a:off x="676656" y="4160520"/>
            <a:ext cx="5943600" cy="640080"/>
          </a:xfrm>
          <a:prstGeom prst="rect">
            <a:avLst/>
          </a:prstGeom>
          <a:noFill/>
          <a:ln/>
        </p:spPr>
        <p:txBody>
          <a:bodyPr wrap="square" lIns="0" tIns="0" rIns="0" bIns="0" rtlCol="0" anchor="ctr"/>
          <a:lstStyle/>
          <a:p>
            <a:pPr>
              <a:lnSpc>
                <a:spcPct val="110000"/>
              </a:lnSpc>
            </a:pPr>
            <a:r>
              <a:rPr lang="en-US" sz="1200" dirty="0">
                <a:solidFill>
                  <a:srgbClr val="8A97A8"/>
                </a:solidFill>
                <a:latin typeface="Calibri" pitchFamily="34" charset="0"/>
                <a:ea typeface="Calibri" pitchFamily="34" charset="-122"/>
                <a:cs typeface="Calibri" pitchFamily="34" charset="-120"/>
              </a:rPr>
              <a:t>Author: </a:t>
            </a:r>
            <a:r>
              <a:rPr lang="en-US" sz="1300" b="1" dirty="0" err="1">
                <a:solidFill>
                  <a:srgbClr val="FFFFFF"/>
                </a:solidFill>
                <a:latin typeface="Calibri" pitchFamily="34" charset="0"/>
                <a:ea typeface="Calibri" pitchFamily="34" charset="-122"/>
                <a:cs typeface="Calibri" pitchFamily="34" charset="-120"/>
              </a:rPr>
              <a:t>Tălpigă</a:t>
            </a:r>
            <a:r>
              <a:rPr lang="en-US" sz="1300" b="1" dirty="0">
                <a:solidFill>
                  <a:srgbClr val="FFFFFF"/>
                </a:solidFill>
                <a:latin typeface="Calibri" pitchFamily="34" charset="0"/>
                <a:ea typeface="Calibri" pitchFamily="34" charset="-122"/>
                <a:cs typeface="Calibri" pitchFamily="34" charset="-120"/>
              </a:rPr>
              <a:t> Andrei-Vlad</a:t>
            </a:r>
            <a:endParaRPr lang="en-US" sz="1300" dirty="0"/>
          </a:p>
          <a:p>
            <a:pPr>
              <a:lnSpc>
                <a:spcPct val="110000"/>
              </a:lnSpc>
            </a:pPr>
            <a:r>
              <a:rPr lang="en-GB" sz="1200" dirty="0">
                <a:solidFill>
                  <a:srgbClr val="8A97A8"/>
                </a:solidFill>
                <a:latin typeface="Calibri" pitchFamily="34" charset="0"/>
                <a:ea typeface="Calibri" pitchFamily="34" charset="-122"/>
                <a:cs typeface="Calibri" pitchFamily="34" charset="-120"/>
              </a:rPr>
              <a:t>Scientific supervisor</a:t>
            </a:r>
            <a:r>
              <a:rPr lang="en-US" sz="1200" dirty="0">
                <a:solidFill>
                  <a:srgbClr val="8A97A8"/>
                </a:solidFill>
                <a:latin typeface="Calibri" pitchFamily="34" charset="0"/>
                <a:ea typeface="Calibri" pitchFamily="34" charset="-122"/>
                <a:cs typeface="Calibri" pitchFamily="34" charset="-120"/>
              </a:rPr>
              <a:t>: Lect. Dr. Dumitran Marius-Adrian</a:t>
            </a:r>
            <a:endParaRPr lang="en-US" sz="1300" dirty="0"/>
          </a:p>
        </p:txBody>
      </p:sp>
      <p:sp>
        <p:nvSpPr>
          <p:cNvPr id="10" name="Text 7"/>
          <p:cNvSpPr/>
          <p:nvPr/>
        </p:nvSpPr>
        <p:spPr>
          <a:xfrm>
            <a:off x="5246120" y="4160520"/>
            <a:ext cx="3257800" cy="640080"/>
          </a:xfrm>
          <a:prstGeom prst="rect">
            <a:avLst/>
          </a:prstGeom>
          <a:noFill/>
          <a:ln/>
        </p:spPr>
        <p:txBody>
          <a:bodyPr wrap="square" lIns="0" tIns="0" rIns="0" bIns="0" rtlCol="0" anchor="ctr"/>
          <a:lstStyle/>
          <a:p>
            <a:pPr algn="r">
              <a:lnSpc>
                <a:spcPct val="105000"/>
              </a:lnSpc>
            </a:pPr>
            <a:r>
              <a:rPr lang="en-US" sz="1200" dirty="0">
                <a:solidFill>
                  <a:srgbClr val="8A97A8"/>
                </a:solidFill>
                <a:latin typeface="Calibri" pitchFamily="34" charset="0"/>
                <a:ea typeface="Calibri" pitchFamily="34" charset="-122"/>
                <a:cs typeface="Calibri" pitchFamily="34" charset="-120"/>
              </a:rPr>
              <a:t>University of Bucharest · FMI · Artificial Intelligence</a:t>
            </a:r>
            <a:endParaRPr lang="en-US" sz="1200" dirty="0"/>
          </a:p>
          <a:p>
            <a:pPr marL="0" indent="0" algn="r">
              <a:lnSpc>
                <a:spcPct val="105000"/>
              </a:lnSpc>
              <a:buNone/>
            </a:pPr>
            <a:r>
              <a:rPr lang="en-US" sz="1200" dirty="0">
                <a:solidFill>
                  <a:srgbClr val="8A97A8"/>
                </a:solidFill>
                <a:latin typeface="Calibri" pitchFamily="34" charset="0"/>
                <a:ea typeface="Calibri" pitchFamily="34" charset="-122"/>
                <a:cs typeface="Calibri" pitchFamily="34" charset="-120"/>
              </a:rPr>
              <a:t>September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TotalTime>
  <Words>3054</Words>
  <Application>Microsoft Office PowerPoint</Application>
  <PresentationFormat>On-screen Show (16:9)</PresentationFormat>
  <Paragraphs>294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History Assistant</dc:title>
  <dc:subject>PptxGenJS Presentation</dc:subject>
  <dc:creator>Tălpigă Andrei-Vlad</dc:creator>
  <cp:lastModifiedBy>Vlad Talpiga</cp:lastModifiedBy>
  <cp:revision>53</cp:revision>
  <dcterms:created xsi:type="dcterms:W3CDTF">2026-06-24T11:44:32Z</dcterms:created>
  <dcterms:modified xsi:type="dcterms:W3CDTF">2026-09-11T11:54:38Z</dcterms:modified>
</cp:coreProperties>
</file>